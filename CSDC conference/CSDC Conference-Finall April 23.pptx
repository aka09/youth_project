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s/comment1.xml" ContentType="application/vnd.openxmlformats-officedocument.presentationml.comment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charts/chart5.xml" ContentType="application/vnd.openxmlformats-officedocument.drawingml.chart+xml"/>
  <Override PartName="/ppt/charts/style3.xml" ContentType="application/vnd.ms-office.chartstyle+xml"/>
  <Override PartName="/ppt/charts/colors3.xml" ContentType="application/vnd.ms-office.chartcolorstyle+xml"/>
  <Override PartName="/ppt/charts/chart6.xml" ContentType="application/vnd.openxmlformats-officedocument.drawingml.chart+xml"/>
  <Override PartName="/ppt/charts/style4.xml" ContentType="application/vnd.ms-office.chartstyle+xml"/>
  <Override PartName="/ppt/charts/colors4.xml" ContentType="application/vnd.ms-office.chartcolorstyle+xml"/>
  <Override PartName="/ppt/charts/chart7.xml" ContentType="application/vnd.openxmlformats-officedocument.drawingml.chart+xml"/>
  <Override PartName="/ppt/charts/style5.xml" ContentType="application/vnd.ms-office.chartstyle+xml"/>
  <Override PartName="/ppt/charts/colors5.xml" ContentType="application/vnd.ms-office.chartcolorstyle+xml"/>
  <Override PartName="/ppt/charts/chart8.xml" ContentType="application/vnd.openxmlformats-officedocument.drawingml.chart+xml"/>
  <Override PartName="/ppt/charts/style6.xml" ContentType="application/vnd.ms-office.chartstyle+xml"/>
  <Override PartName="/ppt/charts/colors6.xml" ContentType="application/vnd.ms-office.chartcolorstyle+xml"/>
  <Override PartName="/ppt/charts/chart9.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303" r:id="rId2"/>
    <p:sldId id="419" r:id="rId3"/>
    <p:sldId id="420" r:id="rId4"/>
    <p:sldId id="422" r:id="rId5"/>
    <p:sldId id="432" r:id="rId6"/>
    <p:sldId id="423" r:id="rId7"/>
    <p:sldId id="421" r:id="rId8"/>
    <p:sldId id="424" r:id="rId9"/>
    <p:sldId id="262" r:id="rId10"/>
    <p:sldId id="310" r:id="rId11"/>
    <p:sldId id="425" r:id="rId12"/>
    <p:sldId id="431" r:id="rId13"/>
    <p:sldId id="308" r:id="rId14"/>
    <p:sldId id="312" r:id="rId15"/>
    <p:sldId id="429" r:id="rId16"/>
    <p:sldId id="305" r:id="rId17"/>
    <p:sldId id="430" r:id="rId18"/>
    <p:sldId id="288" r:id="rId19"/>
    <p:sldId id="272" r:id="rId20"/>
    <p:sldId id="291" r:id="rId21"/>
    <p:sldId id="411" r:id="rId22"/>
    <p:sldId id="265" r:id="rId23"/>
    <p:sldId id="266" r:id="rId24"/>
    <p:sldId id="410" r:id="rId25"/>
    <p:sldId id="355" r:id="rId26"/>
    <p:sldId id="408" r:id="rId27"/>
    <p:sldId id="409" r:id="rId28"/>
    <p:sldId id="306" r:id="rId29"/>
    <p:sldId id="414" r:id="rId30"/>
    <p:sldId id="415" r:id="rId31"/>
    <p:sldId id="417" r:id="rId32"/>
    <p:sldId id="418" r:id="rId33"/>
  </p:sldIdLst>
  <p:sldSz cx="12192000" cy="6858000"/>
  <p:notesSz cx="6858000" cy="9144000"/>
  <p:custDataLst>
    <p:tags r:id="rId3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lisabeth Gidengil, Prof." initials="EGP" lastIdx="24" clrIdx="0">
    <p:extLst>
      <p:ext uri="{19B8F6BF-5375-455C-9EA6-DF929625EA0E}">
        <p15:presenceInfo xmlns:p15="http://schemas.microsoft.com/office/powerpoint/2012/main" userId="S::elisabeth.gidengil@mcgill.ca::aed3ecab-412c-4faa-ac64-cb0e39d2709c" providerId="AD"/>
      </p:ext>
    </p:extLst>
  </p:cmAuthor>
  <p:cmAuthor id="2" name="Dietlind Stolle, Prof." initials="DSP" lastIdx="2" clrIdx="1">
    <p:extLst>
      <p:ext uri="{19B8F6BF-5375-455C-9EA6-DF929625EA0E}">
        <p15:presenceInfo xmlns:p15="http://schemas.microsoft.com/office/powerpoint/2012/main" userId="S::dietlind.stolle@mcgill.ca::7649db5c-7cae-4345-a59b-c29591ddc7e5" providerId="AD"/>
      </p:ext>
    </p:extLst>
  </p:cmAuthor>
  <p:cmAuthor id="3" name="Olivier Bergeron-Boutin" initials="OB" lastIdx="1" clrIdx="2">
    <p:extLst>
      <p:ext uri="{19B8F6BF-5375-455C-9EA6-DF929625EA0E}">
        <p15:presenceInfo xmlns:p15="http://schemas.microsoft.com/office/powerpoint/2012/main" userId="3cebe05c134a9e8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9EBF5"/>
          </a:solidFill>
        </a:fill>
      </a:tcStyle>
    </a:wholeTbl>
    <a:band1H>
      <a:tcStyle>
        <a:tcBdr/>
        <a:fill>
          <a:solidFill>
            <a:srgbClr val="CFD5EA"/>
          </a:solidFill>
        </a:fill>
      </a:tcStyle>
    </a:band1H>
    <a:band2H>
      <a:tcStyle>
        <a:tcBdr/>
      </a:tcStyle>
    </a:band2H>
    <a:band1V>
      <a:tcStyle>
        <a:tcBdr/>
        <a:fill>
          <a:solidFill>
            <a:srgbClr val="CFD5EA"/>
          </a:solidFill>
        </a:fill>
      </a:tcStyle>
    </a:band1V>
    <a:band2V>
      <a:tcStyle>
        <a:tcBdr/>
      </a:tcStyle>
    </a:band2V>
    <a:lastCol>
      <a:tcTxStyle b="on">
        <a:font>
          <a:latin typeface="+mn-lt"/>
          <a:ea typeface="+mn-ea"/>
          <a:cs typeface="+mn-cs"/>
        </a:font>
        <a:srgbClr val="FFFFFF"/>
      </a:tcTxStyle>
      <a:tcStyle>
        <a:tcBdr/>
        <a:fill>
          <a:solidFill>
            <a:srgbClr val="4472C4"/>
          </a:solidFill>
        </a:fill>
      </a:tcStyle>
    </a:lastCol>
    <a:firstCol>
      <a:tcTxStyle b="on">
        <a:font>
          <a:latin typeface="+mn-lt"/>
          <a:ea typeface="+mn-ea"/>
          <a:cs typeface="+mn-cs"/>
        </a:font>
        <a:srgbClr val="FFFFFF"/>
      </a:tcTxStyle>
      <a:tcStyle>
        <a:tcBdr/>
        <a:fill>
          <a:solidFill>
            <a:srgbClr val="4472C4"/>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4472C4"/>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4472C4"/>
          </a:solidFill>
        </a:fill>
      </a:tcStyle>
    </a:firstRow>
  </a:tblStyle>
  <a:tblStyle styleId="{69012ECD-51FC-41F1-AA8D-1B2483CD663E}" styleName="">
    <a:wholeTbl>
      <a:tcTxStyle>
        <a:font>
          <a:latin typeface="+mn-lt"/>
          <a:ea typeface="+mn-ea"/>
          <a:cs typeface="+mn-cs"/>
        </a:font>
        <a:srgbClr val="000000"/>
      </a:tcTxStyle>
      <a:tcStyle>
        <a:tcBdr>
          <a:left>
            <a:ln w="3172" cap="flat" cmpd="sng" algn="ctr">
              <a:solidFill>
                <a:srgbClr val="4472C4"/>
              </a:solidFill>
              <a:prstDash val="solid"/>
              <a:round/>
              <a:headEnd type="none" w="med" len="med"/>
              <a:tailEnd type="none" w="med" len="med"/>
            </a:ln>
          </a:left>
          <a:right>
            <a:ln w="3172" cap="flat" cmpd="sng" algn="ctr">
              <a:solidFill>
                <a:srgbClr val="4472C4"/>
              </a:solidFill>
              <a:prstDash val="solid"/>
              <a:round/>
              <a:headEnd type="none" w="med" len="med"/>
              <a:tailEnd type="none" w="med" len="med"/>
            </a:ln>
          </a:right>
          <a:top>
            <a:ln w="3172" cap="flat" cmpd="sng" algn="ctr">
              <a:solidFill>
                <a:srgbClr val="4472C4"/>
              </a:solidFill>
              <a:prstDash val="solid"/>
              <a:round/>
              <a:headEnd type="none" w="med" len="med"/>
              <a:tailEnd type="none" w="med" len="med"/>
            </a:ln>
          </a:top>
          <a:bottom>
            <a:ln w="3172" cap="flat" cmpd="sng" algn="ctr">
              <a:solidFill>
                <a:srgbClr val="4472C4"/>
              </a:solidFill>
              <a:prstDash val="solid"/>
              <a:round/>
              <a:headEnd type="none" w="med" len="med"/>
              <a:tailEnd type="none" w="med" len="med"/>
            </a:ln>
          </a:bottom>
        </a:tcBdr>
      </a:tcStyle>
    </a:wholeTbl>
    <a:band1H>
      <a:tcStyle>
        <a:tcBdr>
          <a:top>
            <a:ln w="3172" cap="flat" cmpd="sng" algn="ctr">
              <a:solidFill>
                <a:srgbClr val="4472C4"/>
              </a:solidFill>
              <a:prstDash val="solid"/>
              <a:round/>
              <a:headEnd type="none" w="med" len="med"/>
              <a:tailEnd type="none" w="med" len="med"/>
            </a:ln>
          </a:top>
          <a:bottom>
            <a:ln w="3172" cap="flat" cmpd="sng" algn="ctr">
              <a:solidFill>
                <a:srgbClr val="4472C4"/>
              </a:solidFill>
              <a:prstDash val="solid"/>
              <a:round/>
              <a:headEnd type="none" w="med" len="med"/>
              <a:tailEnd type="none" w="med" len="med"/>
            </a:ln>
          </a:bottom>
        </a:tcBdr>
      </a:tcStyle>
    </a:band1H>
    <a:band1V>
      <a:tcStyle>
        <a:tcBdr>
          <a:left>
            <a:ln w="3172" cap="flat" cmpd="sng" algn="ctr">
              <a:solidFill>
                <a:srgbClr val="4472C4"/>
              </a:solidFill>
              <a:prstDash val="solid"/>
              <a:round/>
              <a:headEnd type="none" w="med" len="med"/>
              <a:tailEnd type="none" w="med" len="med"/>
            </a:ln>
          </a:left>
          <a:right>
            <a:ln w="3172" cap="flat" cmpd="sng" algn="ctr">
              <a:solidFill>
                <a:srgbClr val="4472C4"/>
              </a:solidFill>
              <a:prstDash val="solid"/>
              <a:round/>
              <a:headEnd type="none" w="med" len="med"/>
              <a:tailEnd type="none" w="med" len="med"/>
            </a:ln>
          </a:right>
        </a:tcBdr>
      </a:tcStyle>
    </a:band1V>
    <a:band2V>
      <a:tcStyle>
        <a:tcBdr>
          <a:left>
            <a:ln w="3172" cap="flat" cmpd="sng" algn="ctr">
              <a:solidFill>
                <a:srgbClr val="4472C4"/>
              </a:solidFill>
              <a:prstDash val="solid"/>
              <a:round/>
              <a:headEnd type="none" w="med" len="med"/>
              <a:tailEnd type="none" w="med" len="med"/>
            </a:ln>
          </a:left>
          <a:right>
            <a:ln w="3172" cap="flat" cmpd="sng" algn="ctr">
              <a:solidFill>
                <a:srgbClr val="4472C4"/>
              </a:solidFill>
              <a:prstDash val="solid"/>
              <a:round/>
              <a:headEnd type="none" w="med" len="med"/>
              <a:tailEnd type="none" w="med" len="med"/>
            </a:ln>
          </a:right>
        </a:tcBdr>
      </a:tcStyle>
    </a:band2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4472C4"/>
              </a:solidFill>
              <a:prstDash val="solid"/>
              <a:round/>
              <a:headEnd type="none" w="med" len="med"/>
              <a:tailEnd type="none" w="med" len="med"/>
            </a:ln>
          </a:top>
        </a:tcBdr>
      </a:tcStyle>
    </a:lastRow>
    <a:firstRow>
      <a:tcTxStyle b="on">
        <a:font>
          <a:latin typeface="+mn-lt"/>
          <a:ea typeface="+mn-ea"/>
          <a:cs typeface="+mn-cs"/>
        </a:font>
        <a:srgbClr val="FFFFFF"/>
      </a:tcTxStyle>
      <a:tcStyle>
        <a:tcBdr/>
        <a:fill>
          <a:solidFill>
            <a:srgbClr val="4472C4"/>
          </a:solidFill>
        </a:fill>
      </a:tcStyle>
    </a:firstRow>
  </a:tblStyle>
  <a:tblStyle styleId="{3B4B98B0-60AC-42C2-AFA5-B58CD77FA1E5}" styleName="">
    <a:wholeTbl>
      <a:tcTxStyle>
        <a:font>
          <a:latin typeface="+mn-lt"/>
          <a:ea typeface="+mn-ea"/>
          <a:cs typeface="+mn-cs"/>
        </a:font>
        <a:srgbClr val="000000"/>
      </a:tcTxStyle>
      <a:tcStyle>
        <a:tcBdr>
          <a:top>
            <a:ln w="12701" cap="flat" cmpd="sng" algn="ctr">
              <a:solidFill>
                <a:srgbClr val="4472C4"/>
              </a:solidFill>
              <a:prstDash val="solid"/>
              <a:round/>
              <a:headEnd type="none" w="med" len="med"/>
              <a:tailEnd type="none" w="med" len="med"/>
            </a:ln>
          </a:top>
          <a:bottom>
            <a:ln w="12701" cap="flat" cmpd="sng" algn="ctr">
              <a:solidFill>
                <a:srgbClr val="4472C4"/>
              </a:solidFill>
              <a:prstDash val="solid"/>
              <a:round/>
              <a:headEnd type="none" w="med" len="med"/>
              <a:tailEnd type="none" w="med" len="med"/>
            </a:ln>
          </a:bottom>
        </a:tcBdr>
      </a:tcStyle>
    </a:wholeTbl>
    <a:band1H>
      <a:tcStyle>
        <a:tcBdr/>
        <a:fill>
          <a:solidFill>
            <a:srgbClr val="4472C4"/>
          </a:solidFill>
        </a:fill>
      </a:tcStyle>
    </a:band1H>
    <a:band2H>
      <a:tcStyle>
        <a:tcBdr/>
      </a:tcStyle>
    </a:band2H>
    <a:band1V>
      <a:tcStyle>
        <a:tcBdr/>
        <a:fill>
          <a:solidFill>
            <a:srgbClr val="4472C4"/>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12701" cap="flat" cmpd="sng" algn="ctr">
              <a:solidFill>
                <a:srgbClr val="4472C4"/>
              </a:solidFill>
              <a:prstDash val="solid"/>
              <a:round/>
              <a:headEnd type="none" w="med" len="med"/>
              <a:tailEnd type="none" w="med" len="med"/>
            </a:ln>
          </a:top>
        </a:tcBdr>
      </a:tcStyle>
    </a:lastRow>
    <a:firstRow>
      <a:tcTxStyle b="on">
        <a:font>
          <a:latin typeface=""/>
          <a:ea typeface=""/>
          <a:cs typeface=""/>
        </a:font>
      </a:tcTxStyle>
      <a:tcStyle>
        <a:tcBdr>
          <a:bottom>
            <a:ln w="12701" cap="flat" cmpd="sng" algn="ctr">
              <a:solidFill>
                <a:srgbClr val="4472C4"/>
              </a:solidFill>
              <a:prstDash val="solid"/>
              <a:round/>
              <a:headEnd type="none" w="med" len="med"/>
              <a:tailEnd type="none" w="med" len="med"/>
            </a:ln>
          </a:bottom>
        </a:tcBdr>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772" autoAdjust="0"/>
    <p:restoredTop sz="62771" autoAdjust="0"/>
  </p:normalViewPr>
  <p:slideViewPr>
    <p:cSldViewPr snapToGrid="0">
      <p:cViewPr varScale="1">
        <p:scale>
          <a:sx n="42" d="100"/>
          <a:sy n="42" d="100"/>
        </p:scale>
        <p:origin x="728" y="32"/>
      </p:cViewPr>
      <p:guideLst/>
    </p:cSldViewPr>
  </p:slideViewPr>
  <p:notesTextViewPr>
    <p:cViewPr>
      <p:scale>
        <a:sx n="1" d="1"/>
        <a:sy n="1" d="1"/>
      </p:scale>
      <p:origin x="0" y="0"/>
    </p:cViewPr>
  </p:notesTextViewPr>
  <p:notesViewPr>
    <p:cSldViewPr snapToGrid="0">
      <p:cViewPr varScale="1">
        <p:scale>
          <a:sx n="51" d="100"/>
          <a:sy n="51" d="100"/>
        </p:scale>
        <p:origin x="2692" y="2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oleObject" Target="Macintosh%20HD:Users:lillianamason:Dropbox:Book:Revised%20Draft:Revised%20Analyses:Chapter%203:Final%20Chapter%203%20Figures.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Macintosh%20HD:Users:lillianamason:Dropbox:Book:Revised%20Draft:Revised%20Analyses:Chapter%203:Final%20Chapter%203%20Figures.xlsx" TargetMode="External"/></Relationships>
</file>

<file path=ppt/charts/_rels/chart3.xml.rels><?xml version="1.0" encoding="UTF-8" standalone="yes"?>
<Relationships xmlns="http://schemas.openxmlformats.org/package/2006/relationships"><Relationship Id="rId3" Type="http://schemas.openxmlformats.org/officeDocument/2006/relationships/oleObject" Target="file:///\\Users\lillianamason\Dropbox\Articles\in%20progress\Political%20Violence\Book\Figures\Ch%202%20trends_reduced%20scale.xlsx" TargetMode="External"/><Relationship Id="rId2" Type="http://schemas.microsoft.com/office/2011/relationships/chartColorStyle" Target="colors1.xml"/><Relationship Id="rId1" Type="http://schemas.microsoft.com/office/2011/relationships/chartStyle" Target="style1.xml"/></Relationships>
</file>

<file path=ppt/charts/_rels/chart4.xml.rels><?xml version="1.0" encoding="UTF-8" standalone="yes"?>
<Relationships xmlns="http://schemas.openxmlformats.org/package/2006/relationships"><Relationship Id="rId3" Type="http://schemas.openxmlformats.org/officeDocument/2006/relationships/oleObject" Target="file:///\\Users\lillianamason\Dropbox\Articles\in%20progress\Political%20Violence\Book\Figures\Ch%202%20trends_reduced%20scale.xlsx" TargetMode="External"/><Relationship Id="rId2" Type="http://schemas.microsoft.com/office/2011/relationships/chartColorStyle" Target="colors2.xml"/><Relationship Id="rId1" Type="http://schemas.microsoft.com/office/2011/relationships/chartStyle" Target="style2.xml"/></Relationships>
</file>

<file path=ppt/charts/_rels/chart5.xml.rels><?xml version="1.0" encoding="UTF-8" standalone="yes"?>
<Relationships xmlns="http://schemas.openxmlformats.org/package/2006/relationships"><Relationship Id="rId3" Type="http://schemas.openxmlformats.org/officeDocument/2006/relationships/oleObject" Target="file:///\\Users\lillianamason\Dropbox\Articles\in%20progress\Political%20Violence\Book\Figures\Ch%202%20trends_reduced%20scale.xlsx" TargetMode="External"/><Relationship Id="rId2" Type="http://schemas.microsoft.com/office/2011/relationships/chartColorStyle" Target="colors3.xml"/><Relationship Id="rId1" Type="http://schemas.microsoft.com/office/2011/relationships/chartStyle" Target="style3.xml"/></Relationships>
</file>

<file path=ppt/charts/_rels/chart6.xml.rels><?xml version="1.0" encoding="UTF-8" standalone="yes"?>
<Relationships xmlns="http://schemas.openxmlformats.org/package/2006/relationships"><Relationship Id="rId3" Type="http://schemas.openxmlformats.org/officeDocument/2006/relationships/oleObject" Target="file:///\\Users\lillianamason\Dropbox\Articles\in%20progress\Political%20Violence\Book\Figures\Ch%202%20trends_reduced%20scale.xlsx" TargetMode="External"/><Relationship Id="rId2" Type="http://schemas.microsoft.com/office/2011/relationships/chartColorStyle" Target="colors4.xml"/><Relationship Id="rId1" Type="http://schemas.microsoft.com/office/2011/relationships/chartStyle" Target="style4.xml"/></Relationships>
</file>

<file path=ppt/charts/_rels/chart7.xml.rels><?xml version="1.0" encoding="UTF-8" standalone="yes"?>
<Relationships xmlns="http://schemas.openxmlformats.org/package/2006/relationships"><Relationship Id="rId3" Type="http://schemas.openxmlformats.org/officeDocument/2006/relationships/oleObject" Target="file:///\\Users\lillianamason\Dropbox\Articles\in%20progress\Political%20Violence\Book\Figures\Ch%202%20trends_reduced%20scale.xlsx" TargetMode="External"/><Relationship Id="rId2" Type="http://schemas.microsoft.com/office/2011/relationships/chartColorStyle" Target="colors5.xml"/><Relationship Id="rId1" Type="http://schemas.microsoft.com/office/2011/relationships/chartStyle" Target="style5.xml"/></Relationships>
</file>

<file path=ppt/charts/_rels/chart8.xml.rels><?xml version="1.0" encoding="UTF-8" standalone="yes"?>
<Relationships xmlns="http://schemas.openxmlformats.org/package/2006/relationships"><Relationship Id="rId3" Type="http://schemas.openxmlformats.org/officeDocument/2006/relationships/oleObject" Target="file:///\\Users\lillianamason\Dropbox\Articles\in%20progress\Political%20Violence\Book\Figures\Ch%202%20trends_reduced%20scale.xlsx" TargetMode="External"/><Relationship Id="rId2" Type="http://schemas.microsoft.com/office/2011/relationships/chartColorStyle" Target="colors6.xml"/><Relationship Id="rId1" Type="http://schemas.microsoft.com/office/2011/relationships/chartStyle" Target="style6.xml"/></Relationships>
</file>

<file path=ppt/charts/_rels/chart9.xml.rels><?xml version="1.0" encoding="UTF-8" standalone="yes"?>
<Relationships xmlns="http://schemas.openxmlformats.org/package/2006/relationships"><Relationship Id="rId3" Type="http://schemas.openxmlformats.org/officeDocument/2006/relationships/oleObject" Target="file:///\\Users\lillianamason\Dropbox\Articles\in%20progress\Political%20Violence\Book\Figures\Ch%202%20trends_reduced%20scale.xlsx"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lgn="ctr" rtl="0">
              <a:defRPr/>
            </a:pPr>
            <a:r>
              <a:rPr lang="en-US"/>
              <a:t>1972 Difference</a:t>
            </a:r>
          </a:p>
        </c:rich>
      </c:tx>
      <c:layout>
        <c:manualLayout>
          <c:xMode val="edge"/>
          <c:yMode val="edge"/>
          <c:x val="0.44816103632207299"/>
          <c:y val="2.4634861818743198E-3"/>
        </c:manualLayout>
      </c:layout>
      <c:overlay val="0"/>
    </c:title>
    <c:autoTitleDeleted val="0"/>
    <c:plotArea>
      <c:layout/>
      <c:barChart>
        <c:barDir val="bar"/>
        <c:grouping val="clustered"/>
        <c:varyColors val="0"/>
        <c:ser>
          <c:idx val="0"/>
          <c:order val="0"/>
          <c:tx>
            <c:strRef>
              <c:f>'final 3.4 (2)'!$B$27</c:f>
              <c:strCache>
                <c:ptCount val="1"/>
                <c:pt idx="0">
                  <c:v>1972 Difference</c:v>
                </c:pt>
              </c:strCache>
            </c:strRef>
          </c:tx>
          <c:spPr>
            <a:solidFill>
              <a:srgbClr val="000000"/>
            </a:solidFill>
          </c:spPr>
          <c:invertIfNegative val="0"/>
          <c:dPt>
            <c:idx val="0"/>
            <c:invertIfNegative val="0"/>
            <c:bubble3D val="0"/>
            <c:spPr>
              <a:solidFill>
                <a:srgbClr val="3366FF"/>
              </a:solidFill>
            </c:spPr>
            <c:extLst>
              <c:ext xmlns:c16="http://schemas.microsoft.com/office/drawing/2014/chart" uri="{C3380CC4-5D6E-409C-BE32-E72D297353CC}">
                <c16:uniqueId val="{00000001-14F5-AE4A-91EA-2438C8460425}"/>
              </c:ext>
            </c:extLst>
          </c:dPt>
          <c:dPt>
            <c:idx val="1"/>
            <c:invertIfNegative val="0"/>
            <c:bubble3D val="0"/>
            <c:spPr>
              <a:solidFill>
                <a:srgbClr val="FF0000"/>
              </a:solidFill>
            </c:spPr>
            <c:extLst>
              <c:ext xmlns:c16="http://schemas.microsoft.com/office/drawing/2014/chart" uri="{C3380CC4-5D6E-409C-BE32-E72D297353CC}">
                <c16:uniqueId val="{00000003-14F5-AE4A-91EA-2438C8460425}"/>
              </c:ext>
            </c:extLst>
          </c:dPt>
          <c:dPt>
            <c:idx val="2"/>
            <c:invertIfNegative val="0"/>
            <c:bubble3D val="0"/>
            <c:spPr>
              <a:solidFill>
                <a:srgbClr val="3366FF"/>
              </a:solidFill>
            </c:spPr>
            <c:extLst>
              <c:ext xmlns:c16="http://schemas.microsoft.com/office/drawing/2014/chart" uri="{C3380CC4-5D6E-409C-BE32-E72D297353CC}">
                <c16:uniqueId val="{00000005-14F5-AE4A-91EA-2438C8460425}"/>
              </c:ext>
            </c:extLst>
          </c:dPt>
          <c:dPt>
            <c:idx val="3"/>
            <c:invertIfNegative val="0"/>
            <c:bubble3D val="0"/>
            <c:spPr>
              <a:solidFill>
                <a:srgbClr val="3366FF"/>
              </a:solidFill>
            </c:spPr>
            <c:extLst>
              <c:ext xmlns:c16="http://schemas.microsoft.com/office/drawing/2014/chart" uri="{C3380CC4-5D6E-409C-BE32-E72D297353CC}">
                <c16:uniqueId val="{00000007-14F5-AE4A-91EA-2438C8460425}"/>
              </c:ext>
            </c:extLst>
          </c:dPt>
          <c:dPt>
            <c:idx val="4"/>
            <c:invertIfNegative val="0"/>
            <c:bubble3D val="0"/>
            <c:spPr>
              <a:solidFill>
                <a:srgbClr val="FF0000"/>
              </a:solidFill>
            </c:spPr>
            <c:extLst>
              <c:ext xmlns:c16="http://schemas.microsoft.com/office/drawing/2014/chart" uri="{C3380CC4-5D6E-409C-BE32-E72D297353CC}">
                <c16:uniqueId val="{00000009-14F5-AE4A-91EA-2438C8460425}"/>
              </c:ext>
            </c:extLst>
          </c:dPt>
          <c:dPt>
            <c:idx val="5"/>
            <c:invertIfNegative val="0"/>
            <c:bubble3D val="0"/>
            <c:spPr>
              <a:solidFill>
                <a:srgbClr val="FF0000"/>
              </a:solidFill>
            </c:spPr>
            <c:extLst>
              <c:ext xmlns:c16="http://schemas.microsoft.com/office/drawing/2014/chart" uri="{C3380CC4-5D6E-409C-BE32-E72D297353CC}">
                <c16:uniqueId val="{0000000B-14F5-AE4A-91EA-2438C8460425}"/>
              </c:ext>
            </c:extLst>
          </c:dPt>
          <c:dPt>
            <c:idx val="6"/>
            <c:invertIfNegative val="0"/>
            <c:bubble3D val="0"/>
            <c:spPr>
              <a:solidFill>
                <a:srgbClr val="3366FF"/>
              </a:solidFill>
            </c:spPr>
            <c:extLst>
              <c:ext xmlns:c16="http://schemas.microsoft.com/office/drawing/2014/chart" uri="{C3380CC4-5D6E-409C-BE32-E72D297353CC}">
                <c16:uniqueId val="{0000000D-14F5-AE4A-91EA-2438C8460425}"/>
              </c:ext>
            </c:extLst>
          </c:dPt>
          <c:dPt>
            <c:idx val="8"/>
            <c:invertIfNegative val="0"/>
            <c:bubble3D val="0"/>
            <c:spPr>
              <a:solidFill>
                <a:srgbClr val="3366FF"/>
              </a:solidFill>
            </c:spPr>
            <c:extLst>
              <c:ext xmlns:c16="http://schemas.microsoft.com/office/drawing/2014/chart" uri="{C3380CC4-5D6E-409C-BE32-E72D297353CC}">
                <c16:uniqueId val="{0000000F-14F5-AE4A-91EA-2438C8460425}"/>
              </c:ext>
            </c:extLst>
          </c:dPt>
          <c:dPt>
            <c:idx val="9"/>
            <c:invertIfNegative val="0"/>
            <c:bubble3D val="0"/>
            <c:spPr>
              <a:solidFill>
                <a:srgbClr val="FF0000"/>
              </a:solidFill>
            </c:spPr>
            <c:extLst>
              <c:ext xmlns:c16="http://schemas.microsoft.com/office/drawing/2014/chart" uri="{C3380CC4-5D6E-409C-BE32-E72D297353CC}">
                <c16:uniqueId val="{00000011-14F5-AE4A-91EA-2438C8460425}"/>
              </c:ext>
            </c:extLst>
          </c:dPt>
          <c:dPt>
            <c:idx val="10"/>
            <c:invertIfNegative val="0"/>
            <c:bubble3D val="0"/>
            <c:spPr>
              <a:solidFill>
                <a:srgbClr val="FF0000"/>
              </a:solidFill>
            </c:spPr>
            <c:extLst>
              <c:ext xmlns:c16="http://schemas.microsoft.com/office/drawing/2014/chart" uri="{C3380CC4-5D6E-409C-BE32-E72D297353CC}">
                <c16:uniqueId val="{00000013-14F5-AE4A-91EA-2438C8460425}"/>
              </c:ext>
            </c:extLst>
          </c:dPt>
          <c:cat>
            <c:strRef>
              <c:f>'final 3.4 (2)'!$A$28:$A$38</c:f>
              <c:strCache>
                <c:ptCount val="11"/>
                <c:pt idx="0">
                  <c:v>Union</c:v>
                </c:pt>
                <c:pt idx="1">
                  <c:v>Protestant</c:v>
                </c:pt>
                <c:pt idx="2">
                  <c:v>Catholic</c:v>
                </c:pt>
                <c:pt idx="3">
                  <c:v>Black</c:v>
                </c:pt>
                <c:pt idx="4">
                  <c:v>White</c:v>
                </c:pt>
                <c:pt idx="5">
                  <c:v>Income Percentile</c:v>
                </c:pt>
                <c:pt idx="6">
                  <c:v>South</c:v>
                </c:pt>
                <c:pt idx="7">
                  <c:v>Church Attenders</c:v>
                </c:pt>
                <c:pt idx="8">
                  <c:v>Liberals</c:v>
                </c:pt>
                <c:pt idx="9">
                  <c:v>Conservatives</c:v>
                </c:pt>
                <c:pt idx="10">
                  <c:v>Male</c:v>
                </c:pt>
              </c:strCache>
            </c:strRef>
          </c:cat>
          <c:val>
            <c:numRef>
              <c:f>'final 3.4 (2)'!$B$28:$B$38</c:f>
              <c:numCache>
                <c:formatCode>General</c:formatCode>
                <c:ptCount val="11"/>
                <c:pt idx="0">
                  <c:v>-0.1018314</c:v>
                </c:pt>
                <c:pt idx="1">
                  <c:v>0.17152609999999999</c:v>
                </c:pt>
                <c:pt idx="2">
                  <c:v>-0.12588550000000001</c:v>
                </c:pt>
                <c:pt idx="3">
                  <c:v>-0.1130939</c:v>
                </c:pt>
                <c:pt idx="4">
                  <c:v>0.13106999999999999</c:v>
                </c:pt>
                <c:pt idx="5">
                  <c:v>6.4751900000000001E-2</c:v>
                </c:pt>
                <c:pt idx="6">
                  <c:v>-9.8147399999999996E-2</c:v>
                </c:pt>
                <c:pt idx="7">
                  <c:v>-2.3929999999999801E-4</c:v>
                </c:pt>
                <c:pt idx="8">
                  <c:v>-0.1044216</c:v>
                </c:pt>
                <c:pt idx="9">
                  <c:v>0.20690410000000001</c:v>
                </c:pt>
                <c:pt idx="10">
                  <c:v>4.34603E-2</c:v>
                </c:pt>
              </c:numCache>
            </c:numRef>
          </c:val>
          <c:extLst>
            <c:ext xmlns:c16="http://schemas.microsoft.com/office/drawing/2014/chart" uri="{C3380CC4-5D6E-409C-BE32-E72D297353CC}">
              <c16:uniqueId val="{00000014-14F5-AE4A-91EA-2438C8460425}"/>
            </c:ext>
          </c:extLst>
        </c:ser>
        <c:dLbls>
          <c:showLegendKey val="0"/>
          <c:showVal val="0"/>
          <c:showCatName val="0"/>
          <c:showSerName val="0"/>
          <c:showPercent val="0"/>
          <c:showBubbleSize val="0"/>
        </c:dLbls>
        <c:gapWidth val="150"/>
        <c:axId val="-2134948040"/>
        <c:axId val="-2134945064"/>
      </c:barChart>
      <c:catAx>
        <c:axId val="-2134948040"/>
        <c:scaling>
          <c:orientation val="minMax"/>
        </c:scaling>
        <c:delete val="0"/>
        <c:axPos val="l"/>
        <c:numFmt formatCode="General" sourceLinked="0"/>
        <c:majorTickMark val="out"/>
        <c:minorTickMark val="none"/>
        <c:tickLblPos val="low"/>
        <c:crossAx val="-2134945064"/>
        <c:crosses val="autoZero"/>
        <c:auto val="1"/>
        <c:lblAlgn val="ctr"/>
        <c:lblOffset val="100"/>
        <c:noMultiLvlLbl val="0"/>
      </c:catAx>
      <c:valAx>
        <c:axId val="-2134945064"/>
        <c:scaling>
          <c:orientation val="minMax"/>
          <c:max val="0.55000000000000004"/>
          <c:min val="-0.55000000000000004"/>
        </c:scaling>
        <c:delete val="0"/>
        <c:axPos val="b"/>
        <c:majorGridlines/>
        <c:numFmt formatCode="General" sourceLinked="1"/>
        <c:majorTickMark val="out"/>
        <c:minorTickMark val="none"/>
        <c:tickLblPos val="nextTo"/>
        <c:crossAx val="-2134948040"/>
        <c:crosses val="autoZero"/>
        <c:crossBetween val="between"/>
      </c:valAx>
    </c:plotArea>
    <c:plotVisOnly val="1"/>
    <c:dispBlanksAs val="gap"/>
    <c:showDLblsOverMax val="0"/>
  </c:chart>
  <c:txPr>
    <a:bodyPr/>
    <a:lstStyle/>
    <a:p>
      <a:pPr>
        <a:defRPr sz="1600">
          <a:latin typeface="Century Schoolbook"/>
          <a:cs typeface="Century Schoolbook"/>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US"/>
              <a:t>2016 Difference</a:t>
            </a:r>
          </a:p>
        </c:rich>
      </c:tx>
      <c:layout>
        <c:manualLayout>
          <c:xMode val="edge"/>
          <c:yMode val="edge"/>
          <c:x val="0.45312104630988898"/>
          <c:y val="3.8228795545043603E-2"/>
        </c:manualLayout>
      </c:layout>
      <c:overlay val="0"/>
    </c:title>
    <c:autoTitleDeleted val="0"/>
    <c:plotArea>
      <c:layout/>
      <c:barChart>
        <c:barDir val="bar"/>
        <c:grouping val="clustered"/>
        <c:varyColors val="0"/>
        <c:ser>
          <c:idx val="0"/>
          <c:order val="0"/>
          <c:spPr>
            <a:solidFill>
              <a:srgbClr val="000000"/>
            </a:solidFill>
          </c:spPr>
          <c:invertIfNegative val="0"/>
          <c:dPt>
            <c:idx val="0"/>
            <c:invertIfNegative val="0"/>
            <c:bubble3D val="0"/>
            <c:spPr>
              <a:solidFill>
                <a:srgbClr val="3366FF"/>
              </a:solidFill>
            </c:spPr>
            <c:extLst>
              <c:ext xmlns:c16="http://schemas.microsoft.com/office/drawing/2014/chart" uri="{C3380CC4-5D6E-409C-BE32-E72D297353CC}">
                <c16:uniqueId val="{00000001-76FD-F243-BE53-F98446632C46}"/>
              </c:ext>
            </c:extLst>
          </c:dPt>
          <c:dPt>
            <c:idx val="1"/>
            <c:invertIfNegative val="0"/>
            <c:bubble3D val="0"/>
            <c:spPr>
              <a:solidFill>
                <a:srgbClr val="FF0000"/>
              </a:solidFill>
            </c:spPr>
            <c:extLst>
              <c:ext xmlns:c16="http://schemas.microsoft.com/office/drawing/2014/chart" uri="{C3380CC4-5D6E-409C-BE32-E72D297353CC}">
                <c16:uniqueId val="{00000003-76FD-F243-BE53-F98446632C46}"/>
              </c:ext>
            </c:extLst>
          </c:dPt>
          <c:dPt>
            <c:idx val="2"/>
            <c:invertIfNegative val="0"/>
            <c:bubble3D val="0"/>
            <c:spPr>
              <a:solidFill>
                <a:srgbClr val="FF0000"/>
              </a:solidFill>
            </c:spPr>
            <c:extLst>
              <c:ext xmlns:c16="http://schemas.microsoft.com/office/drawing/2014/chart" uri="{C3380CC4-5D6E-409C-BE32-E72D297353CC}">
                <c16:uniqueId val="{00000005-76FD-F243-BE53-F98446632C46}"/>
              </c:ext>
            </c:extLst>
          </c:dPt>
          <c:dPt>
            <c:idx val="3"/>
            <c:invertIfNegative val="0"/>
            <c:bubble3D val="0"/>
            <c:spPr>
              <a:solidFill>
                <a:srgbClr val="3366FF"/>
              </a:solidFill>
            </c:spPr>
            <c:extLst>
              <c:ext xmlns:c16="http://schemas.microsoft.com/office/drawing/2014/chart" uri="{C3380CC4-5D6E-409C-BE32-E72D297353CC}">
                <c16:uniqueId val="{00000007-76FD-F243-BE53-F98446632C46}"/>
              </c:ext>
            </c:extLst>
          </c:dPt>
          <c:dPt>
            <c:idx val="4"/>
            <c:invertIfNegative val="0"/>
            <c:bubble3D val="0"/>
            <c:spPr>
              <a:solidFill>
                <a:srgbClr val="FF0000"/>
              </a:solidFill>
            </c:spPr>
            <c:extLst>
              <c:ext xmlns:c16="http://schemas.microsoft.com/office/drawing/2014/chart" uri="{C3380CC4-5D6E-409C-BE32-E72D297353CC}">
                <c16:uniqueId val="{00000009-76FD-F243-BE53-F98446632C46}"/>
              </c:ext>
            </c:extLst>
          </c:dPt>
          <c:dPt>
            <c:idx val="5"/>
            <c:invertIfNegative val="0"/>
            <c:bubble3D val="0"/>
            <c:spPr>
              <a:solidFill>
                <a:srgbClr val="FF0000"/>
              </a:solidFill>
            </c:spPr>
            <c:extLst>
              <c:ext xmlns:c16="http://schemas.microsoft.com/office/drawing/2014/chart" uri="{C3380CC4-5D6E-409C-BE32-E72D297353CC}">
                <c16:uniqueId val="{0000000B-76FD-F243-BE53-F98446632C46}"/>
              </c:ext>
            </c:extLst>
          </c:dPt>
          <c:dPt>
            <c:idx val="6"/>
            <c:invertIfNegative val="0"/>
            <c:bubble3D val="0"/>
            <c:spPr>
              <a:solidFill>
                <a:srgbClr val="FF0000"/>
              </a:solidFill>
            </c:spPr>
            <c:extLst>
              <c:ext xmlns:c16="http://schemas.microsoft.com/office/drawing/2014/chart" uri="{C3380CC4-5D6E-409C-BE32-E72D297353CC}">
                <c16:uniqueId val="{0000000D-76FD-F243-BE53-F98446632C46}"/>
              </c:ext>
            </c:extLst>
          </c:dPt>
          <c:dPt>
            <c:idx val="7"/>
            <c:invertIfNegative val="0"/>
            <c:bubble3D val="0"/>
            <c:spPr>
              <a:solidFill>
                <a:srgbClr val="FF0000"/>
              </a:solidFill>
            </c:spPr>
            <c:extLst>
              <c:ext xmlns:c16="http://schemas.microsoft.com/office/drawing/2014/chart" uri="{C3380CC4-5D6E-409C-BE32-E72D297353CC}">
                <c16:uniqueId val="{0000000F-76FD-F243-BE53-F98446632C46}"/>
              </c:ext>
            </c:extLst>
          </c:dPt>
          <c:dPt>
            <c:idx val="8"/>
            <c:invertIfNegative val="0"/>
            <c:bubble3D val="0"/>
            <c:spPr>
              <a:solidFill>
                <a:srgbClr val="3366FF"/>
              </a:solidFill>
            </c:spPr>
            <c:extLst>
              <c:ext xmlns:c16="http://schemas.microsoft.com/office/drawing/2014/chart" uri="{C3380CC4-5D6E-409C-BE32-E72D297353CC}">
                <c16:uniqueId val="{00000011-76FD-F243-BE53-F98446632C46}"/>
              </c:ext>
            </c:extLst>
          </c:dPt>
          <c:dPt>
            <c:idx val="9"/>
            <c:invertIfNegative val="0"/>
            <c:bubble3D val="0"/>
            <c:spPr>
              <a:solidFill>
                <a:srgbClr val="FF0000"/>
              </a:solidFill>
            </c:spPr>
            <c:extLst>
              <c:ext xmlns:c16="http://schemas.microsoft.com/office/drawing/2014/chart" uri="{C3380CC4-5D6E-409C-BE32-E72D297353CC}">
                <c16:uniqueId val="{00000013-76FD-F243-BE53-F98446632C46}"/>
              </c:ext>
            </c:extLst>
          </c:dPt>
          <c:dPt>
            <c:idx val="10"/>
            <c:invertIfNegative val="0"/>
            <c:bubble3D val="0"/>
            <c:spPr>
              <a:solidFill>
                <a:srgbClr val="FF0000"/>
              </a:solidFill>
            </c:spPr>
            <c:extLst>
              <c:ext xmlns:c16="http://schemas.microsoft.com/office/drawing/2014/chart" uri="{C3380CC4-5D6E-409C-BE32-E72D297353CC}">
                <c16:uniqueId val="{00000015-76FD-F243-BE53-F98446632C46}"/>
              </c:ext>
            </c:extLst>
          </c:dPt>
          <c:cat>
            <c:strRef>
              <c:f>'final 3.4 (2)'!$A$75:$A$85</c:f>
              <c:strCache>
                <c:ptCount val="11"/>
                <c:pt idx="0">
                  <c:v>Union</c:v>
                </c:pt>
                <c:pt idx="1">
                  <c:v>Protestant</c:v>
                </c:pt>
                <c:pt idx="2">
                  <c:v>Catholic</c:v>
                </c:pt>
                <c:pt idx="3">
                  <c:v>Black</c:v>
                </c:pt>
                <c:pt idx="4">
                  <c:v>White</c:v>
                </c:pt>
                <c:pt idx="5">
                  <c:v>Income Percentile</c:v>
                </c:pt>
                <c:pt idx="6">
                  <c:v>South</c:v>
                </c:pt>
                <c:pt idx="7">
                  <c:v>Church Attenders</c:v>
                </c:pt>
                <c:pt idx="8">
                  <c:v>Liberals</c:v>
                </c:pt>
                <c:pt idx="9">
                  <c:v>Conservatives</c:v>
                </c:pt>
                <c:pt idx="10">
                  <c:v>Male</c:v>
                </c:pt>
              </c:strCache>
            </c:strRef>
          </c:cat>
          <c:val>
            <c:numRef>
              <c:f>'final 3.4 (2)'!$B$75:$B$85</c:f>
              <c:numCache>
                <c:formatCode>General</c:formatCode>
                <c:ptCount val="11"/>
                <c:pt idx="0">
                  <c:v>-5.8769700000000001E-2</c:v>
                </c:pt>
                <c:pt idx="1">
                  <c:v>0.1504538</c:v>
                </c:pt>
                <c:pt idx="2">
                  <c:v>5.4056E-2</c:v>
                </c:pt>
                <c:pt idx="3">
                  <c:v>-0.20788000000000001</c:v>
                </c:pt>
                <c:pt idx="4">
                  <c:v>0.28908129999999999</c:v>
                </c:pt>
                <c:pt idx="5">
                  <c:v>2.5250600000000002E-2</c:v>
                </c:pt>
                <c:pt idx="6">
                  <c:v>5.7099999999999998E-2</c:v>
                </c:pt>
                <c:pt idx="7">
                  <c:v>0.16009999999999999</c:v>
                </c:pt>
                <c:pt idx="8">
                  <c:v>-0.51694499999999999</c:v>
                </c:pt>
                <c:pt idx="9">
                  <c:v>0.55718000000000001</c:v>
                </c:pt>
                <c:pt idx="10">
                  <c:v>0.11037130000000001</c:v>
                </c:pt>
              </c:numCache>
            </c:numRef>
          </c:val>
          <c:extLst>
            <c:ext xmlns:c16="http://schemas.microsoft.com/office/drawing/2014/chart" uri="{C3380CC4-5D6E-409C-BE32-E72D297353CC}">
              <c16:uniqueId val="{00000016-76FD-F243-BE53-F98446632C46}"/>
            </c:ext>
          </c:extLst>
        </c:ser>
        <c:dLbls>
          <c:showLegendKey val="0"/>
          <c:showVal val="0"/>
          <c:showCatName val="0"/>
          <c:showSerName val="0"/>
          <c:showPercent val="0"/>
          <c:showBubbleSize val="0"/>
        </c:dLbls>
        <c:gapWidth val="150"/>
        <c:axId val="-2135164088"/>
        <c:axId val="-2135367112"/>
      </c:barChart>
      <c:catAx>
        <c:axId val="-2135164088"/>
        <c:scaling>
          <c:orientation val="minMax"/>
        </c:scaling>
        <c:delete val="0"/>
        <c:axPos val="l"/>
        <c:numFmt formatCode="General" sourceLinked="1"/>
        <c:majorTickMark val="out"/>
        <c:minorTickMark val="none"/>
        <c:tickLblPos val="low"/>
        <c:crossAx val="-2135367112"/>
        <c:crosses val="autoZero"/>
        <c:auto val="1"/>
        <c:lblAlgn val="ctr"/>
        <c:lblOffset val="100"/>
        <c:noMultiLvlLbl val="0"/>
      </c:catAx>
      <c:valAx>
        <c:axId val="-2135367112"/>
        <c:scaling>
          <c:orientation val="minMax"/>
          <c:max val="0.55000000000000004"/>
          <c:min val="-0.55000000000000004"/>
        </c:scaling>
        <c:delete val="0"/>
        <c:axPos val="b"/>
        <c:majorGridlines/>
        <c:numFmt formatCode="General" sourceLinked="1"/>
        <c:majorTickMark val="out"/>
        <c:minorTickMark val="none"/>
        <c:tickLblPos val="nextTo"/>
        <c:crossAx val="-2135164088"/>
        <c:crosses val="autoZero"/>
        <c:crossBetween val="between"/>
      </c:valAx>
    </c:plotArea>
    <c:plotVisOnly val="1"/>
    <c:dispBlanksAs val="gap"/>
    <c:showDLblsOverMax val="0"/>
  </c:chart>
  <c:txPr>
    <a:bodyPr/>
    <a:lstStyle/>
    <a:p>
      <a:pPr>
        <a:defRPr sz="1600">
          <a:latin typeface="Century Schoolbook"/>
          <a:cs typeface="Century Schoolbook"/>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LM Roman 12" pitchFamily="2" charset="77"/>
                <a:ea typeface="+mn-ea"/>
                <a:cs typeface="+mn-cs"/>
              </a:defRPr>
            </a:pPr>
            <a:r>
              <a:rPr lang="en-US" sz="1600" b="1" dirty="0" err="1">
                <a:latin typeface="LM Roman 12" pitchFamily="2" charset="77"/>
              </a:rPr>
              <a:t>Outparty</a:t>
            </a:r>
            <a:r>
              <a:rPr lang="en-US" sz="1600" b="1" dirty="0">
                <a:latin typeface="LM Roman 12" pitchFamily="2" charset="77"/>
              </a:rPr>
              <a:t> is</a:t>
            </a:r>
            <a:r>
              <a:rPr lang="en-US" sz="1600" b="1" baseline="0" dirty="0">
                <a:latin typeface="LM Roman 12" pitchFamily="2" charset="77"/>
              </a:rPr>
              <a:t> a Threat</a:t>
            </a:r>
            <a:endParaRPr lang="en-US" sz="1600" b="1" dirty="0">
              <a:latin typeface="LM Roman 12" pitchFamily="2" charset="77"/>
            </a:endParaRP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LM Roman 12" pitchFamily="2" charset="77"/>
              <a:ea typeface="+mn-ea"/>
              <a:cs typeface="+mn-cs"/>
            </a:defRPr>
          </a:pPr>
          <a:endParaRPr lang="en-US"/>
        </a:p>
      </c:txPr>
    </c:title>
    <c:autoTitleDeleted val="0"/>
    <c:plotArea>
      <c:layout/>
      <c:lineChart>
        <c:grouping val="standard"/>
        <c:varyColors val="0"/>
        <c:ser>
          <c:idx val="0"/>
          <c:order val="0"/>
          <c:tx>
            <c:strRef>
              <c:f>'Data over time'!$D$76</c:f>
              <c:strCache>
                <c:ptCount val="1"/>
                <c:pt idx="0">
                  <c:v>Reps</c:v>
                </c:pt>
              </c:strCache>
            </c:strRef>
          </c:tx>
          <c:spPr>
            <a:ln w="28575" cap="rnd">
              <a:solidFill>
                <a:srgbClr val="FF0000"/>
              </a:solidFill>
              <a:prstDash val="sysDot"/>
              <a:round/>
            </a:ln>
            <a:effectLst/>
          </c:spPr>
          <c:marker>
            <c:symbol val="none"/>
          </c:marker>
          <c:cat>
            <c:numRef>
              <c:f>'Data over time'!$C$77:$C$83</c:f>
              <c:numCache>
                <c:formatCode>mmm\-yy</c:formatCode>
                <c:ptCount val="7"/>
                <c:pt idx="0">
                  <c:v>43405</c:v>
                </c:pt>
                <c:pt idx="1">
                  <c:v>43617</c:v>
                </c:pt>
                <c:pt idx="2">
                  <c:v>43709</c:v>
                </c:pt>
                <c:pt idx="3">
                  <c:v>43862</c:v>
                </c:pt>
                <c:pt idx="4" formatCode="d\-mmm">
                  <c:v>44105</c:v>
                </c:pt>
                <c:pt idx="5">
                  <c:v>44136</c:v>
                </c:pt>
                <c:pt idx="6">
                  <c:v>44248</c:v>
                </c:pt>
              </c:numCache>
            </c:numRef>
          </c:cat>
          <c:val>
            <c:numRef>
              <c:f>'Data over time'!$D$77:$D$83</c:f>
              <c:numCache>
                <c:formatCode>General</c:formatCode>
                <c:ptCount val="7"/>
                <c:pt idx="0">
                  <c:v>0.7</c:v>
                </c:pt>
                <c:pt idx="1">
                  <c:v>0.66</c:v>
                </c:pt>
                <c:pt idx="2">
                  <c:v>0.64</c:v>
                </c:pt>
                <c:pt idx="3">
                  <c:v>0.69</c:v>
                </c:pt>
                <c:pt idx="4">
                  <c:v>0.71</c:v>
                </c:pt>
                <c:pt idx="5">
                  <c:v>0.66</c:v>
                </c:pt>
                <c:pt idx="6">
                  <c:v>0.77</c:v>
                </c:pt>
              </c:numCache>
            </c:numRef>
          </c:val>
          <c:smooth val="0"/>
          <c:extLst>
            <c:ext xmlns:c16="http://schemas.microsoft.com/office/drawing/2014/chart" uri="{C3380CC4-5D6E-409C-BE32-E72D297353CC}">
              <c16:uniqueId val="{00000000-3DBE-3145-A152-7E1414D2815E}"/>
            </c:ext>
          </c:extLst>
        </c:ser>
        <c:ser>
          <c:idx val="1"/>
          <c:order val="1"/>
          <c:tx>
            <c:strRef>
              <c:f>'Data over time'!$E$76</c:f>
              <c:strCache>
                <c:ptCount val="1"/>
                <c:pt idx="0">
                  <c:v>Dems</c:v>
                </c:pt>
              </c:strCache>
            </c:strRef>
          </c:tx>
          <c:spPr>
            <a:ln w="28575" cap="rnd">
              <a:solidFill>
                <a:srgbClr val="0070C0"/>
              </a:solidFill>
              <a:prstDash val="dash"/>
              <a:round/>
            </a:ln>
            <a:effectLst/>
          </c:spPr>
          <c:marker>
            <c:symbol val="none"/>
          </c:marker>
          <c:cat>
            <c:numRef>
              <c:f>'Data over time'!$C$77:$C$83</c:f>
              <c:numCache>
                <c:formatCode>mmm\-yy</c:formatCode>
                <c:ptCount val="7"/>
                <c:pt idx="0">
                  <c:v>43405</c:v>
                </c:pt>
                <c:pt idx="1">
                  <c:v>43617</c:v>
                </c:pt>
                <c:pt idx="2">
                  <c:v>43709</c:v>
                </c:pt>
                <c:pt idx="3">
                  <c:v>43862</c:v>
                </c:pt>
                <c:pt idx="4" formatCode="d\-mmm">
                  <c:v>44105</c:v>
                </c:pt>
                <c:pt idx="5">
                  <c:v>44136</c:v>
                </c:pt>
                <c:pt idx="6">
                  <c:v>44248</c:v>
                </c:pt>
              </c:numCache>
            </c:numRef>
          </c:cat>
          <c:val>
            <c:numRef>
              <c:f>'Data over time'!$E$77:$E$83</c:f>
              <c:numCache>
                <c:formatCode>General</c:formatCode>
                <c:ptCount val="7"/>
                <c:pt idx="0">
                  <c:v>0.66</c:v>
                </c:pt>
                <c:pt idx="1">
                  <c:v>0.57999999999999996</c:v>
                </c:pt>
                <c:pt idx="2">
                  <c:v>0.59</c:v>
                </c:pt>
                <c:pt idx="3">
                  <c:v>0.64</c:v>
                </c:pt>
                <c:pt idx="4">
                  <c:v>0.57999999999999996</c:v>
                </c:pt>
                <c:pt idx="5">
                  <c:v>0.55000000000000004</c:v>
                </c:pt>
                <c:pt idx="6">
                  <c:v>0.68</c:v>
                </c:pt>
              </c:numCache>
            </c:numRef>
          </c:val>
          <c:smooth val="0"/>
          <c:extLst>
            <c:ext xmlns:c16="http://schemas.microsoft.com/office/drawing/2014/chart" uri="{C3380CC4-5D6E-409C-BE32-E72D297353CC}">
              <c16:uniqueId val="{00000001-3DBE-3145-A152-7E1414D2815E}"/>
            </c:ext>
          </c:extLst>
        </c:ser>
        <c:dLbls>
          <c:showLegendKey val="0"/>
          <c:showVal val="0"/>
          <c:showCatName val="0"/>
          <c:showSerName val="0"/>
          <c:showPercent val="0"/>
          <c:showBubbleSize val="0"/>
        </c:dLbls>
        <c:smooth val="0"/>
        <c:axId val="865353840"/>
        <c:axId val="865356592"/>
      </c:lineChart>
      <c:dateAx>
        <c:axId val="865353840"/>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865356592"/>
        <c:crosses val="autoZero"/>
        <c:auto val="1"/>
        <c:lblOffset val="100"/>
        <c:baseTimeUnit val="months"/>
      </c:dateAx>
      <c:valAx>
        <c:axId val="865356592"/>
        <c:scaling>
          <c:orientation val="minMax"/>
          <c:max val="0.8"/>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865353840"/>
        <c:crosses val="autoZero"/>
        <c:crossBetween val="between"/>
        <c:majorUnit val="0.1"/>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600" b="1" dirty="0" err="1">
                <a:latin typeface="LM Roman 12" pitchFamily="2" charset="77"/>
              </a:rPr>
              <a:t>Outparty</a:t>
            </a:r>
            <a:r>
              <a:rPr lang="en-US" sz="1600" b="1" baseline="0" dirty="0">
                <a:latin typeface="LM Roman 12" pitchFamily="2" charset="77"/>
              </a:rPr>
              <a:t> is Not Human</a:t>
            </a:r>
            <a:endParaRPr lang="en-US" sz="1600" b="1" dirty="0">
              <a:latin typeface="LM Roman 12" pitchFamily="2" charset="77"/>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'Data over time'!$D$100</c:f>
              <c:strCache>
                <c:ptCount val="1"/>
                <c:pt idx="0">
                  <c:v>Reps</c:v>
                </c:pt>
              </c:strCache>
            </c:strRef>
          </c:tx>
          <c:spPr>
            <a:ln w="28575" cap="rnd">
              <a:solidFill>
                <a:srgbClr val="FF0000"/>
              </a:solidFill>
              <a:prstDash val="sysDot"/>
              <a:round/>
            </a:ln>
            <a:effectLst/>
          </c:spPr>
          <c:marker>
            <c:symbol val="none"/>
          </c:marker>
          <c:cat>
            <c:numRef>
              <c:f>'Data over time'!$C$101:$C$107</c:f>
              <c:numCache>
                <c:formatCode>mmm\-yy</c:formatCode>
                <c:ptCount val="7"/>
                <c:pt idx="0">
                  <c:v>43405</c:v>
                </c:pt>
                <c:pt idx="1">
                  <c:v>43617</c:v>
                </c:pt>
                <c:pt idx="2">
                  <c:v>43709</c:v>
                </c:pt>
                <c:pt idx="3">
                  <c:v>43862</c:v>
                </c:pt>
                <c:pt idx="4" formatCode="d\-mmm">
                  <c:v>44105</c:v>
                </c:pt>
                <c:pt idx="5">
                  <c:v>44136</c:v>
                </c:pt>
                <c:pt idx="6">
                  <c:v>44248</c:v>
                </c:pt>
              </c:numCache>
            </c:numRef>
          </c:cat>
          <c:val>
            <c:numRef>
              <c:f>'Data over time'!$D$101:$D$107</c:f>
              <c:numCache>
                <c:formatCode>General</c:formatCode>
                <c:ptCount val="7"/>
                <c:pt idx="0">
                  <c:v>0.26</c:v>
                </c:pt>
                <c:pt idx="1">
                  <c:v>0.3</c:v>
                </c:pt>
                <c:pt idx="2">
                  <c:v>0.27</c:v>
                </c:pt>
                <c:pt idx="3">
                  <c:v>0.28000000000000003</c:v>
                </c:pt>
                <c:pt idx="4">
                  <c:v>0.34</c:v>
                </c:pt>
                <c:pt idx="5">
                  <c:v>0.32</c:v>
                </c:pt>
                <c:pt idx="6">
                  <c:v>0.43</c:v>
                </c:pt>
              </c:numCache>
            </c:numRef>
          </c:val>
          <c:smooth val="0"/>
          <c:extLst>
            <c:ext xmlns:c16="http://schemas.microsoft.com/office/drawing/2014/chart" uri="{C3380CC4-5D6E-409C-BE32-E72D297353CC}">
              <c16:uniqueId val="{00000000-235E-C24B-B34D-2CD4E7BDA455}"/>
            </c:ext>
          </c:extLst>
        </c:ser>
        <c:ser>
          <c:idx val="1"/>
          <c:order val="1"/>
          <c:tx>
            <c:strRef>
              <c:f>'Data over time'!$E$100</c:f>
              <c:strCache>
                <c:ptCount val="1"/>
                <c:pt idx="0">
                  <c:v>Dems</c:v>
                </c:pt>
              </c:strCache>
            </c:strRef>
          </c:tx>
          <c:spPr>
            <a:ln w="28575" cap="rnd">
              <a:solidFill>
                <a:srgbClr val="0070C0"/>
              </a:solidFill>
              <a:prstDash val="dash"/>
              <a:round/>
            </a:ln>
            <a:effectLst/>
          </c:spPr>
          <c:marker>
            <c:symbol val="none"/>
          </c:marker>
          <c:cat>
            <c:numRef>
              <c:f>'Data over time'!$C$101:$C$107</c:f>
              <c:numCache>
                <c:formatCode>mmm\-yy</c:formatCode>
                <c:ptCount val="7"/>
                <c:pt idx="0">
                  <c:v>43405</c:v>
                </c:pt>
                <c:pt idx="1">
                  <c:v>43617</c:v>
                </c:pt>
                <c:pt idx="2">
                  <c:v>43709</c:v>
                </c:pt>
                <c:pt idx="3">
                  <c:v>43862</c:v>
                </c:pt>
                <c:pt idx="4" formatCode="d\-mmm">
                  <c:v>44105</c:v>
                </c:pt>
                <c:pt idx="5">
                  <c:v>44136</c:v>
                </c:pt>
                <c:pt idx="6">
                  <c:v>44248</c:v>
                </c:pt>
              </c:numCache>
            </c:numRef>
          </c:cat>
          <c:val>
            <c:numRef>
              <c:f>'Data over time'!$E$101:$E$107</c:f>
              <c:numCache>
                <c:formatCode>General</c:formatCode>
                <c:ptCount val="7"/>
                <c:pt idx="0">
                  <c:v>0.18</c:v>
                </c:pt>
                <c:pt idx="1">
                  <c:v>0.28999999999999998</c:v>
                </c:pt>
                <c:pt idx="2">
                  <c:v>0.24</c:v>
                </c:pt>
                <c:pt idx="3">
                  <c:v>0.26</c:v>
                </c:pt>
                <c:pt idx="4">
                  <c:v>0.22</c:v>
                </c:pt>
                <c:pt idx="5">
                  <c:v>0.2</c:v>
                </c:pt>
                <c:pt idx="6">
                  <c:v>0.31</c:v>
                </c:pt>
              </c:numCache>
            </c:numRef>
          </c:val>
          <c:smooth val="0"/>
          <c:extLst>
            <c:ext xmlns:c16="http://schemas.microsoft.com/office/drawing/2014/chart" uri="{C3380CC4-5D6E-409C-BE32-E72D297353CC}">
              <c16:uniqueId val="{00000001-235E-C24B-B34D-2CD4E7BDA455}"/>
            </c:ext>
          </c:extLst>
        </c:ser>
        <c:dLbls>
          <c:showLegendKey val="0"/>
          <c:showVal val="0"/>
          <c:showCatName val="0"/>
          <c:showSerName val="0"/>
          <c:showPercent val="0"/>
          <c:showBubbleSize val="0"/>
        </c:dLbls>
        <c:smooth val="0"/>
        <c:axId val="865353840"/>
        <c:axId val="865356592"/>
      </c:lineChart>
      <c:dateAx>
        <c:axId val="865353840"/>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865356592"/>
        <c:crosses val="autoZero"/>
        <c:auto val="1"/>
        <c:lblOffset val="100"/>
        <c:baseTimeUnit val="months"/>
      </c:dateAx>
      <c:valAx>
        <c:axId val="865356592"/>
        <c:scaling>
          <c:orientation val="minMax"/>
          <c:max val="0.8"/>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865353840"/>
        <c:crosses val="autoZero"/>
        <c:crossBetween val="between"/>
        <c:majorUnit val="0.1"/>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600" b="1" dirty="0" err="1">
                <a:latin typeface="LM Roman 12" pitchFamily="2" charset="77"/>
              </a:rPr>
              <a:t>Outparty</a:t>
            </a:r>
            <a:r>
              <a:rPr lang="en-US" sz="1600" b="1" dirty="0">
                <a:latin typeface="LM Roman 12" pitchFamily="2" charset="77"/>
              </a:rPr>
              <a:t> is Evil</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'Data over time'!$D$88</c:f>
              <c:strCache>
                <c:ptCount val="1"/>
                <c:pt idx="0">
                  <c:v>Reps</c:v>
                </c:pt>
              </c:strCache>
            </c:strRef>
          </c:tx>
          <c:spPr>
            <a:ln w="28575" cap="rnd">
              <a:solidFill>
                <a:srgbClr val="FF0000"/>
              </a:solidFill>
              <a:prstDash val="sysDot"/>
              <a:round/>
            </a:ln>
            <a:effectLst/>
          </c:spPr>
          <c:marker>
            <c:symbol val="none"/>
          </c:marker>
          <c:cat>
            <c:numRef>
              <c:f>'Data over time'!$C$89:$C$95</c:f>
              <c:numCache>
                <c:formatCode>mmm\-yy</c:formatCode>
                <c:ptCount val="7"/>
                <c:pt idx="0">
                  <c:v>43405</c:v>
                </c:pt>
                <c:pt idx="1">
                  <c:v>43617</c:v>
                </c:pt>
                <c:pt idx="2">
                  <c:v>43709</c:v>
                </c:pt>
                <c:pt idx="3">
                  <c:v>43862</c:v>
                </c:pt>
                <c:pt idx="4" formatCode="d\-mmm">
                  <c:v>44105</c:v>
                </c:pt>
                <c:pt idx="5">
                  <c:v>44136</c:v>
                </c:pt>
                <c:pt idx="6">
                  <c:v>44248</c:v>
                </c:pt>
              </c:numCache>
            </c:numRef>
          </c:cat>
          <c:val>
            <c:numRef>
              <c:f>'Data over time'!$D$89:$D$95</c:f>
              <c:numCache>
                <c:formatCode>General</c:formatCode>
                <c:ptCount val="7"/>
                <c:pt idx="0">
                  <c:v>0.53</c:v>
                </c:pt>
                <c:pt idx="1">
                  <c:v>0.53</c:v>
                </c:pt>
                <c:pt idx="2">
                  <c:v>0.47</c:v>
                </c:pt>
                <c:pt idx="3">
                  <c:v>0.52</c:v>
                </c:pt>
                <c:pt idx="4">
                  <c:v>0.55000000000000004</c:v>
                </c:pt>
                <c:pt idx="5">
                  <c:v>0.56000000000000005</c:v>
                </c:pt>
                <c:pt idx="6">
                  <c:v>0.67</c:v>
                </c:pt>
              </c:numCache>
            </c:numRef>
          </c:val>
          <c:smooth val="0"/>
          <c:extLst>
            <c:ext xmlns:c16="http://schemas.microsoft.com/office/drawing/2014/chart" uri="{C3380CC4-5D6E-409C-BE32-E72D297353CC}">
              <c16:uniqueId val="{00000000-921B-5F45-849C-D24A7392088B}"/>
            </c:ext>
          </c:extLst>
        </c:ser>
        <c:ser>
          <c:idx val="1"/>
          <c:order val="1"/>
          <c:tx>
            <c:strRef>
              <c:f>'Data over time'!$E$88</c:f>
              <c:strCache>
                <c:ptCount val="1"/>
                <c:pt idx="0">
                  <c:v>Dems</c:v>
                </c:pt>
              </c:strCache>
            </c:strRef>
          </c:tx>
          <c:spPr>
            <a:ln w="28575" cap="rnd">
              <a:solidFill>
                <a:srgbClr val="0070C0"/>
              </a:solidFill>
              <a:prstDash val="dash"/>
              <a:round/>
            </a:ln>
            <a:effectLst/>
          </c:spPr>
          <c:marker>
            <c:symbol val="none"/>
          </c:marker>
          <c:cat>
            <c:numRef>
              <c:f>'Data over time'!$C$89:$C$95</c:f>
              <c:numCache>
                <c:formatCode>mmm\-yy</c:formatCode>
                <c:ptCount val="7"/>
                <c:pt idx="0">
                  <c:v>43405</c:v>
                </c:pt>
                <c:pt idx="1">
                  <c:v>43617</c:v>
                </c:pt>
                <c:pt idx="2">
                  <c:v>43709</c:v>
                </c:pt>
                <c:pt idx="3">
                  <c:v>43862</c:v>
                </c:pt>
                <c:pt idx="4" formatCode="d\-mmm">
                  <c:v>44105</c:v>
                </c:pt>
                <c:pt idx="5">
                  <c:v>44136</c:v>
                </c:pt>
                <c:pt idx="6">
                  <c:v>44248</c:v>
                </c:pt>
              </c:numCache>
            </c:numRef>
          </c:cat>
          <c:val>
            <c:numRef>
              <c:f>'Data over time'!$E$89:$E$95</c:f>
              <c:numCache>
                <c:formatCode>General</c:formatCode>
                <c:ptCount val="7"/>
                <c:pt idx="0">
                  <c:v>0.48</c:v>
                </c:pt>
                <c:pt idx="1">
                  <c:v>0.48</c:v>
                </c:pt>
                <c:pt idx="2">
                  <c:v>0.46</c:v>
                </c:pt>
                <c:pt idx="3">
                  <c:v>0.49</c:v>
                </c:pt>
                <c:pt idx="4">
                  <c:v>0.45</c:v>
                </c:pt>
                <c:pt idx="5">
                  <c:v>0.39</c:v>
                </c:pt>
                <c:pt idx="6">
                  <c:v>0.53</c:v>
                </c:pt>
              </c:numCache>
            </c:numRef>
          </c:val>
          <c:smooth val="0"/>
          <c:extLst>
            <c:ext xmlns:c16="http://schemas.microsoft.com/office/drawing/2014/chart" uri="{C3380CC4-5D6E-409C-BE32-E72D297353CC}">
              <c16:uniqueId val="{00000001-921B-5F45-849C-D24A7392088B}"/>
            </c:ext>
          </c:extLst>
        </c:ser>
        <c:dLbls>
          <c:showLegendKey val="0"/>
          <c:showVal val="0"/>
          <c:showCatName val="0"/>
          <c:showSerName val="0"/>
          <c:showPercent val="0"/>
          <c:showBubbleSize val="0"/>
        </c:dLbls>
        <c:smooth val="0"/>
        <c:axId val="865353840"/>
        <c:axId val="865356592"/>
      </c:lineChart>
      <c:dateAx>
        <c:axId val="865353840"/>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865356592"/>
        <c:crosses val="autoZero"/>
        <c:auto val="1"/>
        <c:lblOffset val="100"/>
        <c:baseTimeUnit val="months"/>
      </c:dateAx>
      <c:valAx>
        <c:axId val="865356592"/>
        <c:scaling>
          <c:orientation val="minMax"/>
          <c:max val="0.8"/>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865353840"/>
        <c:crosses val="autoZero"/>
        <c:crossBetween val="between"/>
        <c:majorUnit val="0.1"/>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latin typeface="LM Roman 12" pitchFamily="2" charset="77"/>
              </a:rPr>
              <a:t>Threaten</a:t>
            </a:r>
            <a:r>
              <a:rPr lang="en-US" b="1" baseline="0" dirty="0">
                <a:latin typeface="LM Roman 12" pitchFamily="2" charset="77"/>
              </a:rPr>
              <a:t> </a:t>
            </a:r>
            <a:r>
              <a:rPr lang="en-US" b="1" baseline="0" dirty="0" err="1">
                <a:latin typeface="LM Roman 12" pitchFamily="2" charset="77"/>
              </a:rPr>
              <a:t>Outparty</a:t>
            </a:r>
            <a:r>
              <a:rPr lang="en-US" b="1" baseline="0" dirty="0">
                <a:latin typeface="LM Roman 12" pitchFamily="2" charset="77"/>
              </a:rPr>
              <a:t> Leaders</a:t>
            </a:r>
            <a:endParaRPr lang="en-US" b="1" dirty="0">
              <a:latin typeface="LM Roman 12" pitchFamily="2" charset="77"/>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'Data over time'!$D$51</c:f>
              <c:strCache>
                <c:ptCount val="1"/>
                <c:pt idx="0">
                  <c:v>Reps</c:v>
                </c:pt>
              </c:strCache>
            </c:strRef>
          </c:tx>
          <c:spPr>
            <a:ln w="28575" cap="rnd">
              <a:solidFill>
                <a:srgbClr val="FF0000"/>
              </a:solidFill>
              <a:prstDash val="sysDot"/>
              <a:round/>
            </a:ln>
            <a:effectLst/>
          </c:spPr>
          <c:marker>
            <c:symbol val="none"/>
          </c:marker>
          <c:cat>
            <c:numRef>
              <c:f>'Data over time'!$C$52:$C$58</c:f>
              <c:numCache>
                <c:formatCode>mmm\-yy</c:formatCode>
                <c:ptCount val="7"/>
                <c:pt idx="0">
                  <c:v>43405</c:v>
                </c:pt>
                <c:pt idx="1">
                  <c:v>43617</c:v>
                </c:pt>
                <c:pt idx="2">
                  <c:v>43709</c:v>
                </c:pt>
                <c:pt idx="3">
                  <c:v>43862</c:v>
                </c:pt>
                <c:pt idx="4" formatCode="d\-mmm">
                  <c:v>44105</c:v>
                </c:pt>
                <c:pt idx="5">
                  <c:v>44136</c:v>
                </c:pt>
                <c:pt idx="6">
                  <c:v>44228</c:v>
                </c:pt>
              </c:numCache>
            </c:numRef>
          </c:cat>
          <c:val>
            <c:numRef>
              <c:f>'Data over time'!$D$52:$D$58</c:f>
              <c:numCache>
                <c:formatCode>General</c:formatCode>
                <c:ptCount val="7"/>
                <c:pt idx="0">
                  <c:v>0.04</c:v>
                </c:pt>
                <c:pt idx="1">
                  <c:v>0.02</c:v>
                </c:pt>
                <c:pt idx="2">
                  <c:v>0.02</c:v>
                </c:pt>
                <c:pt idx="3">
                  <c:v>0.04</c:v>
                </c:pt>
                <c:pt idx="4">
                  <c:v>0.05</c:v>
                </c:pt>
                <c:pt idx="5">
                  <c:v>0.09</c:v>
                </c:pt>
                <c:pt idx="6">
                  <c:v>0.25</c:v>
                </c:pt>
              </c:numCache>
            </c:numRef>
          </c:val>
          <c:smooth val="0"/>
          <c:extLst>
            <c:ext xmlns:c16="http://schemas.microsoft.com/office/drawing/2014/chart" uri="{C3380CC4-5D6E-409C-BE32-E72D297353CC}">
              <c16:uniqueId val="{00000000-2995-1347-B3AD-2E30E1916B3D}"/>
            </c:ext>
          </c:extLst>
        </c:ser>
        <c:ser>
          <c:idx val="1"/>
          <c:order val="1"/>
          <c:tx>
            <c:strRef>
              <c:f>'Data over time'!$E$51</c:f>
              <c:strCache>
                <c:ptCount val="1"/>
                <c:pt idx="0">
                  <c:v>Dems</c:v>
                </c:pt>
              </c:strCache>
            </c:strRef>
          </c:tx>
          <c:spPr>
            <a:ln w="28575" cap="rnd">
              <a:solidFill>
                <a:srgbClr val="0070C0"/>
              </a:solidFill>
              <a:prstDash val="dash"/>
              <a:round/>
            </a:ln>
            <a:effectLst/>
          </c:spPr>
          <c:marker>
            <c:symbol val="none"/>
          </c:marker>
          <c:cat>
            <c:numRef>
              <c:f>'Data over time'!$C$52:$C$58</c:f>
              <c:numCache>
                <c:formatCode>mmm\-yy</c:formatCode>
                <c:ptCount val="7"/>
                <c:pt idx="0">
                  <c:v>43405</c:v>
                </c:pt>
                <c:pt idx="1">
                  <c:v>43617</c:v>
                </c:pt>
                <c:pt idx="2">
                  <c:v>43709</c:v>
                </c:pt>
                <c:pt idx="3">
                  <c:v>43862</c:v>
                </c:pt>
                <c:pt idx="4" formatCode="d\-mmm">
                  <c:v>44105</c:v>
                </c:pt>
                <c:pt idx="5">
                  <c:v>44136</c:v>
                </c:pt>
                <c:pt idx="6">
                  <c:v>44228</c:v>
                </c:pt>
              </c:numCache>
            </c:numRef>
          </c:cat>
          <c:val>
            <c:numRef>
              <c:f>'Data over time'!$E$52:$E$58</c:f>
              <c:numCache>
                <c:formatCode>General</c:formatCode>
                <c:ptCount val="7"/>
                <c:pt idx="0">
                  <c:v>0.05</c:v>
                </c:pt>
                <c:pt idx="1">
                  <c:v>0.05</c:v>
                </c:pt>
                <c:pt idx="2">
                  <c:v>0.04</c:v>
                </c:pt>
                <c:pt idx="3">
                  <c:v>0.05</c:v>
                </c:pt>
                <c:pt idx="4">
                  <c:v>0.09</c:v>
                </c:pt>
                <c:pt idx="5">
                  <c:v>0.06</c:v>
                </c:pt>
                <c:pt idx="6">
                  <c:v>0.16</c:v>
                </c:pt>
              </c:numCache>
            </c:numRef>
          </c:val>
          <c:smooth val="0"/>
          <c:extLst>
            <c:ext xmlns:c16="http://schemas.microsoft.com/office/drawing/2014/chart" uri="{C3380CC4-5D6E-409C-BE32-E72D297353CC}">
              <c16:uniqueId val="{00000001-2995-1347-B3AD-2E30E1916B3D}"/>
            </c:ext>
          </c:extLst>
        </c:ser>
        <c:dLbls>
          <c:showLegendKey val="0"/>
          <c:showVal val="0"/>
          <c:showCatName val="0"/>
          <c:showSerName val="0"/>
          <c:showPercent val="0"/>
          <c:showBubbleSize val="0"/>
        </c:dLbls>
        <c:smooth val="0"/>
        <c:axId val="865353840"/>
        <c:axId val="865356592"/>
      </c:lineChart>
      <c:dateAx>
        <c:axId val="865353840"/>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865356592"/>
        <c:crosses val="autoZero"/>
        <c:auto val="1"/>
        <c:lblOffset val="100"/>
        <c:baseTimeUnit val="months"/>
      </c:dateAx>
      <c:valAx>
        <c:axId val="865356592"/>
        <c:scaling>
          <c:orientation val="minMax"/>
          <c:max val="0.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865353840"/>
        <c:crosses val="autoZero"/>
        <c:crossBetween val="between"/>
        <c:majorUnit val="0.1"/>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latin typeface="LM Roman 12" pitchFamily="2" charset="77"/>
              </a:rPr>
              <a:t>Threaten</a:t>
            </a:r>
            <a:r>
              <a:rPr lang="en-US" b="1" baseline="0" dirty="0">
                <a:latin typeface="LM Roman 12" pitchFamily="2" charset="77"/>
              </a:rPr>
              <a:t> </a:t>
            </a:r>
            <a:r>
              <a:rPr lang="en-US" b="1" baseline="0" dirty="0" err="1">
                <a:latin typeface="LM Roman 12" pitchFamily="2" charset="77"/>
              </a:rPr>
              <a:t>Outparty</a:t>
            </a:r>
            <a:r>
              <a:rPr lang="en-US" b="1" baseline="0" dirty="0">
                <a:latin typeface="LM Roman 12" pitchFamily="2" charset="77"/>
              </a:rPr>
              <a:t> Citizens Online</a:t>
            </a:r>
            <a:endParaRPr lang="en-US" b="1" dirty="0">
              <a:latin typeface="LM Roman 12" pitchFamily="2" charset="77"/>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'Data over time'!$D$63</c:f>
              <c:strCache>
                <c:ptCount val="1"/>
                <c:pt idx="0">
                  <c:v>Reps</c:v>
                </c:pt>
              </c:strCache>
            </c:strRef>
          </c:tx>
          <c:spPr>
            <a:ln w="28575" cap="rnd">
              <a:solidFill>
                <a:srgbClr val="FF0000"/>
              </a:solidFill>
              <a:prstDash val="sysDot"/>
              <a:round/>
            </a:ln>
            <a:effectLst/>
          </c:spPr>
          <c:marker>
            <c:symbol val="none"/>
          </c:marker>
          <c:cat>
            <c:numRef>
              <c:f>'Data over time'!$C$64:$C$70</c:f>
              <c:numCache>
                <c:formatCode>mmm\-yy</c:formatCode>
                <c:ptCount val="7"/>
                <c:pt idx="0">
                  <c:v>43405</c:v>
                </c:pt>
                <c:pt idx="1">
                  <c:v>43617</c:v>
                </c:pt>
                <c:pt idx="2">
                  <c:v>43709</c:v>
                </c:pt>
                <c:pt idx="3">
                  <c:v>43862</c:v>
                </c:pt>
                <c:pt idx="4" formatCode="d\-mmm">
                  <c:v>44105</c:v>
                </c:pt>
                <c:pt idx="5">
                  <c:v>44136</c:v>
                </c:pt>
                <c:pt idx="6">
                  <c:v>44228</c:v>
                </c:pt>
              </c:numCache>
            </c:numRef>
          </c:cat>
          <c:val>
            <c:numRef>
              <c:f>'Data over time'!$D$64:$D$70</c:f>
              <c:numCache>
                <c:formatCode>General</c:formatCode>
                <c:ptCount val="7"/>
                <c:pt idx="0">
                  <c:v>0.03</c:v>
                </c:pt>
                <c:pt idx="1">
                  <c:v>0.03</c:v>
                </c:pt>
                <c:pt idx="2">
                  <c:v>0.02</c:v>
                </c:pt>
                <c:pt idx="3">
                  <c:v>0.04</c:v>
                </c:pt>
                <c:pt idx="4">
                  <c:v>0.06</c:v>
                </c:pt>
                <c:pt idx="5">
                  <c:v>0.09</c:v>
                </c:pt>
                <c:pt idx="6">
                  <c:v>0.19</c:v>
                </c:pt>
              </c:numCache>
            </c:numRef>
          </c:val>
          <c:smooth val="0"/>
          <c:extLst>
            <c:ext xmlns:c16="http://schemas.microsoft.com/office/drawing/2014/chart" uri="{C3380CC4-5D6E-409C-BE32-E72D297353CC}">
              <c16:uniqueId val="{00000000-3D5F-8642-8B9C-D5828DFA2104}"/>
            </c:ext>
          </c:extLst>
        </c:ser>
        <c:ser>
          <c:idx val="1"/>
          <c:order val="1"/>
          <c:tx>
            <c:strRef>
              <c:f>'Data over time'!$E$63</c:f>
              <c:strCache>
                <c:ptCount val="1"/>
                <c:pt idx="0">
                  <c:v>Dems</c:v>
                </c:pt>
              </c:strCache>
            </c:strRef>
          </c:tx>
          <c:spPr>
            <a:ln w="28575" cap="rnd">
              <a:solidFill>
                <a:srgbClr val="0070C0"/>
              </a:solidFill>
              <a:prstDash val="dash"/>
              <a:round/>
            </a:ln>
            <a:effectLst/>
          </c:spPr>
          <c:marker>
            <c:symbol val="none"/>
          </c:marker>
          <c:cat>
            <c:numRef>
              <c:f>'Data over time'!$C$64:$C$70</c:f>
              <c:numCache>
                <c:formatCode>mmm\-yy</c:formatCode>
                <c:ptCount val="7"/>
                <c:pt idx="0">
                  <c:v>43405</c:v>
                </c:pt>
                <c:pt idx="1">
                  <c:v>43617</c:v>
                </c:pt>
                <c:pt idx="2">
                  <c:v>43709</c:v>
                </c:pt>
                <c:pt idx="3">
                  <c:v>43862</c:v>
                </c:pt>
                <c:pt idx="4" formatCode="d\-mmm">
                  <c:v>44105</c:v>
                </c:pt>
                <c:pt idx="5">
                  <c:v>44136</c:v>
                </c:pt>
                <c:pt idx="6">
                  <c:v>44228</c:v>
                </c:pt>
              </c:numCache>
            </c:numRef>
          </c:cat>
          <c:val>
            <c:numRef>
              <c:f>'Data over time'!$E$64:$E$70</c:f>
              <c:numCache>
                <c:formatCode>General</c:formatCode>
                <c:ptCount val="7"/>
                <c:pt idx="0">
                  <c:v>0.05</c:v>
                </c:pt>
                <c:pt idx="1">
                  <c:v>0.05</c:v>
                </c:pt>
                <c:pt idx="2">
                  <c:v>0.06</c:v>
                </c:pt>
                <c:pt idx="3">
                  <c:v>0.03</c:v>
                </c:pt>
                <c:pt idx="4">
                  <c:v>0.08</c:v>
                </c:pt>
                <c:pt idx="5">
                  <c:v>0.04</c:v>
                </c:pt>
                <c:pt idx="6">
                  <c:v>0.13</c:v>
                </c:pt>
              </c:numCache>
            </c:numRef>
          </c:val>
          <c:smooth val="0"/>
          <c:extLst>
            <c:ext xmlns:c16="http://schemas.microsoft.com/office/drawing/2014/chart" uri="{C3380CC4-5D6E-409C-BE32-E72D297353CC}">
              <c16:uniqueId val="{00000001-3D5F-8642-8B9C-D5828DFA2104}"/>
            </c:ext>
          </c:extLst>
        </c:ser>
        <c:dLbls>
          <c:showLegendKey val="0"/>
          <c:showVal val="0"/>
          <c:showCatName val="0"/>
          <c:showSerName val="0"/>
          <c:showPercent val="0"/>
          <c:showBubbleSize val="0"/>
        </c:dLbls>
        <c:smooth val="0"/>
        <c:axId val="865353840"/>
        <c:axId val="865356592"/>
      </c:lineChart>
      <c:dateAx>
        <c:axId val="865353840"/>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865356592"/>
        <c:crosses val="autoZero"/>
        <c:auto val="1"/>
        <c:lblOffset val="100"/>
        <c:baseTimeUnit val="months"/>
      </c:dateAx>
      <c:valAx>
        <c:axId val="865356592"/>
        <c:scaling>
          <c:orientation val="minMax"/>
          <c:max val="0.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865353840"/>
        <c:crosses val="autoZero"/>
        <c:crossBetween val="between"/>
        <c:majorUnit val="0.1"/>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latin typeface="LM Roman 12" pitchFamily="2" charset="77"/>
              </a:rPr>
              <a:t>Violence Today is Justified</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'Data over time'!$D$27</c:f>
              <c:strCache>
                <c:ptCount val="1"/>
                <c:pt idx="0">
                  <c:v>Reps</c:v>
                </c:pt>
              </c:strCache>
            </c:strRef>
          </c:tx>
          <c:spPr>
            <a:ln w="28575" cap="rnd">
              <a:solidFill>
                <a:srgbClr val="FF0000"/>
              </a:solidFill>
              <a:prstDash val="sysDot"/>
              <a:round/>
            </a:ln>
            <a:effectLst/>
          </c:spPr>
          <c:marker>
            <c:symbol val="none"/>
          </c:marker>
          <c:cat>
            <c:numRef>
              <c:f>'Data over time'!$C$28:$C$34</c:f>
              <c:numCache>
                <c:formatCode>mmm\-yy</c:formatCode>
                <c:ptCount val="7"/>
                <c:pt idx="0">
                  <c:v>43405</c:v>
                </c:pt>
                <c:pt idx="1">
                  <c:v>43617</c:v>
                </c:pt>
                <c:pt idx="2">
                  <c:v>43709</c:v>
                </c:pt>
                <c:pt idx="3">
                  <c:v>43862</c:v>
                </c:pt>
                <c:pt idx="4" formatCode="d\-mmm">
                  <c:v>44105</c:v>
                </c:pt>
                <c:pt idx="5">
                  <c:v>44136</c:v>
                </c:pt>
                <c:pt idx="6">
                  <c:v>44228</c:v>
                </c:pt>
              </c:numCache>
            </c:numRef>
          </c:cat>
          <c:val>
            <c:numRef>
              <c:f>'Data over time'!$D$28:$D$34</c:f>
              <c:numCache>
                <c:formatCode>General</c:formatCode>
                <c:ptCount val="7"/>
                <c:pt idx="0">
                  <c:v>0.10440000000000001</c:v>
                </c:pt>
                <c:pt idx="1">
                  <c:v>0.12670000000000001</c:v>
                </c:pt>
                <c:pt idx="2">
                  <c:v>0.08</c:v>
                </c:pt>
                <c:pt idx="3">
                  <c:v>5.8099999999999999E-2</c:v>
                </c:pt>
                <c:pt idx="4">
                  <c:v>0.1</c:v>
                </c:pt>
                <c:pt idx="5">
                  <c:v>0.16</c:v>
                </c:pt>
                <c:pt idx="6">
                  <c:v>0.2</c:v>
                </c:pt>
              </c:numCache>
            </c:numRef>
          </c:val>
          <c:smooth val="0"/>
          <c:extLst>
            <c:ext xmlns:c16="http://schemas.microsoft.com/office/drawing/2014/chart" uri="{C3380CC4-5D6E-409C-BE32-E72D297353CC}">
              <c16:uniqueId val="{00000000-03FD-0F49-85B9-70AFD7137A2A}"/>
            </c:ext>
          </c:extLst>
        </c:ser>
        <c:ser>
          <c:idx val="1"/>
          <c:order val="1"/>
          <c:tx>
            <c:strRef>
              <c:f>'Data over time'!$E$27</c:f>
              <c:strCache>
                <c:ptCount val="1"/>
                <c:pt idx="0">
                  <c:v>Dems</c:v>
                </c:pt>
              </c:strCache>
            </c:strRef>
          </c:tx>
          <c:spPr>
            <a:ln w="28575" cap="rnd">
              <a:solidFill>
                <a:srgbClr val="0070C0"/>
              </a:solidFill>
              <a:prstDash val="dash"/>
              <a:round/>
            </a:ln>
            <a:effectLst/>
          </c:spPr>
          <c:marker>
            <c:symbol val="none"/>
          </c:marker>
          <c:cat>
            <c:numRef>
              <c:f>'Data over time'!$C$28:$C$34</c:f>
              <c:numCache>
                <c:formatCode>mmm\-yy</c:formatCode>
                <c:ptCount val="7"/>
                <c:pt idx="0">
                  <c:v>43405</c:v>
                </c:pt>
                <c:pt idx="1">
                  <c:v>43617</c:v>
                </c:pt>
                <c:pt idx="2">
                  <c:v>43709</c:v>
                </c:pt>
                <c:pt idx="3">
                  <c:v>43862</c:v>
                </c:pt>
                <c:pt idx="4" formatCode="d\-mmm">
                  <c:v>44105</c:v>
                </c:pt>
                <c:pt idx="5">
                  <c:v>44136</c:v>
                </c:pt>
                <c:pt idx="6">
                  <c:v>44228</c:v>
                </c:pt>
              </c:numCache>
            </c:numRef>
          </c:cat>
          <c:val>
            <c:numRef>
              <c:f>'Data over time'!$E$28:$E$34</c:f>
              <c:numCache>
                <c:formatCode>General</c:formatCode>
                <c:ptCount val="7"/>
                <c:pt idx="0">
                  <c:v>0.1275</c:v>
                </c:pt>
                <c:pt idx="1">
                  <c:v>0.14349999999999999</c:v>
                </c:pt>
                <c:pt idx="2">
                  <c:v>0.12</c:v>
                </c:pt>
                <c:pt idx="3">
                  <c:v>0.11459999999999999</c:v>
                </c:pt>
                <c:pt idx="4">
                  <c:v>0.16</c:v>
                </c:pt>
                <c:pt idx="5">
                  <c:v>0.23</c:v>
                </c:pt>
                <c:pt idx="6">
                  <c:v>0.13</c:v>
                </c:pt>
              </c:numCache>
            </c:numRef>
          </c:val>
          <c:smooth val="0"/>
          <c:extLst>
            <c:ext xmlns:c16="http://schemas.microsoft.com/office/drawing/2014/chart" uri="{C3380CC4-5D6E-409C-BE32-E72D297353CC}">
              <c16:uniqueId val="{00000001-03FD-0F49-85B9-70AFD7137A2A}"/>
            </c:ext>
          </c:extLst>
        </c:ser>
        <c:dLbls>
          <c:showLegendKey val="0"/>
          <c:showVal val="0"/>
          <c:showCatName val="0"/>
          <c:showSerName val="0"/>
          <c:showPercent val="0"/>
          <c:showBubbleSize val="0"/>
        </c:dLbls>
        <c:smooth val="0"/>
        <c:axId val="865319072"/>
        <c:axId val="865321824"/>
      </c:lineChart>
      <c:dateAx>
        <c:axId val="865319072"/>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865321824"/>
        <c:crosses val="autoZero"/>
        <c:auto val="1"/>
        <c:lblOffset val="100"/>
        <c:baseTimeUnit val="months"/>
      </c:dateAx>
      <c:valAx>
        <c:axId val="865321824"/>
        <c:scaling>
          <c:orientation val="minMax"/>
          <c:max val="0.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865319072"/>
        <c:crosses val="autoZero"/>
        <c:crossBetween val="between"/>
        <c:majorUnit val="0.1"/>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latin typeface="LM Roman 12" pitchFamily="2" charset="77"/>
              </a:rPr>
              <a:t>Violence is Justified if Out-Party Wins 2020/24</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'Data over time'!$D$40</c:f>
              <c:strCache>
                <c:ptCount val="1"/>
                <c:pt idx="0">
                  <c:v>Reps</c:v>
                </c:pt>
              </c:strCache>
            </c:strRef>
          </c:tx>
          <c:spPr>
            <a:ln w="28575" cap="rnd">
              <a:solidFill>
                <a:srgbClr val="FF0000"/>
              </a:solidFill>
              <a:prstDash val="sysDot"/>
              <a:round/>
            </a:ln>
            <a:effectLst/>
          </c:spPr>
          <c:marker>
            <c:symbol val="none"/>
          </c:marker>
          <c:cat>
            <c:numRef>
              <c:f>'Data over time'!$C$41:$C$47</c:f>
              <c:numCache>
                <c:formatCode>mmm\-yy</c:formatCode>
                <c:ptCount val="7"/>
                <c:pt idx="0">
                  <c:v>43405</c:v>
                </c:pt>
                <c:pt idx="1">
                  <c:v>43617</c:v>
                </c:pt>
                <c:pt idx="2">
                  <c:v>43709</c:v>
                </c:pt>
                <c:pt idx="3">
                  <c:v>43862</c:v>
                </c:pt>
                <c:pt idx="4" formatCode="d\-mmm">
                  <c:v>44105</c:v>
                </c:pt>
                <c:pt idx="5">
                  <c:v>44136</c:v>
                </c:pt>
                <c:pt idx="6">
                  <c:v>44242</c:v>
                </c:pt>
              </c:numCache>
            </c:numRef>
          </c:cat>
          <c:val>
            <c:numRef>
              <c:f>'Data over time'!$D$41:$D$47</c:f>
              <c:numCache>
                <c:formatCode>General</c:formatCode>
                <c:ptCount val="7"/>
                <c:pt idx="0">
                  <c:v>0.18840000000000001</c:v>
                </c:pt>
                <c:pt idx="1">
                  <c:v>0.19</c:v>
                </c:pt>
                <c:pt idx="2">
                  <c:v>0.18</c:v>
                </c:pt>
                <c:pt idx="3">
                  <c:v>0.1231</c:v>
                </c:pt>
                <c:pt idx="4">
                  <c:v>0.28000000000000003</c:v>
                </c:pt>
                <c:pt idx="5">
                  <c:v>0.16</c:v>
                </c:pt>
                <c:pt idx="6">
                  <c:v>0.28000000000000003</c:v>
                </c:pt>
              </c:numCache>
            </c:numRef>
          </c:val>
          <c:smooth val="0"/>
          <c:extLst>
            <c:ext xmlns:c16="http://schemas.microsoft.com/office/drawing/2014/chart" uri="{C3380CC4-5D6E-409C-BE32-E72D297353CC}">
              <c16:uniqueId val="{00000000-3BC5-0B4B-82F4-00C6E424D5D1}"/>
            </c:ext>
          </c:extLst>
        </c:ser>
        <c:ser>
          <c:idx val="1"/>
          <c:order val="1"/>
          <c:tx>
            <c:strRef>
              <c:f>'Data over time'!$E$40</c:f>
              <c:strCache>
                <c:ptCount val="1"/>
                <c:pt idx="0">
                  <c:v>Dems</c:v>
                </c:pt>
              </c:strCache>
            </c:strRef>
          </c:tx>
          <c:spPr>
            <a:ln w="28575" cap="rnd">
              <a:solidFill>
                <a:srgbClr val="0070C0"/>
              </a:solidFill>
              <a:prstDash val="dash"/>
              <a:round/>
            </a:ln>
            <a:effectLst/>
          </c:spPr>
          <c:marker>
            <c:symbol val="none"/>
          </c:marker>
          <c:cat>
            <c:numRef>
              <c:f>'Data over time'!$C$41:$C$47</c:f>
              <c:numCache>
                <c:formatCode>mmm\-yy</c:formatCode>
                <c:ptCount val="7"/>
                <c:pt idx="0">
                  <c:v>43405</c:v>
                </c:pt>
                <c:pt idx="1">
                  <c:v>43617</c:v>
                </c:pt>
                <c:pt idx="2">
                  <c:v>43709</c:v>
                </c:pt>
                <c:pt idx="3">
                  <c:v>43862</c:v>
                </c:pt>
                <c:pt idx="4" formatCode="d\-mmm">
                  <c:v>44105</c:v>
                </c:pt>
                <c:pt idx="5">
                  <c:v>44136</c:v>
                </c:pt>
                <c:pt idx="6">
                  <c:v>44242</c:v>
                </c:pt>
              </c:numCache>
            </c:numRef>
          </c:cat>
          <c:val>
            <c:numRef>
              <c:f>'Data over time'!$E$41:$E$47</c:f>
              <c:numCache>
                <c:formatCode>General</c:formatCode>
                <c:ptCount val="7"/>
                <c:pt idx="0">
                  <c:v>0.23400000000000001</c:v>
                </c:pt>
                <c:pt idx="1">
                  <c:v>0.19</c:v>
                </c:pt>
                <c:pt idx="2">
                  <c:v>0.18</c:v>
                </c:pt>
                <c:pt idx="3">
                  <c:v>0.15029999999999999</c:v>
                </c:pt>
                <c:pt idx="4">
                  <c:v>0.2</c:v>
                </c:pt>
                <c:pt idx="5">
                  <c:v>0.06</c:v>
                </c:pt>
                <c:pt idx="6">
                  <c:v>0.2</c:v>
                </c:pt>
              </c:numCache>
            </c:numRef>
          </c:val>
          <c:smooth val="0"/>
          <c:extLst>
            <c:ext xmlns:c16="http://schemas.microsoft.com/office/drawing/2014/chart" uri="{C3380CC4-5D6E-409C-BE32-E72D297353CC}">
              <c16:uniqueId val="{00000001-3BC5-0B4B-82F4-00C6E424D5D1}"/>
            </c:ext>
          </c:extLst>
        </c:ser>
        <c:dLbls>
          <c:showLegendKey val="0"/>
          <c:showVal val="0"/>
          <c:showCatName val="0"/>
          <c:showSerName val="0"/>
          <c:showPercent val="0"/>
          <c:showBubbleSize val="0"/>
        </c:dLbls>
        <c:smooth val="0"/>
        <c:axId val="865353840"/>
        <c:axId val="865356592"/>
      </c:lineChart>
      <c:dateAx>
        <c:axId val="865353840"/>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865356592"/>
        <c:crosses val="autoZero"/>
        <c:auto val="1"/>
        <c:lblOffset val="100"/>
        <c:baseTimeUnit val="months"/>
      </c:dateAx>
      <c:valAx>
        <c:axId val="865356592"/>
        <c:scaling>
          <c:orientation val="minMax"/>
          <c:max val="0.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865353840"/>
        <c:crosses val="autoZero"/>
        <c:crossBetween val="between"/>
        <c:majorUnit val="0.1"/>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1" dt="2021-04-21T16:46:19.391" idx="21">
    <p:pos x="10" y="10"/>
    <p:text>Why show effects of partisanship??</p:text>
    <p:extLst>
      <p:ext uri="{C676402C-5697-4E1C-873F-D02D1690AC5C}">
        <p15:threadingInfo xmlns:p15="http://schemas.microsoft.com/office/powerpoint/2012/main" timeZoneBias="240"/>
      </p:ext>
    </p:extLst>
  </p:cm>
</p:cmLst>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D90B8C5-557F-4759-B0A0-522EAA511772}"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F52A399A-CA4B-4C4B-AE0A-70F47B3C7472}">
      <dgm:prSet custT="1"/>
      <dgm:spPr/>
      <dgm:t>
        <a:bodyPr/>
        <a:lstStyle/>
        <a:p>
          <a:r>
            <a:rPr lang="en-CA" sz="4000" b="0" i="0" baseline="0" dirty="0"/>
            <a:t>ESS Wave 6 (2012) with 28,117 respondents (advanced democracies)</a:t>
          </a:r>
          <a:endParaRPr lang="en-US" sz="4000" dirty="0"/>
        </a:p>
      </dgm:t>
    </dgm:pt>
    <dgm:pt modelId="{5F26A284-5760-4BFA-9220-ABCE9EE3F725}" type="parTrans" cxnId="{FAECB4AD-C40B-4EB1-8450-E006C300A497}">
      <dgm:prSet/>
      <dgm:spPr/>
      <dgm:t>
        <a:bodyPr/>
        <a:lstStyle/>
        <a:p>
          <a:endParaRPr lang="en-US"/>
        </a:p>
      </dgm:t>
    </dgm:pt>
    <dgm:pt modelId="{05397872-78FE-47E0-A018-62B053044436}" type="sibTrans" cxnId="{FAECB4AD-C40B-4EB1-8450-E006C300A497}">
      <dgm:prSet/>
      <dgm:spPr/>
      <dgm:t>
        <a:bodyPr/>
        <a:lstStyle/>
        <a:p>
          <a:endParaRPr lang="en-US"/>
        </a:p>
      </dgm:t>
    </dgm:pt>
    <dgm:pt modelId="{E662C07C-7F85-4264-B9F4-C4AC6BDD35AA}">
      <dgm:prSet custT="1"/>
      <dgm:spPr/>
      <dgm:t>
        <a:bodyPr/>
        <a:lstStyle/>
        <a:p>
          <a:r>
            <a:rPr lang="en-CA" sz="4000" b="0" i="0" baseline="0" dirty="0">
              <a:solidFill>
                <a:schemeClr val="tx1"/>
              </a:solidFill>
            </a:rPr>
            <a:t>Democratic Backsliding Surveys </a:t>
          </a:r>
          <a:r>
            <a:rPr lang="en-CA" sz="3600" b="0" i="0" baseline="0" dirty="0">
              <a:solidFill>
                <a:schemeClr val="tx1"/>
              </a:solidFill>
              <a:sym typeface="Wingdings" panose="05000000000000000000" pitchFamily="2" charset="2"/>
            </a:rPr>
            <a:t></a:t>
          </a:r>
          <a:r>
            <a:rPr lang="en-CA" sz="3000" b="0" i="0" baseline="0" dirty="0">
              <a:solidFill>
                <a:schemeClr val="tx1"/>
              </a:solidFill>
            </a:rPr>
            <a:t>2018 in US (N=2,400)</a:t>
          </a:r>
        </a:p>
        <a:p>
          <a:r>
            <a:rPr lang="en-CA" sz="3000" b="0" i="0" baseline="0" dirty="0">
              <a:solidFill>
                <a:schemeClr val="tx1"/>
              </a:solidFill>
              <a:sym typeface="Wingdings" panose="05000000000000000000" pitchFamily="2" charset="2"/>
            </a:rPr>
            <a:t></a:t>
          </a:r>
          <a:r>
            <a:rPr lang="en-CA" sz="3000" b="0" i="0" baseline="0" dirty="0">
              <a:solidFill>
                <a:schemeClr val="tx1"/>
              </a:solidFill>
            </a:rPr>
            <a:t>2019 in US and Canada (N=1,800 for both)</a:t>
          </a:r>
          <a:endParaRPr lang="en-US" sz="3000" dirty="0">
            <a:solidFill>
              <a:schemeClr val="tx1"/>
            </a:solidFill>
          </a:endParaRPr>
        </a:p>
      </dgm:t>
    </dgm:pt>
    <dgm:pt modelId="{3DCF7A44-A1E5-4087-ACE0-B08EA3BE3648}" type="parTrans" cxnId="{0E9389DC-574E-442B-B5D5-EF19A88B0FA0}">
      <dgm:prSet/>
      <dgm:spPr/>
      <dgm:t>
        <a:bodyPr/>
        <a:lstStyle/>
        <a:p>
          <a:endParaRPr lang="en-US"/>
        </a:p>
      </dgm:t>
    </dgm:pt>
    <dgm:pt modelId="{B8BED4CA-B9A7-4917-B592-E57943D888FE}" type="sibTrans" cxnId="{0E9389DC-574E-442B-B5D5-EF19A88B0FA0}">
      <dgm:prSet/>
      <dgm:spPr/>
      <dgm:t>
        <a:bodyPr/>
        <a:lstStyle/>
        <a:p>
          <a:endParaRPr lang="en-US"/>
        </a:p>
      </dgm:t>
    </dgm:pt>
    <dgm:pt modelId="{55902211-930D-476B-9588-276B2819813E}">
      <dgm:prSet/>
      <dgm:spPr/>
      <dgm:t>
        <a:bodyPr/>
        <a:lstStyle/>
        <a:p>
          <a:r>
            <a:rPr lang="en-CA" b="0" i="0" baseline="0" dirty="0"/>
            <a:t>COVID and Democracy Survey 2020 in English-speaking Canada (N=2,421)  and US (N=2,727)</a:t>
          </a:r>
          <a:endParaRPr lang="en-US" dirty="0"/>
        </a:p>
      </dgm:t>
    </dgm:pt>
    <dgm:pt modelId="{A77161CF-4496-4BF5-BC3F-AC034B70A40B}" type="parTrans" cxnId="{32FFE80E-7539-46FF-B6B1-78A48273453E}">
      <dgm:prSet/>
      <dgm:spPr/>
      <dgm:t>
        <a:bodyPr/>
        <a:lstStyle/>
        <a:p>
          <a:endParaRPr lang="en-US"/>
        </a:p>
      </dgm:t>
    </dgm:pt>
    <dgm:pt modelId="{9BCFFAC4-B0F9-44D5-9155-DB158E3CD8BF}" type="sibTrans" cxnId="{32FFE80E-7539-46FF-B6B1-78A48273453E}">
      <dgm:prSet/>
      <dgm:spPr/>
      <dgm:t>
        <a:bodyPr/>
        <a:lstStyle/>
        <a:p>
          <a:endParaRPr lang="en-US"/>
        </a:p>
      </dgm:t>
    </dgm:pt>
    <dgm:pt modelId="{9D7440E4-BF70-47FB-863A-85AC79E3E2C8}" type="pres">
      <dgm:prSet presAssocID="{FD90B8C5-557F-4759-B0A0-522EAA511772}" presName="vert0" presStyleCnt="0">
        <dgm:presLayoutVars>
          <dgm:dir/>
          <dgm:animOne val="branch"/>
          <dgm:animLvl val="lvl"/>
        </dgm:presLayoutVars>
      </dgm:prSet>
      <dgm:spPr/>
    </dgm:pt>
    <dgm:pt modelId="{B7FFAB91-E0E7-4DB9-A209-DDE99B9804A1}" type="pres">
      <dgm:prSet presAssocID="{F52A399A-CA4B-4C4B-AE0A-70F47B3C7472}" presName="thickLine" presStyleLbl="alignNode1" presStyleIdx="0" presStyleCnt="3"/>
      <dgm:spPr/>
    </dgm:pt>
    <dgm:pt modelId="{45D3E937-502B-4BFB-9235-B7A232F33D61}" type="pres">
      <dgm:prSet presAssocID="{F52A399A-CA4B-4C4B-AE0A-70F47B3C7472}" presName="horz1" presStyleCnt="0"/>
      <dgm:spPr/>
    </dgm:pt>
    <dgm:pt modelId="{BCFA5363-10CA-4794-8E8B-C84BFFB44E59}" type="pres">
      <dgm:prSet presAssocID="{F52A399A-CA4B-4C4B-AE0A-70F47B3C7472}" presName="tx1" presStyleLbl="revTx" presStyleIdx="0" presStyleCnt="3"/>
      <dgm:spPr/>
    </dgm:pt>
    <dgm:pt modelId="{022DEA5A-ADBD-4538-804F-375AD9032786}" type="pres">
      <dgm:prSet presAssocID="{F52A399A-CA4B-4C4B-AE0A-70F47B3C7472}" presName="vert1" presStyleCnt="0"/>
      <dgm:spPr/>
    </dgm:pt>
    <dgm:pt modelId="{7507A117-9DD6-46A7-8DC8-C1690E4454B6}" type="pres">
      <dgm:prSet presAssocID="{E662C07C-7F85-4264-B9F4-C4AC6BDD35AA}" presName="thickLine" presStyleLbl="alignNode1" presStyleIdx="1" presStyleCnt="3"/>
      <dgm:spPr/>
    </dgm:pt>
    <dgm:pt modelId="{CC39FB16-C7A1-4E14-9FBC-56AA7D57BD06}" type="pres">
      <dgm:prSet presAssocID="{E662C07C-7F85-4264-B9F4-C4AC6BDD35AA}" presName="horz1" presStyleCnt="0"/>
      <dgm:spPr/>
    </dgm:pt>
    <dgm:pt modelId="{9706F8BF-140F-4477-B975-AE9DEB2A6074}" type="pres">
      <dgm:prSet presAssocID="{E662C07C-7F85-4264-B9F4-C4AC6BDD35AA}" presName="tx1" presStyleLbl="revTx" presStyleIdx="1" presStyleCnt="3"/>
      <dgm:spPr/>
    </dgm:pt>
    <dgm:pt modelId="{F0FB3833-E557-4C5B-9689-6032E1B82921}" type="pres">
      <dgm:prSet presAssocID="{E662C07C-7F85-4264-B9F4-C4AC6BDD35AA}" presName="vert1" presStyleCnt="0"/>
      <dgm:spPr/>
    </dgm:pt>
    <dgm:pt modelId="{5F0D911F-21B2-46B5-9EBE-29F7B1E2C52D}" type="pres">
      <dgm:prSet presAssocID="{55902211-930D-476B-9588-276B2819813E}" presName="thickLine" presStyleLbl="alignNode1" presStyleIdx="2" presStyleCnt="3"/>
      <dgm:spPr/>
    </dgm:pt>
    <dgm:pt modelId="{3421770F-D7C1-4674-A7F9-D3D53138D43D}" type="pres">
      <dgm:prSet presAssocID="{55902211-930D-476B-9588-276B2819813E}" presName="horz1" presStyleCnt="0"/>
      <dgm:spPr/>
    </dgm:pt>
    <dgm:pt modelId="{71B91D6C-9145-4D21-986B-1A6FFB0C3C5B}" type="pres">
      <dgm:prSet presAssocID="{55902211-930D-476B-9588-276B2819813E}" presName="tx1" presStyleLbl="revTx" presStyleIdx="2" presStyleCnt="3"/>
      <dgm:spPr/>
    </dgm:pt>
    <dgm:pt modelId="{B09A0686-5047-4931-97ED-A0FA33C35648}" type="pres">
      <dgm:prSet presAssocID="{55902211-930D-476B-9588-276B2819813E}" presName="vert1" presStyleCnt="0"/>
      <dgm:spPr/>
    </dgm:pt>
  </dgm:ptLst>
  <dgm:cxnLst>
    <dgm:cxn modelId="{32FFE80E-7539-46FF-B6B1-78A48273453E}" srcId="{FD90B8C5-557F-4759-B0A0-522EAA511772}" destId="{55902211-930D-476B-9588-276B2819813E}" srcOrd="2" destOrd="0" parTransId="{A77161CF-4496-4BF5-BC3F-AC034B70A40B}" sibTransId="{9BCFFAC4-B0F9-44D5-9155-DB158E3CD8BF}"/>
    <dgm:cxn modelId="{50648424-714F-44BB-8A58-DCD99F2EEBA2}" type="presOf" srcId="{F52A399A-CA4B-4C4B-AE0A-70F47B3C7472}" destId="{BCFA5363-10CA-4794-8E8B-C84BFFB44E59}" srcOrd="0" destOrd="0" presId="urn:microsoft.com/office/officeart/2008/layout/LinedList"/>
    <dgm:cxn modelId="{A2E7F386-6D99-48D3-B7BB-BC0D79033E68}" type="presOf" srcId="{E662C07C-7F85-4264-B9F4-C4AC6BDD35AA}" destId="{9706F8BF-140F-4477-B975-AE9DEB2A6074}" srcOrd="0" destOrd="0" presId="urn:microsoft.com/office/officeart/2008/layout/LinedList"/>
    <dgm:cxn modelId="{EB7FB6AB-72D7-49CE-BDA3-D3C9661A95E9}" type="presOf" srcId="{55902211-930D-476B-9588-276B2819813E}" destId="{71B91D6C-9145-4D21-986B-1A6FFB0C3C5B}" srcOrd="0" destOrd="0" presId="urn:microsoft.com/office/officeart/2008/layout/LinedList"/>
    <dgm:cxn modelId="{FAECB4AD-C40B-4EB1-8450-E006C300A497}" srcId="{FD90B8C5-557F-4759-B0A0-522EAA511772}" destId="{F52A399A-CA4B-4C4B-AE0A-70F47B3C7472}" srcOrd="0" destOrd="0" parTransId="{5F26A284-5760-4BFA-9220-ABCE9EE3F725}" sibTransId="{05397872-78FE-47E0-A018-62B053044436}"/>
    <dgm:cxn modelId="{A24ABBBE-93BD-4A4F-ABD6-BE43B61F29A3}" type="presOf" srcId="{FD90B8C5-557F-4759-B0A0-522EAA511772}" destId="{9D7440E4-BF70-47FB-863A-85AC79E3E2C8}" srcOrd="0" destOrd="0" presId="urn:microsoft.com/office/officeart/2008/layout/LinedList"/>
    <dgm:cxn modelId="{0E9389DC-574E-442B-B5D5-EF19A88B0FA0}" srcId="{FD90B8C5-557F-4759-B0A0-522EAA511772}" destId="{E662C07C-7F85-4264-B9F4-C4AC6BDD35AA}" srcOrd="1" destOrd="0" parTransId="{3DCF7A44-A1E5-4087-ACE0-B08EA3BE3648}" sibTransId="{B8BED4CA-B9A7-4917-B592-E57943D888FE}"/>
    <dgm:cxn modelId="{B1918695-3D5B-4081-9372-A9E6C50DB628}" type="presParOf" srcId="{9D7440E4-BF70-47FB-863A-85AC79E3E2C8}" destId="{B7FFAB91-E0E7-4DB9-A209-DDE99B9804A1}" srcOrd="0" destOrd="0" presId="urn:microsoft.com/office/officeart/2008/layout/LinedList"/>
    <dgm:cxn modelId="{1B094F54-ED92-49BC-8BDB-398258B32737}" type="presParOf" srcId="{9D7440E4-BF70-47FB-863A-85AC79E3E2C8}" destId="{45D3E937-502B-4BFB-9235-B7A232F33D61}" srcOrd="1" destOrd="0" presId="urn:microsoft.com/office/officeart/2008/layout/LinedList"/>
    <dgm:cxn modelId="{C3A75738-0E0F-4178-BBEF-18B226004B29}" type="presParOf" srcId="{45D3E937-502B-4BFB-9235-B7A232F33D61}" destId="{BCFA5363-10CA-4794-8E8B-C84BFFB44E59}" srcOrd="0" destOrd="0" presId="urn:microsoft.com/office/officeart/2008/layout/LinedList"/>
    <dgm:cxn modelId="{B537D26D-1214-4F2D-84AC-01E80ECFD9ED}" type="presParOf" srcId="{45D3E937-502B-4BFB-9235-B7A232F33D61}" destId="{022DEA5A-ADBD-4538-804F-375AD9032786}" srcOrd="1" destOrd="0" presId="urn:microsoft.com/office/officeart/2008/layout/LinedList"/>
    <dgm:cxn modelId="{791ABB6B-57A3-404B-8502-B2382DAFB5A2}" type="presParOf" srcId="{9D7440E4-BF70-47FB-863A-85AC79E3E2C8}" destId="{7507A117-9DD6-46A7-8DC8-C1690E4454B6}" srcOrd="2" destOrd="0" presId="urn:microsoft.com/office/officeart/2008/layout/LinedList"/>
    <dgm:cxn modelId="{0800E8F6-70C6-4321-9239-88EA24ABAEC7}" type="presParOf" srcId="{9D7440E4-BF70-47FB-863A-85AC79E3E2C8}" destId="{CC39FB16-C7A1-4E14-9FBC-56AA7D57BD06}" srcOrd="3" destOrd="0" presId="urn:microsoft.com/office/officeart/2008/layout/LinedList"/>
    <dgm:cxn modelId="{667F9752-6431-4E51-B65D-3014C3996CD9}" type="presParOf" srcId="{CC39FB16-C7A1-4E14-9FBC-56AA7D57BD06}" destId="{9706F8BF-140F-4477-B975-AE9DEB2A6074}" srcOrd="0" destOrd="0" presId="urn:microsoft.com/office/officeart/2008/layout/LinedList"/>
    <dgm:cxn modelId="{4C51F971-EBEF-47D7-AFCC-D5EDB6C263A4}" type="presParOf" srcId="{CC39FB16-C7A1-4E14-9FBC-56AA7D57BD06}" destId="{F0FB3833-E557-4C5B-9689-6032E1B82921}" srcOrd="1" destOrd="0" presId="urn:microsoft.com/office/officeart/2008/layout/LinedList"/>
    <dgm:cxn modelId="{F83D9E43-3C9C-4BCA-B328-D835FA6887D7}" type="presParOf" srcId="{9D7440E4-BF70-47FB-863A-85AC79E3E2C8}" destId="{5F0D911F-21B2-46B5-9EBE-29F7B1E2C52D}" srcOrd="4" destOrd="0" presId="urn:microsoft.com/office/officeart/2008/layout/LinedList"/>
    <dgm:cxn modelId="{64AF983D-AB9F-403F-A4C5-111B8A167DB2}" type="presParOf" srcId="{9D7440E4-BF70-47FB-863A-85AC79E3E2C8}" destId="{3421770F-D7C1-4674-A7F9-D3D53138D43D}" srcOrd="5" destOrd="0" presId="urn:microsoft.com/office/officeart/2008/layout/LinedList"/>
    <dgm:cxn modelId="{133A3964-65F9-400F-A0D1-672284C2DA96}" type="presParOf" srcId="{3421770F-D7C1-4674-A7F9-D3D53138D43D}" destId="{71B91D6C-9145-4D21-986B-1A6FFB0C3C5B}" srcOrd="0" destOrd="0" presId="urn:microsoft.com/office/officeart/2008/layout/LinedList"/>
    <dgm:cxn modelId="{ACD9E94F-A3A5-4C39-AA28-087E155EA78D}" type="presParOf" srcId="{3421770F-D7C1-4674-A7F9-D3D53138D43D}" destId="{B09A0686-5047-4931-97ED-A0FA33C35648}"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912D6E6-E0BF-4215-B38D-2671FBB8D3DE}" type="doc">
      <dgm:prSet loTypeId="urn:microsoft.com/office/officeart/2005/8/layout/default" loCatId="list" qsTypeId="urn:microsoft.com/office/officeart/2005/8/quickstyle/simple2" qsCatId="simple" csTypeId="urn:microsoft.com/office/officeart/2005/8/colors/colorful1" csCatId="colorful" phldr="1"/>
      <dgm:spPr/>
      <dgm:t>
        <a:bodyPr/>
        <a:lstStyle/>
        <a:p>
          <a:endParaRPr lang="en-US"/>
        </a:p>
      </dgm:t>
    </dgm:pt>
    <dgm:pt modelId="{A3484B77-330A-4933-8F47-25A40888E2C6}">
      <dgm:prSet custT="1"/>
      <dgm:spPr/>
      <dgm:t>
        <a:bodyPr/>
        <a:lstStyle/>
        <a:p>
          <a:r>
            <a:rPr lang="en-US" sz="2400" b="0" i="0" baseline="0" dirty="0"/>
            <a:t>A [Democratic] [Republican] [empty ﬁeld] governor </a:t>
          </a:r>
          <a:r>
            <a:rPr lang="en-US" sz="2400" b="0" i="0" baseline="0" dirty="0">
              <a:solidFill>
                <a:schemeClr val="tx1">
                  <a:lumMod val="95000"/>
                  <a:lumOff val="5000"/>
                </a:schemeClr>
              </a:solidFill>
            </a:rPr>
            <a:t>wants to open businesses again to stimulate the economy. The infection rate in the state is relatively high. </a:t>
          </a:r>
          <a:r>
            <a:rPr lang="en-US" sz="2400" b="0" i="0" baseline="0" dirty="0"/>
            <a:t>The state legislature is arguing against this step and wants to </a:t>
          </a:r>
          <a:r>
            <a:rPr lang="en-US" sz="2400" b="0" i="0" baseline="0" dirty="0">
              <a:solidFill>
                <a:schemeClr val="tx1">
                  <a:lumMod val="95000"/>
                  <a:lumOff val="5000"/>
                </a:schemeClr>
              </a:solidFill>
            </a:rPr>
            <a:t>continue the lockdown </a:t>
          </a:r>
          <a:r>
            <a:rPr lang="en-US" sz="2400" b="0" i="0" baseline="0" dirty="0"/>
            <a:t>for two more weeks. Should the governor shut down the legislature and open businesses?</a:t>
          </a:r>
          <a:endParaRPr lang="en-US" sz="2400" dirty="0"/>
        </a:p>
      </dgm:t>
    </dgm:pt>
    <dgm:pt modelId="{E384AB76-D64B-4A79-A621-2CB26F4FFE5A}" type="parTrans" cxnId="{44088C70-9EAB-47B6-AB4F-A368E113EA10}">
      <dgm:prSet/>
      <dgm:spPr/>
      <dgm:t>
        <a:bodyPr/>
        <a:lstStyle/>
        <a:p>
          <a:endParaRPr lang="en-US"/>
        </a:p>
      </dgm:t>
    </dgm:pt>
    <dgm:pt modelId="{4914D8E7-AD51-45DB-AE50-6A6B5FDCE540}" type="sibTrans" cxnId="{44088C70-9EAB-47B6-AB4F-A368E113EA10}">
      <dgm:prSet/>
      <dgm:spPr/>
      <dgm:t>
        <a:bodyPr/>
        <a:lstStyle/>
        <a:p>
          <a:endParaRPr lang="en-US"/>
        </a:p>
      </dgm:t>
    </dgm:pt>
    <dgm:pt modelId="{037AFB7A-F516-4F9A-8D6F-65B7DE0AF5AB}">
      <dgm:prSet custT="1"/>
      <dgm:spPr/>
      <dgm:t>
        <a:bodyPr/>
        <a:lstStyle/>
        <a:p>
          <a:r>
            <a:rPr lang="en-US" sz="2400" b="0" i="0" baseline="0" dirty="0"/>
            <a:t>A [Democratic] [Republican] [empty ﬁeld] governor </a:t>
          </a:r>
          <a:r>
            <a:rPr lang="en-US" sz="2400" b="0" i="0" baseline="0" dirty="0">
              <a:solidFill>
                <a:schemeClr val="tx1">
                  <a:lumMod val="95000"/>
                  <a:lumOff val="5000"/>
                </a:schemeClr>
              </a:solidFill>
            </a:rPr>
            <a:t>wants to continue the lockdown. The infection rate in the state is slowing down</a:t>
          </a:r>
          <a:r>
            <a:rPr lang="en-US" sz="2400" b="0" i="0" baseline="0" dirty="0"/>
            <a:t>. The state legislature is arguing against this step and wants to </a:t>
          </a:r>
          <a:r>
            <a:rPr lang="en-US" sz="2400" b="0" i="0" baseline="0" dirty="0">
              <a:solidFill>
                <a:schemeClr val="tx1">
                  <a:lumMod val="95000"/>
                  <a:lumOff val="5000"/>
                </a:schemeClr>
              </a:solidFill>
            </a:rPr>
            <a:t>open businesses </a:t>
          </a:r>
          <a:r>
            <a:rPr lang="en-US" sz="2400" b="0" i="0" baseline="0" dirty="0"/>
            <a:t>immediately to stimulate the economy. Should the governor shut down the legislature and continue the lockdown?</a:t>
          </a:r>
          <a:endParaRPr lang="en-US" sz="2400" dirty="0"/>
        </a:p>
      </dgm:t>
    </dgm:pt>
    <dgm:pt modelId="{0B0FFAC0-D0F9-47B4-81AB-9B1B87765AF2}" type="parTrans" cxnId="{EF01CE93-B745-4C2A-AE9F-DA3B85792A4D}">
      <dgm:prSet/>
      <dgm:spPr/>
      <dgm:t>
        <a:bodyPr/>
        <a:lstStyle/>
        <a:p>
          <a:endParaRPr lang="en-US"/>
        </a:p>
      </dgm:t>
    </dgm:pt>
    <dgm:pt modelId="{262D701C-7FFB-4AE4-BA22-D39AC25B1DA6}" type="sibTrans" cxnId="{EF01CE93-B745-4C2A-AE9F-DA3B85792A4D}">
      <dgm:prSet/>
      <dgm:spPr/>
      <dgm:t>
        <a:bodyPr/>
        <a:lstStyle/>
        <a:p>
          <a:endParaRPr lang="en-US"/>
        </a:p>
      </dgm:t>
    </dgm:pt>
    <dgm:pt modelId="{EB607216-881B-41AA-8312-9A06E2E2723A}" type="pres">
      <dgm:prSet presAssocID="{2912D6E6-E0BF-4215-B38D-2671FBB8D3DE}" presName="diagram" presStyleCnt="0">
        <dgm:presLayoutVars>
          <dgm:dir/>
          <dgm:resizeHandles val="exact"/>
        </dgm:presLayoutVars>
      </dgm:prSet>
      <dgm:spPr/>
    </dgm:pt>
    <dgm:pt modelId="{35BB4877-4020-47F5-B9CC-69A4F1FB7D1F}" type="pres">
      <dgm:prSet presAssocID="{A3484B77-330A-4933-8F47-25A40888E2C6}" presName="node" presStyleLbl="node1" presStyleIdx="0" presStyleCnt="2" custScaleY="122276">
        <dgm:presLayoutVars>
          <dgm:bulletEnabled val="1"/>
        </dgm:presLayoutVars>
      </dgm:prSet>
      <dgm:spPr/>
    </dgm:pt>
    <dgm:pt modelId="{1DD4FEEB-E318-47A2-9552-63145587109A}" type="pres">
      <dgm:prSet presAssocID="{4914D8E7-AD51-45DB-AE50-6A6B5FDCE540}" presName="sibTrans" presStyleCnt="0"/>
      <dgm:spPr/>
    </dgm:pt>
    <dgm:pt modelId="{F1FED41E-EFF2-413C-981D-81435D9FB9E0}" type="pres">
      <dgm:prSet presAssocID="{037AFB7A-F516-4F9A-8D6F-65B7DE0AF5AB}" presName="node" presStyleLbl="node1" presStyleIdx="1" presStyleCnt="2" custScaleY="118217">
        <dgm:presLayoutVars>
          <dgm:bulletEnabled val="1"/>
        </dgm:presLayoutVars>
      </dgm:prSet>
      <dgm:spPr/>
    </dgm:pt>
  </dgm:ptLst>
  <dgm:cxnLst>
    <dgm:cxn modelId="{99F5A006-602F-4D49-AD3C-3B3F0DF57CA7}" type="presOf" srcId="{037AFB7A-F516-4F9A-8D6F-65B7DE0AF5AB}" destId="{F1FED41E-EFF2-413C-981D-81435D9FB9E0}" srcOrd="0" destOrd="0" presId="urn:microsoft.com/office/officeart/2005/8/layout/default"/>
    <dgm:cxn modelId="{F1457C34-D965-43A2-8308-7FA62AB0F782}" type="presOf" srcId="{2912D6E6-E0BF-4215-B38D-2671FBB8D3DE}" destId="{EB607216-881B-41AA-8312-9A06E2E2723A}" srcOrd="0" destOrd="0" presId="urn:microsoft.com/office/officeart/2005/8/layout/default"/>
    <dgm:cxn modelId="{44088C70-9EAB-47B6-AB4F-A368E113EA10}" srcId="{2912D6E6-E0BF-4215-B38D-2671FBB8D3DE}" destId="{A3484B77-330A-4933-8F47-25A40888E2C6}" srcOrd="0" destOrd="0" parTransId="{E384AB76-D64B-4A79-A621-2CB26F4FFE5A}" sibTransId="{4914D8E7-AD51-45DB-AE50-6A6B5FDCE540}"/>
    <dgm:cxn modelId="{EF01CE93-B745-4C2A-AE9F-DA3B85792A4D}" srcId="{2912D6E6-E0BF-4215-B38D-2671FBB8D3DE}" destId="{037AFB7A-F516-4F9A-8D6F-65B7DE0AF5AB}" srcOrd="1" destOrd="0" parTransId="{0B0FFAC0-D0F9-47B4-81AB-9B1B87765AF2}" sibTransId="{262D701C-7FFB-4AE4-BA22-D39AC25B1DA6}"/>
    <dgm:cxn modelId="{9BFF02DF-FC5A-462D-BDF0-95D6BE4DC0D4}" type="presOf" srcId="{A3484B77-330A-4933-8F47-25A40888E2C6}" destId="{35BB4877-4020-47F5-B9CC-69A4F1FB7D1F}" srcOrd="0" destOrd="0" presId="urn:microsoft.com/office/officeart/2005/8/layout/default"/>
    <dgm:cxn modelId="{CCC53CCE-9AE8-424E-96A3-ADB38B3FA7CB}" type="presParOf" srcId="{EB607216-881B-41AA-8312-9A06E2E2723A}" destId="{35BB4877-4020-47F5-B9CC-69A4F1FB7D1F}" srcOrd="0" destOrd="0" presId="urn:microsoft.com/office/officeart/2005/8/layout/default"/>
    <dgm:cxn modelId="{32C5906A-D310-48FD-B047-27350C5EAA52}" type="presParOf" srcId="{EB607216-881B-41AA-8312-9A06E2E2723A}" destId="{1DD4FEEB-E318-47A2-9552-63145587109A}" srcOrd="1" destOrd="0" presId="urn:microsoft.com/office/officeart/2005/8/layout/default"/>
    <dgm:cxn modelId="{906C54C4-80A7-49E3-819A-24FDE5C01045}" type="presParOf" srcId="{EB607216-881B-41AA-8312-9A06E2E2723A}" destId="{F1FED41E-EFF2-413C-981D-81435D9FB9E0}" srcOrd="2"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FFAB91-E0E7-4DB9-A209-DDE99B9804A1}">
      <dsp:nvSpPr>
        <dsp:cNvPr id="0" name=""/>
        <dsp:cNvSpPr/>
      </dsp:nvSpPr>
      <dsp:spPr>
        <a:xfrm>
          <a:off x="0" y="2939"/>
          <a:ext cx="740295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FA5363-10CA-4794-8E8B-C84BFFB44E59}">
      <dsp:nvSpPr>
        <dsp:cNvPr id="0" name=""/>
        <dsp:cNvSpPr/>
      </dsp:nvSpPr>
      <dsp:spPr>
        <a:xfrm>
          <a:off x="0" y="2939"/>
          <a:ext cx="7402955" cy="2004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CA" sz="4000" b="0" i="0" kern="1200" baseline="0" dirty="0"/>
            <a:t>ESS Wave 6 (2012) with 28,117 respondents (advanced democracies)</a:t>
          </a:r>
          <a:endParaRPr lang="en-US" sz="4000" kern="1200" dirty="0"/>
        </a:p>
      </dsp:txBody>
      <dsp:txXfrm>
        <a:off x="0" y="2939"/>
        <a:ext cx="7402955" cy="2004468"/>
      </dsp:txXfrm>
    </dsp:sp>
    <dsp:sp modelId="{7507A117-9DD6-46A7-8DC8-C1690E4454B6}">
      <dsp:nvSpPr>
        <dsp:cNvPr id="0" name=""/>
        <dsp:cNvSpPr/>
      </dsp:nvSpPr>
      <dsp:spPr>
        <a:xfrm>
          <a:off x="0" y="2007408"/>
          <a:ext cx="7402955"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06F8BF-140F-4477-B975-AE9DEB2A6074}">
      <dsp:nvSpPr>
        <dsp:cNvPr id="0" name=""/>
        <dsp:cNvSpPr/>
      </dsp:nvSpPr>
      <dsp:spPr>
        <a:xfrm>
          <a:off x="0" y="2007408"/>
          <a:ext cx="7402955" cy="2004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CA" sz="4000" b="0" i="0" kern="1200" baseline="0" dirty="0">
              <a:solidFill>
                <a:schemeClr val="tx1"/>
              </a:solidFill>
            </a:rPr>
            <a:t>Democratic Backsliding Surveys </a:t>
          </a:r>
          <a:r>
            <a:rPr lang="en-CA" sz="3600" b="0" i="0" kern="1200" baseline="0" dirty="0">
              <a:solidFill>
                <a:schemeClr val="tx1"/>
              </a:solidFill>
              <a:sym typeface="Wingdings" panose="05000000000000000000" pitchFamily="2" charset="2"/>
            </a:rPr>
            <a:t></a:t>
          </a:r>
          <a:r>
            <a:rPr lang="en-CA" sz="3000" b="0" i="0" kern="1200" baseline="0" dirty="0">
              <a:solidFill>
                <a:schemeClr val="tx1"/>
              </a:solidFill>
            </a:rPr>
            <a:t>2018 in US (N=2,400)</a:t>
          </a:r>
        </a:p>
        <a:p>
          <a:pPr marL="0" lvl="0" indent="0" algn="l" defTabSz="1778000">
            <a:lnSpc>
              <a:spcPct val="90000"/>
            </a:lnSpc>
            <a:spcBef>
              <a:spcPct val="0"/>
            </a:spcBef>
            <a:spcAft>
              <a:spcPct val="35000"/>
            </a:spcAft>
            <a:buNone/>
          </a:pPr>
          <a:r>
            <a:rPr lang="en-CA" sz="3000" b="0" i="0" kern="1200" baseline="0" dirty="0">
              <a:solidFill>
                <a:schemeClr val="tx1"/>
              </a:solidFill>
              <a:sym typeface="Wingdings" panose="05000000000000000000" pitchFamily="2" charset="2"/>
            </a:rPr>
            <a:t></a:t>
          </a:r>
          <a:r>
            <a:rPr lang="en-CA" sz="3000" b="0" i="0" kern="1200" baseline="0" dirty="0">
              <a:solidFill>
                <a:schemeClr val="tx1"/>
              </a:solidFill>
            </a:rPr>
            <a:t>2019 in US and Canada (N=1,800 for both)</a:t>
          </a:r>
          <a:endParaRPr lang="en-US" sz="3000" kern="1200" dirty="0">
            <a:solidFill>
              <a:schemeClr val="tx1"/>
            </a:solidFill>
          </a:endParaRPr>
        </a:p>
      </dsp:txBody>
      <dsp:txXfrm>
        <a:off x="0" y="2007408"/>
        <a:ext cx="7402955" cy="2004468"/>
      </dsp:txXfrm>
    </dsp:sp>
    <dsp:sp modelId="{5F0D911F-21B2-46B5-9EBE-29F7B1E2C52D}">
      <dsp:nvSpPr>
        <dsp:cNvPr id="0" name=""/>
        <dsp:cNvSpPr/>
      </dsp:nvSpPr>
      <dsp:spPr>
        <a:xfrm>
          <a:off x="0" y="4011876"/>
          <a:ext cx="7402955"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B91D6C-9145-4D21-986B-1A6FFB0C3C5B}">
      <dsp:nvSpPr>
        <dsp:cNvPr id="0" name=""/>
        <dsp:cNvSpPr/>
      </dsp:nvSpPr>
      <dsp:spPr>
        <a:xfrm>
          <a:off x="0" y="4011876"/>
          <a:ext cx="7402955" cy="2004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CA" sz="4000" b="0" i="0" kern="1200" baseline="0" dirty="0"/>
            <a:t>COVID and Democracy Survey 2020 in English-speaking Canada (N=2,421)  and US (N=2,727)</a:t>
          </a:r>
          <a:endParaRPr lang="en-US" sz="4000" kern="1200" dirty="0"/>
        </a:p>
      </dsp:txBody>
      <dsp:txXfrm>
        <a:off x="0" y="4011876"/>
        <a:ext cx="7402955" cy="20044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BB4877-4020-47F5-B9CC-69A4F1FB7D1F}">
      <dsp:nvSpPr>
        <dsp:cNvPr id="0" name=""/>
        <dsp:cNvSpPr/>
      </dsp:nvSpPr>
      <dsp:spPr>
        <a:xfrm>
          <a:off x="1283" y="792483"/>
          <a:ext cx="5006206" cy="367283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baseline="0" dirty="0"/>
            <a:t>A [Democratic] [Republican] [empty ﬁeld] governor </a:t>
          </a:r>
          <a:r>
            <a:rPr lang="en-US" sz="2400" b="0" i="0" kern="1200" baseline="0" dirty="0">
              <a:solidFill>
                <a:schemeClr val="tx1">
                  <a:lumMod val="95000"/>
                  <a:lumOff val="5000"/>
                </a:schemeClr>
              </a:solidFill>
            </a:rPr>
            <a:t>wants to open businesses again to stimulate the economy. The infection rate in the state is relatively high. </a:t>
          </a:r>
          <a:r>
            <a:rPr lang="en-US" sz="2400" b="0" i="0" kern="1200" baseline="0" dirty="0"/>
            <a:t>The state legislature is arguing against this step and wants to </a:t>
          </a:r>
          <a:r>
            <a:rPr lang="en-US" sz="2400" b="0" i="0" kern="1200" baseline="0" dirty="0">
              <a:solidFill>
                <a:schemeClr val="tx1">
                  <a:lumMod val="95000"/>
                  <a:lumOff val="5000"/>
                </a:schemeClr>
              </a:solidFill>
            </a:rPr>
            <a:t>continue the lockdown </a:t>
          </a:r>
          <a:r>
            <a:rPr lang="en-US" sz="2400" b="0" i="0" kern="1200" baseline="0" dirty="0"/>
            <a:t>for two more weeks. Should the governor shut down the legislature and open businesses?</a:t>
          </a:r>
          <a:endParaRPr lang="en-US" sz="2400" kern="1200" dirty="0"/>
        </a:p>
      </dsp:txBody>
      <dsp:txXfrm>
        <a:off x="1283" y="792483"/>
        <a:ext cx="5006206" cy="3672833"/>
      </dsp:txXfrm>
    </dsp:sp>
    <dsp:sp modelId="{F1FED41E-EFF2-413C-981D-81435D9FB9E0}">
      <dsp:nvSpPr>
        <dsp:cNvPr id="0" name=""/>
        <dsp:cNvSpPr/>
      </dsp:nvSpPr>
      <dsp:spPr>
        <a:xfrm>
          <a:off x="5508110" y="853444"/>
          <a:ext cx="5006206" cy="3550911"/>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baseline="0" dirty="0"/>
            <a:t>A [Democratic] [Republican] [empty ﬁeld] governor </a:t>
          </a:r>
          <a:r>
            <a:rPr lang="en-US" sz="2400" b="0" i="0" kern="1200" baseline="0" dirty="0">
              <a:solidFill>
                <a:schemeClr val="tx1">
                  <a:lumMod val="95000"/>
                  <a:lumOff val="5000"/>
                </a:schemeClr>
              </a:solidFill>
            </a:rPr>
            <a:t>wants to continue the lockdown. The infection rate in the state is slowing down</a:t>
          </a:r>
          <a:r>
            <a:rPr lang="en-US" sz="2400" b="0" i="0" kern="1200" baseline="0" dirty="0"/>
            <a:t>. The state legislature is arguing against this step and wants to </a:t>
          </a:r>
          <a:r>
            <a:rPr lang="en-US" sz="2400" b="0" i="0" kern="1200" baseline="0" dirty="0">
              <a:solidFill>
                <a:schemeClr val="tx1">
                  <a:lumMod val="95000"/>
                  <a:lumOff val="5000"/>
                </a:schemeClr>
              </a:solidFill>
            </a:rPr>
            <a:t>open businesses </a:t>
          </a:r>
          <a:r>
            <a:rPr lang="en-US" sz="2400" b="0" i="0" kern="1200" baseline="0" dirty="0"/>
            <a:t>immediately to stimulate the economy. Should the governor shut down the legislature and continue the lockdown?</a:t>
          </a:r>
          <a:endParaRPr lang="en-US" sz="2400" kern="1200" dirty="0"/>
        </a:p>
      </dsp:txBody>
      <dsp:txXfrm>
        <a:off x="5508110" y="853444"/>
        <a:ext cx="5006206" cy="3550911"/>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8907CED-ECC6-4AD6-B7BF-36439BD5A40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E9D531E1-8282-4B7F-ADB4-A4B76EEF4F7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A47A570-F15F-4D09-924E-4226C802A39A}" type="datetimeFigureOut">
              <a:rPr lang="en-CA" smtClean="0"/>
              <a:t>2021-04-22</a:t>
            </a:fld>
            <a:endParaRPr lang="en-CA"/>
          </a:p>
        </p:txBody>
      </p:sp>
      <p:sp>
        <p:nvSpPr>
          <p:cNvPr id="4" name="Footer Placeholder 3">
            <a:extLst>
              <a:ext uri="{FF2B5EF4-FFF2-40B4-BE49-F238E27FC236}">
                <a16:creationId xmlns:a16="http://schemas.microsoft.com/office/drawing/2014/main" id="{73793CEC-EBDA-417B-B793-CE82FFD5348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C31C8676-E8B9-4C32-A9E5-3FD6E6EF8AA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4221CC2-588B-4348-A762-845A60C0BE8E}" type="slidenum">
              <a:rPr lang="en-CA" smtClean="0"/>
              <a:t>‹#›</a:t>
            </a:fld>
            <a:endParaRPr lang="en-CA"/>
          </a:p>
        </p:txBody>
      </p:sp>
    </p:spTree>
    <p:extLst>
      <p:ext uri="{BB962C8B-B14F-4D97-AF65-F5344CB8AC3E}">
        <p14:creationId xmlns:p14="http://schemas.microsoft.com/office/powerpoint/2010/main" val="28599207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4CE8C4-4253-4FC1-AEAD-0CDF8374E29F}"/>
              </a:ext>
            </a:extLst>
          </p:cNvPr>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lvl1pPr marL="0" marR="0" lvl="0" indent="0" algn="l" defTabSz="914400" rtl="0" fontAlgn="auto" hangingPunct="1">
              <a:lnSpc>
                <a:spcPct val="100000"/>
              </a:lnSpc>
              <a:spcBef>
                <a:spcPts val="0"/>
              </a:spcBef>
              <a:spcAft>
                <a:spcPts val="0"/>
              </a:spcAft>
              <a:buNone/>
              <a:tabLst/>
              <a:defRPr lang="en-CA" sz="1200" b="0" i="0" u="none" strike="noStrike" kern="1200" cap="none" spc="0" baseline="0">
                <a:solidFill>
                  <a:srgbClr val="000000"/>
                </a:solidFill>
                <a:uFillTx/>
                <a:latin typeface="Calibri"/>
              </a:defRPr>
            </a:lvl1pPr>
          </a:lstStyle>
          <a:p>
            <a:pPr lvl="0"/>
            <a:endParaRPr lang="en-CA"/>
          </a:p>
        </p:txBody>
      </p:sp>
      <p:sp>
        <p:nvSpPr>
          <p:cNvPr id="3" name="Date Placeholder 2">
            <a:extLst>
              <a:ext uri="{FF2B5EF4-FFF2-40B4-BE49-F238E27FC236}">
                <a16:creationId xmlns:a16="http://schemas.microsoft.com/office/drawing/2014/main" id="{D6D4832C-8B49-423E-9459-6992FE7452E8}"/>
              </a:ext>
            </a:extLst>
          </p:cNvPr>
          <p:cNvSpPr txBox="1">
            <a:spLocks noGrp="1"/>
          </p:cNvSpPr>
          <p:nvPr>
            <p:ph type="dt"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lvl1pPr marL="0" marR="0" lvl="0" indent="0" algn="r" defTabSz="914400" rtl="0" fontAlgn="auto" hangingPunct="1">
              <a:lnSpc>
                <a:spcPct val="100000"/>
              </a:lnSpc>
              <a:spcBef>
                <a:spcPts val="0"/>
              </a:spcBef>
              <a:spcAft>
                <a:spcPts val="0"/>
              </a:spcAft>
              <a:buNone/>
              <a:tabLst/>
              <a:defRPr lang="en-CA" sz="1200" b="0" i="0" u="none" strike="noStrike" kern="1200" cap="none" spc="0" baseline="0">
                <a:solidFill>
                  <a:srgbClr val="000000"/>
                </a:solidFill>
                <a:uFillTx/>
                <a:latin typeface="Calibri"/>
              </a:defRPr>
            </a:lvl1pPr>
          </a:lstStyle>
          <a:p>
            <a:pPr lvl="0"/>
            <a:fld id="{8F1E19DC-FF4C-4ACD-9B75-3188160AF41A}" type="datetime1">
              <a:rPr lang="en-CA"/>
              <a:pPr lvl="0"/>
              <a:t>2021-04-22</a:t>
            </a:fld>
            <a:endParaRPr lang="en-CA"/>
          </a:p>
        </p:txBody>
      </p:sp>
      <p:sp>
        <p:nvSpPr>
          <p:cNvPr id="5" name="Notes Placeholder 4">
            <a:extLst>
              <a:ext uri="{FF2B5EF4-FFF2-40B4-BE49-F238E27FC236}">
                <a16:creationId xmlns:a16="http://schemas.microsoft.com/office/drawing/2014/main" id="{490D8F37-39BE-4BB5-85CC-EC4D76A297A4}"/>
              </a:ext>
            </a:extLst>
          </p:cNvPr>
          <p:cNvSpPr txBox="1">
            <a:spLocks noGrp="1"/>
          </p:cNvSpPr>
          <p:nvPr>
            <p:ph type="body" sz="quarter" idx="3"/>
          </p:nvPr>
        </p:nvSpPr>
        <p:spPr>
          <a:xfrm>
            <a:off x="685800" y="901874"/>
            <a:ext cx="5486400" cy="7099125"/>
          </a:xfrm>
          <a:prstGeom prst="rect">
            <a:avLst/>
          </a:prstGeom>
          <a:noFill/>
          <a:ln>
            <a:noFill/>
          </a:ln>
        </p:spPr>
        <p:txBody>
          <a:bodyPr vert="horz" wrap="square" lIns="91440" tIns="45720" rIns="91440" bIns="45720" anchor="t" anchorCtr="0" compatLnSpc="1">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6" name="Footer Placeholder 5">
            <a:extLst>
              <a:ext uri="{FF2B5EF4-FFF2-40B4-BE49-F238E27FC236}">
                <a16:creationId xmlns:a16="http://schemas.microsoft.com/office/drawing/2014/main" id="{540DB6AE-68A8-49BB-86A5-CF028ACA0401}"/>
              </a:ext>
            </a:extLst>
          </p:cNvPr>
          <p:cNvSpPr txBox="1">
            <a:spLocks noGrp="1"/>
          </p:cNvSpPr>
          <p:nvPr>
            <p:ph type="ftr" sz="quarter" idx="4"/>
          </p:nvPr>
        </p:nvSpPr>
        <p:spPr>
          <a:xfrm>
            <a:off x="0"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l" defTabSz="914400" rtl="0" fontAlgn="auto" hangingPunct="1">
              <a:lnSpc>
                <a:spcPct val="100000"/>
              </a:lnSpc>
              <a:spcBef>
                <a:spcPts val="0"/>
              </a:spcBef>
              <a:spcAft>
                <a:spcPts val="0"/>
              </a:spcAft>
              <a:buNone/>
              <a:tabLst/>
              <a:defRPr lang="en-CA" sz="1200" b="0" i="0" u="none" strike="noStrike" kern="1200" cap="none" spc="0" baseline="0">
                <a:solidFill>
                  <a:srgbClr val="000000"/>
                </a:solidFill>
                <a:uFillTx/>
                <a:latin typeface="Calibri"/>
              </a:defRPr>
            </a:lvl1pPr>
          </a:lstStyle>
          <a:p>
            <a:pPr lvl="0"/>
            <a:endParaRPr lang="en-CA"/>
          </a:p>
        </p:txBody>
      </p:sp>
      <p:sp>
        <p:nvSpPr>
          <p:cNvPr id="7" name="Slide Number Placeholder 6">
            <a:extLst>
              <a:ext uri="{FF2B5EF4-FFF2-40B4-BE49-F238E27FC236}">
                <a16:creationId xmlns:a16="http://schemas.microsoft.com/office/drawing/2014/main" id="{4683AA7A-7784-4136-BC58-3A8B166D2510}"/>
              </a:ext>
            </a:extLst>
          </p:cNvPr>
          <p:cNvSpPr txBox="1">
            <a:spLocks noGrp="1"/>
          </p:cNvSpPr>
          <p:nvPr>
            <p:ph type="sldNum" sz="quarter" idx="5"/>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r" defTabSz="914400" rtl="0" fontAlgn="auto" hangingPunct="1">
              <a:lnSpc>
                <a:spcPct val="100000"/>
              </a:lnSpc>
              <a:spcBef>
                <a:spcPts val="0"/>
              </a:spcBef>
              <a:spcAft>
                <a:spcPts val="0"/>
              </a:spcAft>
              <a:buNone/>
              <a:tabLst/>
              <a:defRPr lang="en-CA" sz="1200" b="0" i="0" u="none" strike="noStrike" kern="1200" cap="none" spc="0" baseline="0">
                <a:solidFill>
                  <a:srgbClr val="000000"/>
                </a:solidFill>
                <a:uFillTx/>
                <a:latin typeface="Calibri"/>
              </a:defRPr>
            </a:lvl1pPr>
          </a:lstStyle>
          <a:p>
            <a:pPr lvl="0"/>
            <a:fld id="{7D7FC41C-F595-4675-8645-C34283372911}" type="slidenum">
              <a:t>‹#›</a:t>
            </a:fld>
            <a:endParaRPr lang="en-CA"/>
          </a:p>
        </p:txBody>
      </p:sp>
    </p:spTree>
    <p:extLst>
      <p:ext uri="{BB962C8B-B14F-4D97-AF65-F5344CB8AC3E}">
        <p14:creationId xmlns:p14="http://schemas.microsoft.com/office/powerpoint/2010/main" val="1056746726"/>
      </p:ext>
    </p:extLst>
  </p:cSld>
  <p:clrMap bg1="lt1" tx1="dk1" bg2="lt2" tx2="dk2" accent1="accent1" accent2="accent2" accent3="accent3" accent4="accent4" accent5="accent5" accent6="accent6" hlink="hlink" folHlink="folHlink"/>
  <p:hf hdr="0" ftr="0" dt="0"/>
  <p:notesStyle>
    <a:lvl1pPr marL="0" marR="0" lvl="0" indent="0" algn="l" defTabSz="914400" rtl="0" fontAlgn="auto" hangingPunct="1">
      <a:lnSpc>
        <a:spcPct val="100000"/>
      </a:lnSpc>
      <a:spcBef>
        <a:spcPts val="0"/>
      </a:spcBef>
      <a:spcAft>
        <a:spcPts val="0"/>
      </a:spcAft>
      <a:buNone/>
      <a:tabLst/>
      <a:defRPr lang="en-US" sz="1400" b="0" i="0" u="none" strike="noStrike" kern="1200" cap="none" spc="0" baseline="0">
        <a:solidFill>
          <a:srgbClr val="000000"/>
        </a:solidFill>
        <a:uFillTx/>
        <a:latin typeface="Calibri"/>
      </a:defRPr>
    </a:lvl1pPr>
    <a:lvl2pPr marL="457200" marR="0" lvl="1"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2pPr>
    <a:lvl3pPr marL="914400" marR="0" lvl="2"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3pPr>
    <a:lvl4pPr marL="1371600" marR="0" lvl="3"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4pPr>
    <a:lvl5pPr marL="1828800" marR="0" lvl="4"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p:txBody>
          <a:bodyPr/>
          <a:lstStyle/>
          <a:p>
            <a:r>
              <a:rPr lang="en-CA" dirty="0"/>
              <a:t>Collaborative project with Olivier and Elisabeth. Here we like to contribute to solving the puzzle about the questions whether younger cohorts have a problem with democracy or not. </a:t>
            </a:r>
          </a:p>
        </p:txBody>
      </p:sp>
      <p:sp>
        <p:nvSpPr>
          <p:cNvPr id="4" name="Slide Number Placeholder 3"/>
          <p:cNvSpPr>
            <a:spLocks noGrp="1"/>
          </p:cNvSpPr>
          <p:nvPr>
            <p:ph type="sldNum" sz="quarter" idx="5"/>
          </p:nvPr>
        </p:nvSpPr>
        <p:spPr/>
        <p:txBody>
          <a:bodyPr/>
          <a:lstStyle/>
          <a:p>
            <a:pPr lvl="0"/>
            <a:fld id="{7D7FC41C-F595-4675-8645-C34283372911}" type="slidenum">
              <a:rPr lang="en-CA" smtClean="0"/>
              <a:t>1</a:t>
            </a:fld>
            <a:endParaRPr lang="en-CA"/>
          </a:p>
        </p:txBody>
      </p:sp>
    </p:spTree>
    <p:extLst>
      <p:ext uri="{BB962C8B-B14F-4D97-AF65-F5344CB8AC3E}">
        <p14:creationId xmlns:p14="http://schemas.microsoft.com/office/powerpoint/2010/main" val="39950678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400" b="0" i="0" u="none" strike="noStrike" kern="1200" cap="none" spc="0" baseline="0" dirty="0">
                <a:solidFill>
                  <a:srgbClr val="000000"/>
                </a:solidFill>
                <a:effectLst/>
                <a:uFillTx/>
                <a:latin typeface="Calibri"/>
              </a:rPr>
              <a:t>So, we start from the premise that some authors have found—as we do here--that younger cohorts (born in the 1980s or 1990’s, just around 2000) do not think that democracy is important. The graph shows ESS data in the most advanced democracies and 9 out of 15 countries do show a cohort effect, that is younger cohorts are significantly less supportive of democracy compared to the oldest cohort. Confirms some claims by </a:t>
            </a:r>
            <a:r>
              <a:rPr lang="en-CA" sz="1400" b="0" i="0" u="none" strike="noStrike" kern="1200" cap="none" spc="0" baseline="0" dirty="0" err="1">
                <a:solidFill>
                  <a:srgbClr val="000000"/>
                </a:solidFill>
                <a:effectLst/>
                <a:uFillTx/>
                <a:latin typeface="Calibri"/>
              </a:rPr>
              <a:t>Foa</a:t>
            </a:r>
            <a:r>
              <a:rPr lang="en-CA" sz="1400" b="0" i="0" u="none" strike="noStrike" kern="1200" cap="none" spc="0" baseline="0" dirty="0">
                <a:solidFill>
                  <a:srgbClr val="000000"/>
                </a:solidFill>
                <a:effectLst/>
                <a:uFillTx/>
                <a:latin typeface="Calibri"/>
              </a:rPr>
              <a:t> and </a:t>
            </a:r>
            <a:r>
              <a:rPr lang="en-CA" sz="1400" b="0" i="0" u="none" strike="noStrike" kern="1200" cap="none" spc="0" baseline="0" dirty="0" err="1">
                <a:solidFill>
                  <a:srgbClr val="000000"/>
                </a:solidFill>
                <a:effectLst/>
                <a:uFillTx/>
                <a:latin typeface="Calibri"/>
              </a:rPr>
              <a:t>Mounck</a:t>
            </a:r>
            <a:r>
              <a:rPr lang="en-CA" sz="1400" b="0" i="0" u="none" strike="noStrike" kern="1200" cap="none" spc="0" baseline="0" dirty="0">
                <a:solidFill>
                  <a:srgbClr val="000000"/>
                </a:solidFill>
                <a:effectLst/>
                <a:uFillTx/>
                <a:latin typeface="Calibri"/>
              </a:rPr>
              <a:t> and others. But also a lot of pushback on this claim--That young cohorts are even more democratic, that there is measurement error or that authors exaggerated their claim.  In this project we try to understand what’s behind young people giving less importance to democracy? Are they really against it and for authoritarian solutions (antipathy to democracy) or simply not aware or confused (apathy). Or simply more critical citizens? </a:t>
            </a:r>
          </a:p>
          <a:p>
            <a:endParaRPr lang="en-CA" dirty="0"/>
          </a:p>
        </p:txBody>
      </p:sp>
      <p:sp>
        <p:nvSpPr>
          <p:cNvPr id="4" name="Slide Number Placeholder 3"/>
          <p:cNvSpPr>
            <a:spLocks noGrp="1"/>
          </p:cNvSpPr>
          <p:nvPr>
            <p:ph type="sldNum" sz="quarter" idx="5"/>
          </p:nvPr>
        </p:nvSpPr>
        <p:spPr/>
        <p:txBody>
          <a:bodyPr/>
          <a:lstStyle/>
          <a:p>
            <a:pPr lvl="0"/>
            <a:fld id="{7D7FC41C-F595-4675-8645-C34283372911}" type="slidenum">
              <a:rPr lang="en-CA" smtClean="0"/>
              <a:t>2</a:t>
            </a:fld>
            <a:endParaRPr lang="en-CA"/>
          </a:p>
        </p:txBody>
      </p:sp>
    </p:spTree>
    <p:extLst>
      <p:ext uri="{BB962C8B-B14F-4D97-AF65-F5344CB8AC3E}">
        <p14:creationId xmlns:p14="http://schemas.microsoft.com/office/powerpoint/2010/main" val="39960915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p:txBody>
          <a:bodyPr/>
          <a:lstStyle/>
          <a:p>
            <a:r>
              <a:rPr lang="en-CA" dirty="0"/>
              <a:t>Here are our hypotheses that we explore for this presentation, to give you a taste.  </a:t>
            </a:r>
          </a:p>
          <a:p>
            <a:pPr marL="342900" indent="-342900">
              <a:buAutoNum type="arabicParenR"/>
            </a:pPr>
            <a:r>
              <a:rPr lang="en-CA" dirty="0"/>
              <a:t>We explore whether younger cohorts are more critical citizens—who criticize democracy and how it is enacted today, but still keep it in high esteem. </a:t>
            </a:r>
          </a:p>
          <a:p>
            <a:pPr marL="342900" indent="-342900">
              <a:buAutoNum type="arabicParenR"/>
            </a:pPr>
            <a:r>
              <a:rPr lang="en-CA" dirty="0"/>
              <a:t>Second, we explore whether younger cohorts are simply confused about what democracy means and how to distinguish democracy from its alternatives. </a:t>
            </a:r>
          </a:p>
          <a:p>
            <a:pPr marL="342900" indent="-342900">
              <a:buAutoNum type="arabicParenR"/>
            </a:pPr>
            <a:r>
              <a:rPr lang="en-CA" dirty="0"/>
              <a:t>We explore whether it is maybe the word democracy or the abstractness of the concept which explains lower support, and we developed concrete scenarios and experiments that test the reactions to very undemocratic situations. </a:t>
            </a:r>
          </a:p>
          <a:p>
            <a:pPr marL="342900" indent="-342900">
              <a:buAutoNum type="arabicParenR"/>
            </a:pPr>
            <a:r>
              <a:rPr lang="en-CA" dirty="0"/>
              <a:t>Finally we explore whether younger cohorts simply have lower democratic knowledge. </a:t>
            </a:r>
          </a:p>
        </p:txBody>
      </p:sp>
      <p:sp>
        <p:nvSpPr>
          <p:cNvPr id="4" name="Slide Number Placeholder 3"/>
          <p:cNvSpPr>
            <a:spLocks noGrp="1"/>
          </p:cNvSpPr>
          <p:nvPr>
            <p:ph type="sldNum" sz="quarter" idx="5"/>
          </p:nvPr>
        </p:nvSpPr>
        <p:spPr/>
        <p:txBody>
          <a:bodyPr/>
          <a:lstStyle/>
          <a:p>
            <a:pPr lvl="0"/>
            <a:fld id="{7D7FC41C-F595-4675-8645-C34283372911}" type="slidenum">
              <a:rPr lang="en-CA" smtClean="0"/>
              <a:t>3</a:t>
            </a:fld>
            <a:endParaRPr lang="en-CA"/>
          </a:p>
        </p:txBody>
      </p:sp>
    </p:spTree>
    <p:extLst>
      <p:ext uri="{BB962C8B-B14F-4D97-AF65-F5344CB8AC3E}">
        <p14:creationId xmlns:p14="http://schemas.microsoft.com/office/powerpoint/2010/main" val="40229023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p:txBody>
          <a:bodyPr/>
          <a:lstStyle/>
          <a:p>
            <a:r>
              <a:rPr lang="en-CA" dirty="0"/>
              <a:t>Here is the data we use. Hand over to Olivier. </a:t>
            </a:r>
          </a:p>
        </p:txBody>
      </p:sp>
      <p:sp>
        <p:nvSpPr>
          <p:cNvPr id="4" name="Slide Number Placeholder 3"/>
          <p:cNvSpPr>
            <a:spLocks noGrp="1"/>
          </p:cNvSpPr>
          <p:nvPr>
            <p:ph type="sldNum" sz="quarter" idx="5"/>
          </p:nvPr>
        </p:nvSpPr>
        <p:spPr/>
        <p:txBody>
          <a:bodyPr/>
          <a:lstStyle/>
          <a:p>
            <a:pPr lvl="0"/>
            <a:fld id="{7D7FC41C-F595-4675-8645-C34283372911}" type="slidenum">
              <a:rPr lang="en-CA" smtClean="0"/>
              <a:t>4</a:t>
            </a:fld>
            <a:endParaRPr lang="en-CA"/>
          </a:p>
        </p:txBody>
      </p:sp>
    </p:spTree>
    <p:extLst>
      <p:ext uri="{BB962C8B-B14F-4D97-AF65-F5344CB8AC3E}">
        <p14:creationId xmlns:p14="http://schemas.microsoft.com/office/powerpoint/2010/main" val="29252829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p:txBody>
          <a:bodyPr/>
          <a:lstStyle/>
          <a:p>
            <a:r>
              <a:rPr lang="en-CA" b="1" dirty="0"/>
              <a:t>1) Critical citizens: first of all—younger cohorts are not more critical of democracy than older cohorts, as they do not indicate more dissatisfaction. However, in a Model using the ESS: (Importance) = Satisfaction + Cohort + </a:t>
            </a:r>
            <a:r>
              <a:rPr lang="en-CA" b="1" dirty="0" err="1"/>
              <a:t>Cohort:Satisfaction</a:t>
            </a:r>
            <a:r>
              <a:rPr lang="en-CA" b="1" dirty="0"/>
              <a:t> + Country we examined whether the effect of dissatisfaction on importance of democracy changes by cohort. We found is that dissatisfaction with democracy has a more negative effect on support for democracy among younger cohorts (compared to older cohorts=grey line). </a:t>
            </a:r>
          </a:p>
          <a:p>
            <a:endParaRPr lang="en-CA" b="1" dirty="0"/>
          </a:p>
          <a:p>
            <a:r>
              <a:rPr lang="en-CA" b="1" dirty="0"/>
              <a:t>This suggests that their disappointing experience with democracy</a:t>
            </a:r>
            <a:r>
              <a:rPr lang="en-CA" b="1" dirty="0">
                <a:sym typeface="Wingdings" panose="05000000000000000000" pitchFamily="2" charset="2"/>
              </a:rPr>
              <a:t> translates into a perception that “democracy as a principle” is not really important. There is no distinction between the abstract concept and reality they experience. Maybe harder when </a:t>
            </a:r>
            <a:r>
              <a:rPr lang="en-CA" b="1" dirty="0">
                <a:solidFill>
                  <a:srgbClr val="FF0000"/>
                </a:solidFill>
                <a:sym typeface="Wingdings" panose="05000000000000000000" pitchFamily="2" charset="2"/>
              </a:rPr>
              <a:t>people do not have positive experiences </a:t>
            </a:r>
            <a:r>
              <a:rPr lang="en-CA" b="1" dirty="0">
                <a:sym typeface="Wingdings" panose="05000000000000000000" pitchFamily="2" charset="2"/>
              </a:rPr>
              <a:t>in their memory. Anyway, no evidence of critical citizens. Critical citizens would criticize democracy more than others, but would still value it  in principle. </a:t>
            </a:r>
            <a:r>
              <a:rPr lang="en-CA" b="1" dirty="0">
                <a:solidFill>
                  <a:srgbClr val="FF0000"/>
                </a:solidFill>
                <a:sym typeface="Wingdings" panose="05000000000000000000" pitchFamily="2" charset="2"/>
              </a:rPr>
              <a:t>BUT ISN’T THIS OBVIOUS FROM OUR FIRST GRAPH?</a:t>
            </a:r>
            <a:endParaRPr lang="en-CA" b="1" dirty="0"/>
          </a:p>
        </p:txBody>
      </p:sp>
      <p:sp>
        <p:nvSpPr>
          <p:cNvPr id="4" name="Slide Number Placeholder 3"/>
          <p:cNvSpPr>
            <a:spLocks noGrp="1"/>
          </p:cNvSpPr>
          <p:nvPr>
            <p:ph type="sldNum" sz="quarter" idx="5"/>
          </p:nvPr>
        </p:nvSpPr>
        <p:spPr/>
        <p:txBody>
          <a:bodyPr/>
          <a:lstStyle/>
          <a:p>
            <a:pPr lvl="0"/>
            <a:fld id="{7D7FC41C-F595-4675-8645-C34283372911}" type="slidenum">
              <a:rPr lang="en-CA" smtClean="0"/>
              <a:t>5</a:t>
            </a:fld>
            <a:endParaRPr lang="en-CA"/>
          </a:p>
        </p:txBody>
      </p:sp>
    </p:spTree>
    <p:extLst>
      <p:ext uri="{BB962C8B-B14F-4D97-AF65-F5344CB8AC3E}">
        <p14:creationId xmlns:p14="http://schemas.microsoft.com/office/powerpoint/2010/main" val="3863160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p:txBody>
          <a:bodyPr/>
          <a:lstStyle/>
          <a:p>
            <a:r>
              <a:rPr lang="en-CA" b="1" dirty="0"/>
              <a:t>1) Critical citizens: first of all—younger cohorts are not more critical of democracy than older cohorts, as they do not indicate more dissatisfaction. However, in a Model using the ESS: (Importance) = Satisfaction + Cohort + </a:t>
            </a:r>
            <a:r>
              <a:rPr lang="en-CA" b="1" dirty="0" err="1"/>
              <a:t>Cohort:Satisfaction</a:t>
            </a:r>
            <a:r>
              <a:rPr lang="en-CA" b="1" dirty="0"/>
              <a:t> + Country we examined whether the effect of dissatisfaction on importance of democracy changes by cohort. We found is that dissatisfaction with democracy has a more negative effect on support for democracy among younger cohorts (compared to older cohorts=grey line). </a:t>
            </a:r>
          </a:p>
          <a:p>
            <a:endParaRPr lang="en-CA" b="1" dirty="0"/>
          </a:p>
          <a:p>
            <a:r>
              <a:rPr lang="en-CA" b="1" dirty="0"/>
              <a:t>This suggests that their disappointing experience with democracy</a:t>
            </a:r>
            <a:r>
              <a:rPr lang="en-CA" b="1" dirty="0">
                <a:sym typeface="Wingdings" panose="05000000000000000000" pitchFamily="2" charset="2"/>
              </a:rPr>
              <a:t> translates into a perception that “democracy as a principle” is not really important. There is no distinction between the abstract concept and reality they experience. Maybe harder when </a:t>
            </a:r>
            <a:r>
              <a:rPr lang="en-CA" b="1" dirty="0">
                <a:solidFill>
                  <a:srgbClr val="FF0000"/>
                </a:solidFill>
                <a:sym typeface="Wingdings" panose="05000000000000000000" pitchFamily="2" charset="2"/>
              </a:rPr>
              <a:t>people do not have positive experiences </a:t>
            </a:r>
            <a:r>
              <a:rPr lang="en-CA" b="1" dirty="0">
                <a:sym typeface="Wingdings" panose="05000000000000000000" pitchFamily="2" charset="2"/>
              </a:rPr>
              <a:t>in their memory. Anyway, no evidence of critical citizens. Critical citizens would criticize democracy more than others, but would still value it  in principle. </a:t>
            </a:r>
            <a:r>
              <a:rPr lang="en-CA" b="1" dirty="0">
                <a:solidFill>
                  <a:srgbClr val="FF0000"/>
                </a:solidFill>
                <a:sym typeface="Wingdings" panose="05000000000000000000" pitchFamily="2" charset="2"/>
              </a:rPr>
              <a:t>BUT ISN’T THIS OBVIOUS FROM OUR FIRST GRAPH?</a:t>
            </a:r>
            <a:endParaRPr lang="en-CA" b="1" dirty="0"/>
          </a:p>
        </p:txBody>
      </p:sp>
      <p:sp>
        <p:nvSpPr>
          <p:cNvPr id="4" name="Slide Number Placeholder 3"/>
          <p:cNvSpPr>
            <a:spLocks noGrp="1"/>
          </p:cNvSpPr>
          <p:nvPr>
            <p:ph type="sldNum" sz="quarter" idx="5"/>
          </p:nvPr>
        </p:nvSpPr>
        <p:spPr/>
        <p:txBody>
          <a:bodyPr/>
          <a:lstStyle/>
          <a:p>
            <a:pPr lvl="0"/>
            <a:fld id="{7D7FC41C-F595-4675-8645-C34283372911}" type="slidenum">
              <a:rPr lang="en-CA" smtClean="0"/>
              <a:t>6</a:t>
            </a:fld>
            <a:endParaRPr lang="en-CA"/>
          </a:p>
        </p:txBody>
      </p:sp>
    </p:spTree>
    <p:extLst>
      <p:ext uri="{BB962C8B-B14F-4D97-AF65-F5344CB8AC3E}">
        <p14:creationId xmlns:p14="http://schemas.microsoft.com/office/powerpoint/2010/main" val="3104710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p:txBody>
          <a:bodyPr/>
          <a:lstStyle/>
          <a:p>
            <a:r>
              <a:rPr lang="en-CA" dirty="0"/>
              <a:t>So, we move to our next hypothesis about confused citizens. Maybe we can also call this: confused measures. We show here an interesting phenomenon, namely many of those who value democracy the most (rate it 10) nonetheless approve of a strong leader who does not have to bother with parliament or Congress. </a:t>
            </a:r>
          </a:p>
          <a:p>
            <a:r>
              <a:rPr lang="en-CA" dirty="0"/>
              <a:t>The graph here from Canadian and US data suggests that the standard measure of democratic support is not being understood well or even correctly, especially by younger cohorts. Even though these younger cohorts rate the importance of democracy highest they still think that a strong leader who does not have to bother with parliament/Congress is a good form of government (about 35% in Canada and 45% in US). That percentage is even higher for folks who do not value democracy as highly (understandably so). It seems not only do young people give lower marks to democracy, those who give high marks do not understand fully what it means. So, it is thus also unclear whether we can even trust these measures of broad democratic support. We need to look beyond plain democratic support to understand how young people really think about democracy. </a:t>
            </a:r>
          </a:p>
        </p:txBody>
      </p:sp>
      <p:sp>
        <p:nvSpPr>
          <p:cNvPr id="4" name="Slide Number Placeholder 3"/>
          <p:cNvSpPr>
            <a:spLocks noGrp="1"/>
          </p:cNvSpPr>
          <p:nvPr>
            <p:ph type="sldNum" sz="quarter" idx="5"/>
          </p:nvPr>
        </p:nvSpPr>
        <p:spPr/>
        <p:txBody>
          <a:bodyPr/>
          <a:lstStyle/>
          <a:p>
            <a:pPr lvl="0"/>
            <a:fld id="{7D7FC41C-F595-4675-8645-C34283372911}" type="slidenum">
              <a:rPr lang="en-CA" smtClean="0"/>
              <a:t>7</a:t>
            </a:fld>
            <a:endParaRPr lang="en-CA"/>
          </a:p>
        </p:txBody>
      </p:sp>
    </p:spTree>
    <p:extLst>
      <p:ext uri="{BB962C8B-B14F-4D97-AF65-F5344CB8AC3E}">
        <p14:creationId xmlns:p14="http://schemas.microsoft.com/office/powerpoint/2010/main" val="14875573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p:txBody>
          <a:bodyPr/>
          <a:lstStyle/>
          <a:p>
            <a:r>
              <a:rPr lang="en-CA" dirty="0"/>
              <a:t>For that purpose, we developed measures of situations that are clearly undemocratic and we measure peoples acceptance of such situations. </a:t>
            </a:r>
          </a:p>
          <a:p>
            <a:r>
              <a:rPr lang="en-CA" dirty="0"/>
              <a:t>We developed Scenarios depicting executive aggrandizement or (as currently very important) limitations on voting rights. </a:t>
            </a:r>
          </a:p>
          <a:p>
            <a:r>
              <a:rPr lang="en-CA" dirty="0"/>
              <a:t>We created a Vignette experiment to ask about a political decision that is clearly undemocratic. </a:t>
            </a:r>
          </a:p>
          <a:p>
            <a:r>
              <a:rPr lang="en-CA" dirty="0"/>
              <a:t>And we conducted Conjoint experiments</a:t>
            </a:r>
          </a:p>
          <a:p>
            <a:r>
              <a:rPr lang="en-CA" dirty="0"/>
              <a:t>We have lots of evidence beyond asking about abstract support for democracy, more than we can show. But we can give you a taste. </a:t>
            </a:r>
          </a:p>
        </p:txBody>
      </p:sp>
      <p:sp>
        <p:nvSpPr>
          <p:cNvPr id="4" name="Slide Number Placeholder 3"/>
          <p:cNvSpPr>
            <a:spLocks noGrp="1"/>
          </p:cNvSpPr>
          <p:nvPr>
            <p:ph type="sldNum" sz="quarter" idx="5"/>
          </p:nvPr>
        </p:nvSpPr>
        <p:spPr/>
        <p:txBody>
          <a:bodyPr/>
          <a:lstStyle/>
          <a:p>
            <a:pPr lvl="0"/>
            <a:fld id="{7D7FC41C-F595-4675-8645-C34283372911}" type="slidenum">
              <a:rPr lang="en-CA" smtClean="0"/>
              <a:t>8</a:t>
            </a:fld>
            <a:endParaRPr lang="en-CA"/>
          </a:p>
        </p:txBody>
      </p:sp>
    </p:spTree>
    <p:extLst>
      <p:ext uri="{BB962C8B-B14F-4D97-AF65-F5344CB8AC3E}">
        <p14:creationId xmlns:p14="http://schemas.microsoft.com/office/powerpoint/2010/main" val="34996571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p:txBody>
          <a:bodyPr/>
          <a:lstStyle/>
          <a:p>
            <a:r>
              <a:rPr lang="en-CA" dirty="0"/>
              <a:t>Start with the scenario approach. Important because we ask about politicians behavior in concrete situations. Here you see some examples of executive aggrandizement. We ask whether people accept these scenarios or not. </a:t>
            </a:r>
          </a:p>
        </p:txBody>
      </p:sp>
      <p:sp>
        <p:nvSpPr>
          <p:cNvPr id="4" name="Slide Number Placeholder 3"/>
          <p:cNvSpPr>
            <a:spLocks noGrp="1"/>
          </p:cNvSpPr>
          <p:nvPr>
            <p:ph type="sldNum" sz="quarter" idx="5"/>
          </p:nvPr>
        </p:nvSpPr>
        <p:spPr/>
        <p:txBody>
          <a:bodyPr/>
          <a:lstStyle/>
          <a:p>
            <a:pPr lvl="0"/>
            <a:fld id="{7D7FC41C-F595-4675-8645-C34283372911}" type="slidenum">
              <a:rPr lang="en-CA" smtClean="0"/>
              <a:t>9</a:t>
            </a:fld>
            <a:endParaRPr lang="en-CA"/>
          </a:p>
        </p:txBody>
      </p:sp>
    </p:spTree>
    <p:extLst>
      <p:ext uri="{BB962C8B-B14F-4D97-AF65-F5344CB8AC3E}">
        <p14:creationId xmlns:p14="http://schemas.microsoft.com/office/powerpoint/2010/main" val="3015869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p:txBody>
          <a:bodyPr/>
          <a:lstStyle/>
          <a:p>
            <a:r>
              <a:rPr lang="en-CA" dirty="0"/>
              <a:t>When using these statements on executive aggrandizement on a scale, we see relatively strong effects for cohort, with younger cohorts being clearly more open to executive aggrandizement. US data. </a:t>
            </a:r>
          </a:p>
        </p:txBody>
      </p:sp>
      <p:sp>
        <p:nvSpPr>
          <p:cNvPr id="4" name="Slide Number Placeholder 3"/>
          <p:cNvSpPr>
            <a:spLocks noGrp="1"/>
          </p:cNvSpPr>
          <p:nvPr>
            <p:ph type="sldNum" sz="quarter" idx="5"/>
          </p:nvPr>
        </p:nvSpPr>
        <p:spPr/>
        <p:txBody>
          <a:bodyPr/>
          <a:lstStyle/>
          <a:p>
            <a:pPr lvl="0"/>
            <a:fld id="{7D7FC41C-F595-4675-8645-C34283372911}" type="slidenum">
              <a:rPr lang="en-CA" smtClean="0"/>
              <a:t>10</a:t>
            </a:fld>
            <a:endParaRPr lang="en-CA"/>
          </a:p>
        </p:txBody>
      </p:sp>
    </p:spTree>
    <p:extLst>
      <p:ext uri="{BB962C8B-B14F-4D97-AF65-F5344CB8AC3E}">
        <p14:creationId xmlns:p14="http://schemas.microsoft.com/office/powerpoint/2010/main" val="30956273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p:txBody>
          <a:bodyPr/>
          <a:lstStyle/>
          <a:p>
            <a:r>
              <a:rPr lang="en-CA" dirty="0"/>
              <a:t>Here are examples of voting rights scenarios that we are using, they are clearly undemocratic. Statements about voting rights. </a:t>
            </a:r>
          </a:p>
        </p:txBody>
      </p:sp>
      <p:sp>
        <p:nvSpPr>
          <p:cNvPr id="4" name="Slide Number Placeholder 3"/>
          <p:cNvSpPr>
            <a:spLocks noGrp="1"/>
          </p:cNvSpPr>
          <p:nvPr>
            <p:ph type="sldNum" sz="quarter" idx="5"/>
          </p:nvPr>
        </p:nvSpPr>
        <p:spPr/>
        <p:txBody>
          <a:bodyPr/>
          <a:lstStyle/>
          <a:p>
            <a:pPr lvl="0"/>
            <a:fld id="{7D7FC41C-F595-4675-8645-C34283372911}" type="slidenum">
              <a:rPr lang="en-CA" smtClean="0"/>
              <a:t>11</a:t>
            </a:fld>
            <a:endParaRPr lang="en-CA"/>
          </a:p>
        </p:txBody>
      </p:sp>
    </p:spTree>
    <p:extLst>
      <p:ext uri="{BB962C8B-B14F-4D97-AF65-F5344CB8AC3E}">
        <p14:creationId xmlns:p14="http://schemas.microsoft.com/office/powerpoint/2010/main" val="40901540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p:txBody>
          <a:bodyPr/>
          <a:lstStyle/>
          <a:p>
            <a:r>
              <a:rPr lang="en-CA" dirty="0"/>
              <a:t>The same tendency can be found for limitations on voting rights, although the cohort differences here are smaller. </a:t>
            </a:r>
          </a:p>
        </p:txBody>
      </p:sp>
      <p:sp>
        <p:nvSpPr>
          <p:cNvPr id="4" name="Slide Number Placeholder 3"/>
          <p:cNvSpPr>
            <a:spLocks noGrp="1"/>
          </p:cNvSpPr>
          <p:nvPr>
            <p:ph type="sldNum" sz="quarter" idx="5"/>
          </p:nvPr>
        </p:nvSpPr>
        <p:spPr/>
        <p:txBody>
          <a:bodyPr/>
          <a:lstStyle/>
          <a:p>
            <a:pPr lvl="0"/>
            <a:fld id="{7D7FC41C-F595-4675-8645-C34283372911}" type="slidenum">
              <a:rPr lang="en-CA" smtClean="0"/>
              <a:t>12</a:t>
            </a:fld>
            <a:endParaRPr lang="en-CA"/>
          </a:p>
        </p:txBody>
      </p:sp>
    </p:spTree>
    <p:extLst>
      <p:ext uri="{BB962C8B-B14F-4D97-AF65-F5344CB8AC3E}">
        <p14:creationId xmlns:p14="http://schemas.microsoft.com/office/powerpoint/2010/main" val="19594075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p:txBody>
          <a:bodyPr/>
          <a:lstStyle/>
          <a:p>
            <a:r>
              <a:rPr lang="en-CA" dirty="0"/>
              <a:t>In our 2020 surveys we introduced a vignette experiment describing a governor who either wants to open businesses again to stimulate the economy (Although infection rate is high) or a governor who wants to continue the lockdown (although the infection rate is slowing). In both scenarios we have a state legislature contradicting the governor. The question is whether the governor should shut the legislature (basically shut them down to press through his/her policy. Clear example of executive aggrandizement (shutting out checks of exec power). 6 scenarios. In our vignette. (but do not focus on the partisan issue). </a:t>
            </a:r>
          </a:p>
        </p:txBody>
      </p:sp>
      <p:sp>
        <p:nvSpPr>
          <p:cNvPr id="4" name="Slide Number Placeholder 3"/>
          <p:cNvSpPr>
            <a:spLocks noGrp="1"/>
          </p:cNvSpPr>
          <p:nvPr>
            <p:ph type="sldNum" sz="quarter" idx="5"/>
          </p:nvPr>
        </p:nvSpPr>
        <p:spPr/>
        <p:txBody>
          <a:bodyPr/>
          <a:lstStyle/>
          <a:p>
            <a:pPr lvl="0"/>
            <a:fld id="{7D7FC41C-F595-4675-8645-C34283372911}" type="slidenum">
              <a:rPr lang="en-CA" smtClean="0"/>
              <a:t>13</a:t>
            </a:fld>
            <a:endParaRPr lang="en-CA"/>
          </a:p>
        </p:txBody>
      </p:sp>
    </p:spTree>
    <p:extLst>
      <p:ext uri="{BB962C8B-B14F-4D97-AF65-F5344CB8AC3E}">
        <p14:creationId xmlns:p14="http://schemas.microsoft.com/office/powerpoint/2010/main" val="30484476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p:txBody>
          <a:bodyPr/>
          <a:lstStyle/>
          <a:p>
            <a:r>
              <a:rPr lang="en-CA" dirty="0"/>
              <a:t>In our vignette as well, younger people are more inclined to allow the governor to shut down the legislature, especially when the governor wants to continue the lockdown (about 40% of oldest generation versus nearly 70% of the youngest one). The question here is very different from the research about supporting an abstract concept such as democracy which has found similar tendencies. So our scenarios make very clear that younger cohorts are not as committed to democracy as older generations. </a:t>
            </a:r>
          </a:p>
        </p:txBody>
      </p:sp>
      <p:sp>
        <p:nvSpPr>
          <p:cNvPr id="4" name="Slide Number Placeholder 3"/>
          <p:cNvSpPr>
            <a:spLocks noGrp="1"/>
          </p:cNvSpPr>
          <p:nvPr>
            <p:ph type="sldNum" sz="quarter" idx="5"/>
          </p:nvPr>
        </p:nvSpPr>
        <p:spPr/>
        <p:txBody>
          <a:bodyPr/>
          <a:lstStyle/>
          <a:p>
            <a:pPr lvl="0"/>
            <a:fld id="{7D7FC41C-F595-4675-8645-C34283372911}" type="slidenum">
              <a:rPr lang="en-CA" smtClean="0"/>
              <a:t>14</a:t>
            </a:fld>
            <a:endParaRPr lang="en-CA"/>
          </a:p>
        </p:txBody>
      </p:sp>
    </p:spTree>
    <p:extLst>
      <p:ext uri="{BB962C8B-B14F-4D97-AF65-F5344CB8AC3E}">
        <p14:creationId xmlns:p14="http://schemas.microsoft.com/office/powerpoint/2010/main" val="13377837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kern="1200" cap="none" spc="0" baseline="0" dirty="0">
                <a:solidFill>
                  <a:srgbClr val="000000"/>
                </a:solidFill>
                <a:effectLst/>
                <a:uFillTx/>
                <a:latin typeface="Calibri"/>
              </a:rPr>
              <a:t>So for now we have looked into the critical citizen argument and found nothing. Instead we found that dissatisfaction with democracy translates more into lack of support for it especially for younger cohorts. We also found that younger cohorts are generally more in support of a strong leader who does not have to bother with elections and parliament, and even those who support democracy to the highest degree. Younger cohorts seem to be more confused about the alternatives to democracy. We have also tested how younger cohorts react to actual undemocratic situations and found again and again that younger cohorts are more accepting of situations of dem backsliding than older cohorts. Lower ratings also indicate that actual undemocratic scenarios are supported. We can dig deeper here and see whether democratic knowledge has anything to do with it. </a:t>
            </a:r>
          </a:p>
          <a:p>
            <a:endParaRPr lang="en-CA" dirty="0"/>
          </a:p>
        </p:txBody>
      </p:sp>
      <p:sp>
        <p:nvSpPr>
          <p:cNvPr id="4" name="Slide Number Placeholder 3"/>
          <p:cNvSpPr>
            <a:spLocks noGrp="1"/>
          </p:cNvSpPr>
          <p:nvPr>
            <p:ph type="sldNum" sz="quarter" idx="5"/>
          </p:nvPr>
        </p:nvSpPr>
        <p:spPr/>
        <p:txBody>
          <a:bodyPr/>
          <a:lstStyle/>
          <a:p>
            <a:pPr lvl="0"/>
            <a:fld id="{7D7FC41C-F595-4675-8645-C34283372911}" type="slidenum">
              <a:rPr lang="en-CA" smtClean="0"/>
              <a:t>15</a:t>
            </a:fld>
            <a:endParaRPr lang="en-CA"/>
          </a:p>
        </p:txBody>
      </p:sp>
    </p:spTree>
    <p:extLst>
      <p:ext uri="{BB962C8B-B14F-4D97-AF65-F5344CB8AC3E}">
        <p14:creationId xmlns:p14="http://schemas.microsoft.com/office/powerpoint/2010/main" val="40977512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p:txBody>
          <a:bodyPr/>
          <a:lstStyle/>
          <a:p>
            <a:r>
              <a:rPr lang="en-CA" dirty="0"/>
              <a:t>When asked about recognizing whether a situation is democratic or undemocratic, we show respondents various scenarios and ask them to evaluate them in degrees of being democratic or undemocratic. An example is: </a:t>
            </a:r>
            <a:r>
              <a:rPr lang="en-US" dirty="0"/>
              <a:t>A prime minister or president attacks the legitimacy of an election in which they have been defeated. OR: </a:t>
            </a:r>
            <a:r>
              <a:rPr lang="en-US" sz="1400" b="0" i="0" u="none" strike="noStrike" kern="1200" cap="none" spc="0" baseline="0" dirty="0">
                <a:solidFill>
                  <a:srgbClr val="000000"/>
                </a:solidFill>
                <a:effectLst/>
                <a:uFillTx/>
                <a:latin typeface="Calibri"/>
              </a:rPr>
              <a:t>A government blocks peaceful protests by its political opponents. When adding up the correct answers to a democratic knowledge scale, we </a:t>
            </a:r>
            <a:r>
              <a:rPr lang="en-CA" dirty="0"/>
              <a:t>see strong cohort differences. In fact the youngest cohort in the US is in the least likely to know whether a situation is democratic or not. In our research we show that this knowledge is key in rejecting or condoning democratic backsliding. Canadian young cohorts follow suit.  </a:t>
            </a:r>
          </a:p>
          <a:p>
            <a:endParaRPr lang="en-CA" dirty="0"/>
          </a:p>
          <a:p>
            <a:r>
              <a:rPr lang="en-CA" b="1" dirty="0"/>
              <a:t>Note that this is from the 2019 survey. </a:t>
            </a:r>
          </a:p>
        </p:txBody>
      </p:sp>
      <p:sp>
        <p:nvSpPr>
          <p:cNvPr id="4" name="Slide Number Placeholder 3"/>
          <p:cNvSpPr>
            <a:spLocks noGrp="1"/>
          </p:cNvSpPr>
          <p:nvPr>
            <p:ph type="sldNum" sz="quarter" idx="5"/>
          </p:nvPr>
        </p:nvSpPr>
        <p:spPr/>
        <p:txBody>
          <a:bodyPr/>
          <a:lstStyle/>
          <a:p>
            <a:pPr lvl="0"/>
            <a:fld id="{7D7FC41C-F595-4675-8645-C34283372911}" type="slidenum">
              <a:rPr lang="en-CA" smtClean="0"/>
              <a:t>16</a:t>
            </a:fld>
            <a:endParaRPr lang="en-CA"/>
          </a:p>
        </p:txBody>
      </p:sp>
    </p:spTree>
    <p:extLst>
      <p:ext uri="{BB962C8B-B14F-4D97-AF65-F5344CB8AC3E}">
        <p14:creationId xmlns:p14="http://schemas.microsoft.com/office/powerpoint/2010/main" val="16640736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p:txBody>
          <a:bodyPr/>
          <a:lstStyle/>
          <a:p>
            <a:r>
              <a:rPr lang="en-CA" dirty="0"/>
              <a:t>When we use a similar scale and test whether cohort effects diminish after including democratic knowledge, we do see diminished effects, but they are not completely eradicated. </a:t>
            </a:r>
          </a:p>
        </p:txBody>
      </p:sp>
      <p:sp>
        <p:nvSpPr>
          <p:cNvPr id="4" name="Slide Number Placeholder 3"/>
          <p:cNvSpPr>
            <a:spLocks noGrp="1"/>
          </p:cNvSpPr>
          <p:nvPr>
            <p:ph type="sldNum" sz="quarter" idx="5"/>
          </p:nvPr>
        </p:nvSpPr>
        <p:spPr/>
        <p:txBody>
          <a:bodyPr/>
          <a:lstStyle/>
          <a:p>
            <a:pPr lvl="0"/>
            <a:fld id="{7D7FC41C-F595-4675-8645-C34283372911}" type="slidenum">
              <a:rPr lang="en-CA" smtClean="0"/>
              <a:t>17</a:t>
            </a:fld>
            <a:endParaRPr lang="en-CA"/>
          </a:p>
        </p:txBody>
      </p:sp>
    </p:spTree>
    <p:extLst>
      <p:ext uri="{BB962C8B-B14F-4D97-AF65-F5344CB8AC3E}">
        <p14:creationId xmlns:p14="http://schemas.microsoft.com/office/powerpoint/2010/main" val="11666321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p:txBody>
          <a:bodyPr/>
          <a:lstStyle/>
          <a:p>
            <a:r>
              <a:rPr lang="en-CA" dirty="0"/>
              <a:t>So, What does this mean for the future of democracy? Our conclusions seem to be a bit bleak. We set out to prove </a:t>
            </a:r>
            <a:r>
              <a:rPr lang="en-CA" dirty="0" err="1"/>
              <a:t>Foa</a:t>
            </a:r>
            <a:r>
              <a:rPr lang="en-CA" dirty="0"/>
              <a:t> and </a:t>
            </a:r>
            <a:r>
              <a:rPr lang="en-CA" dirty="0" err="1"/>
              <a:t>Mounck</a:t>
            </a:r>
            <a:r>
              <a:rPr lang="en-CA" dirty="0"/>
              <a:t> and others wrong, but the deeper we dug the more the pattern seemed to repeat itself. Of course we are not claiming that all members of the younger cohorts are less committed to democracy. Some of them have been very critical and have been supportive of democratic innovation, used media to speak out etc., But on average, the lack of understanding about what’s democratic and what is not seems to make younger cohorts more oblivious to various aspects of democracy. Their dissatisfaction with democracy although not high than other cohorts also </a:t>
            </a:r>
            <a:r>
              <a:rPr lang="en-CA" dirty="0" err="1"/>
              <a:t>also</a:t>
            </a:r>
            <a:r>
              <a:rPr lang="en-CA" dirty="0"/>
              <a:t> more damning for their support. So far our results suggest that: Should democracy be under threat (which it is), the younger cohorts might not be standing up for it in the same way as their older counterparts. </a:t>
            </a:r>
            <a:r>
              <a:rPr lang="en-CA"/>
              <a:t>More work needs to be done. </a:t>
            </a:r>
            <a:endParaRPr lang="en-CA" dirty="0"/>
          </a:p>
        </p:txBody>
      </p:sp>
      <p:sp>
        <p:nvSpPr>
          <p:cNvPr id="4" name="Slide Number Placeholder 3"/>
          <p:cNvSpPr>
            <a:spLocks noGrp="1"/>
          </p:cNvSpPr>
          <p:nvPr>
            <p:ph type="sldNum" sz="quarter" idx="5"/>
          </p:nvPr>
        </p:nvSpPr>
        <p:spPr/>
        <p:txBody>
          <a:bodyPr/>
          <a:lstStyle/>
          <a:p>
            <a:pPr lvl="0"/>
            <a:fld id="{7D7FC41C-F595-4675-8645-C34283372911}" type="slidenum">
              <a:rPr lang="en-CA" smtClean="0"/>
              <a:t>18</a:t>
            </a:fld>
            <a:endParaRPr lang="en-CA"/>
          </a:p>
        </p:txBody>
      </p:sp>
    </p:spTree>
    <p:extLst>
      <p:ext uri="{BB962C8B-B14F-4D97-AF65-F5344CB8AC3E}">
        <p14:creationId xmlns:p14="http://schemas.microsoft.com/office/powerpoint/2010/main" val="18273153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p:txBody>
          <a:bodyPr/>
          <a:lstStyle/>
          <a:p>
            <a:r>
              <a:rPr lang="en-US" b="1" dirty="0"/>
              <a:t>We have shown the conjoint already at many conferences, so I suggest to leave it out</a:t>
            </a:r>
          </a:p>
          <a:p>
            <a:endParaRPr lang="en-US" b="1" dirty="0"/>
          </a:p>
          <a:p>
            <a:r>
              <a:rPr lang="en-US" b="1" dirty="0"/>
              <a:t>I changed the plot here, with countries in different panels. But I can change it back if you prefer the old ones! </a:t>
            </a:r>
          </a:p>
          <a:p>
            <a:endParaRPr lang="en-US" dirty="0"/>
          </a:p>
          <a:p>
            <a:r>
              <a:rPr lang="en-US" dirty="0"/>
              <a:t>AMCEs from the conjoint by generation and by country (two separate plots for the courts and legislature conditions). There's definitely a tendency toward smaller punishment as we move toward the youngest generations. (though the confidence intervals are pretty wide; but I guess since both countries and both conditions show roughly the same pattern, we can have confidence that it's real)</a:t>
            </a:r>
          </a:p>
          <a:p>
            <a:endParaRPr lang="en-CA" dirty="0"/>
          </a:p>
        </p:txBody>
      </p:sp>
      <p:sp>
        <p:nvSpPr>
          <p:cNvPr id="4" name="Slide Number Placeholder 3"/>
          <p:cNvSpPr>
            <a:spLocks noGrp="1"/>
          </p:cNvSpPr>
          <p:nvPr>
            <p:ph type="sldNum" sz="quarter" idx="5"/>
          </p:nvPr>
        </p:nvSpPr>
        <p:spPr/>
        <p:txBody>
          <a:bodyPr/>
          <a:lstStyle/>
          <a:p>
            <a:pPr lvl="0"/>
            <a:fld id="{7D7FC41C-F595-4675-8645-C34283372911}" type="slidenum">
              <a:rPr lang="en-CA" smtClean="0"/>
              <a:t>21</a:t>
            </a:fld>
            <a:endParaRPr lang="en-CA"/>
          </a:p>
        </p:txBody>
      </p:sp>
    </p:spTree>
    <p:extLst>
      <p:ext uri="{BB962C8B-B14F-4D97-AF65-F5344CB8AC3E}">
        <p14:creationId xmlns:p14="http://schemas.microsoft.com/office/powerpoint/2010/main" val="32936025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p:txBody>
          <a:bodyPr/>
          <a:lstStyle/>
          <a:p>
            <a:r>
              <a:rPr lang="en-CA" dirty="0"/>
              <a:t>Note how lockdown policy is visibly more important in Canada vis-</a:t>
            </a:r>
            <a:r>
              <a:rPr lang="en-CA" dirty="0" err="1"/>
              <a:t>avis</a:t>
            </a:r>
            <a:r>
              <a:rPr lang="en-CA" dirty="0"/>
              <a:t> partisanship than in the US (not a good slide for the roundtable)</a:t>
            </a:r>
          </a:p>
        </p:txBody>
      </p:sp>
      <p:sp>
        <p:nvSpPr>
          <p:cNvPr id="4" name="Slide Number Placeholder 3"/>
          <p:cNvSpPr>
            <a:spLocks noGrp="1"/>
          </p:cNvSpPr>
          <p:nvPr>
            <p:ph type="sldNum" sz="quarter" idx="5"/>
          </p:nvPr>
        </p:nvSpPr>
        <p:spPr/>
        <p:txBody>
          <a:bodyPr/>
          <a:lstStyle/>
          <a:p>
            <a:pPr lvl="0"/>
            <a:fld id="{7D7FC41C-F595-4675-8645-C34283372911}" type="slidenum">
              <a:rPr lang="en-CA" smtClean="0"/>
              <a:t>24</a:t>
            </a:fld>
            <a:endParaRPr lang="en-CA"/>
          </a:p>
        </p:txBody>
      </p:sp>
    </p:spTree>
    <p:extLst>
      <p:ext uri="{BB962C8B-B14F-4D97-AF65-F5344CB8AC3E}">
        <p14:creationId xmlns:p14="http://schemas.microsoft.com/office/powerpoint/2010/main" val="17202826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p:txBody>
          <a:bodyPr/>
          <a:lstStyle/>
          <a:p>
            <a:r>
              <a:rPr lang="en-US" dirty="0"/>
              <a:t>Ideology</a:t>
            </a:r>
            <a:r>
              <a:rPr lang="en-US" baseline="0" dirty="0"/>
              <a:t>, class, and race have overtaken Catholic, Protestant, and Union, and to a much greater extent than previous divisions.</a:t>
            </a:r>
          </a:p>
          <a:p>
            <a:r>
              <a:rPr lang="en-US" baseline="0" dirty="0"/>
              <a:t>This is related to a divide that started in 1964.</a:t>
            </a:r>
          </a:p>
          <a:p>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DCA6C944-6D40-9948-B7FB-919B828CCD11}" type="slidenum">
              <a:rPr lang="en-US" smtClean="0"/>
              <a:pPr/>
              <a:t>25</a:t>
            </a:fld>
            <a:endParaRPr lang="en-US"/>
          </a:p>
        </p:txBody>
      </p:sp>
    </p:spTree>
    <p:extLst>
      <p:ext uri="{BB962C8B-B14F-4D97-AF65-F5344CB8AC3E}">
        <p14:creationId xmlns:p14="http://schemas.microsoft.com/office/powerpoint/2010/main" val="18125757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p:txBody>
          <a:bodyPr/>
          <a:lstStyle/>
          <a:p>
            <a:r>
              <a:rPr lang="en-CA" dirty="0"/>
              <a:t>Many more scenarios, also make you aware of the excellent work of BLW here. Maybe highlighting a few more. But our scenarios are not asking about importance but also about whether people think its ok, so goes beyond abstract recognition. </a:t>
            </a:r>
          </a:p>
        </p:txBody>
      </p:sp>
      <p:sp>
        <p:nvSpPr>
          <p:cNvPr id="4" name="Slide Number Placeholder 3"/>
          <p:cNvSpPr>
            <a:spLocks noGrp="1"/>
          </p:cNvSpPr>
          <p:nvPr>
            <p:ph type="sldNum" sz="quarter" idx="5"/>
          </p:nvPr>
        </p:nvSpPr>
        <p:spPr/>
        <p:txBody>
          <a:bodyPr/>
          <a:lstStyle/>
          <a:p>
            <a:pPr lvl="0"/>
            <a:fld id="{7D7FC41C-F595-4675-8645-C34283372911}" type="slidenum">
              <a:rPr lang="en-CA" smtClean="0"/>
              <a:t>28</a:t>
            </a:fld>
            <a:endParaRPr lang="en-CA"/>
          </a:p>
        </p:txBody>
      </p:sp>
    </p:spTree>
    <p:extLst>
      <p:ext uri="{BB962C8B-B14F-4D97-AF65-F5344CB8AC3E}">
        <p14:creationId xmlns:p14="http://schemas.microsoft.com/office/powerpoint/2010/main" val="32293039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p:txBody>
          <a:bodyPr/>
          <a:lstStyle/>
          <a:p>
            <a:r>
              <a:rPr lang="en-CA" dirty="0"/>
              <a:t>Present results here by COVID  anxiety levels and by Governor PID and lockdown policy </a:t>
            </a:r>
            <a:r>
              <a:rPr lang="en-CA" dirty="0" err="1"/>
              <a:t>stance.,First</a:t>
            </a:r>
            <a:r>
              <a:rPr lang="en-CA" dirty="0"/>
              <a:t> of all we see that the party affiliation of the governor does not make a difference at all. Second, we find that COVID anxiety is  a strong factor that determines heavily the decision regarding the governor’s shutdown. As you can see the higher the anxiety (right panel), the higher the attention to COVID policies of the governor to the disregard of executive aggrandizement. A person with very high anxiety who received the vignette that the governor wants the lockdown and the legislature argues against it, has roughly  75% chance to decide that the governor should shut down the legislature. (we also see the effect for ending the lockdown, Q and A). </a:t>
            </a:r>
          </a:p>
        </p:txBody>
      </p:sp>
      <p:sp>
        <p:nvSpPr>
          <p:cNvPr id="4" name="Slide Number Placeholder 3"/>
          <p:cNvSpPr>
            <a:spLocks noGrp="1"/>
          </p:cNvSpPr>
          <p:nvPr>
            <p:ph type="sldNum" sz="quarter" idx="5"/>
          </p:nvPr>
        </p:nvSpPr>
        <p:spPr/>
        <p:txBody>
          <a:bodyPr/>
          <a:lstStyle/>
          <a:p>
            <a:pPr lvl="0"/>
            <a:fld id="{7D7FC41C-F595-4675-8645-C34283372911}" type="slidenum">
              <a:rPr lang="en-CA" smtClean="0"/>
              <a:t>32</a:t>
            </a:fld>
            <a:endParaRPr lang="en-CA"/>
          </a:p>
        </p:txBody>
      </p:sp>
    </p:spTree>
    <p:extLst>
      <p:ext uri="{BB962C8B-B14F-4D97-AF65-F5344CB8AC3E}">
        <p14:creationId xmlns:p14="http://schemas.microsoft.com/office/powerpoint/2010/main" val="2554986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80C47-FCBE-4F62-8C90-F7EC5D9D9738}"/>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en-US"/>
              <a:t>Click to edit Master title style</a:t>
            </a:r>
            <a:endParaRPr lang="en-CA"/>
          </a:p>
        </p:txBody>
      </p:sp>
      <p:sp>
        <p:nvSpPr>
          <p:cNvPr id="3" name="Subtitle 2">
            <a:extLst>
              <a:ext uri="{FF2B5EF4-FFF2-40B4-BE49-F238E27FC236}">
                <a16:creationId xmlns:a16="http://schemas.microsoft.com/office/drawing/2014/main" id="{1DC4C3CF-818C-4658-A741-BFBBF4906807}"/>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en-US"/>
              <a:t>Click to edit Master subtitle style</a:t>
            </a:r>
            <a:endParaRPr lang="en-CA"/>
          </a:p>
        </p:txBody>
      </p:sp>
      <p:sp>
        <p:nvSpPr>
          <p:cNvPr id="4" name="Date Placeholder 3">
            <a:extLst>
              <a:ext uri="{FF2B5EF4-FFF2-40B4-BE49-F238E27FC236}">
                <a16:creationId xmlns:a16="http://schemas.microsoft.com/office/drawing/2014/main" id="{56F69E8E-5DBE-4FE8-BE9A-78936AFF0991}"/>
              </a:ext>
            </a:extLst>
          </p:cNvPr>
          <p:cNvSpPr txBox="1">
            <a:spLocks noGrp="1"/>
          </p:cNvSpPr>
          <p:nvPr>
            <p:ph type="dt" sz="half" idx="7"/>
          </p:nvPr>
        </p:nvSpPr>
        <p:spPr/>
        <p:txBody>
          <a:bodyPr/>
          <a:lstStyle>
            <a:lvl1pPr>
              <a:defRPr/>
            </a:lvl1pPr>
          </a:lstStyle>
          <a:p>
            <a:pPr lvl="0"/>
            <a:fld id="{7719C6C1-349B-45A3-896E-5C8C92D7D039}" type="datetime1">
              <a:rPr lang="en-CA"/>
              <a:pPr lvl="0"/>
              <a:t>2021-04-22</a:t>
            </a:fld>
            <a:endParaRPr lang="en-CA"/>
          </a:p>
        </p:txBody>
      </p:sp>
      <p:sp>
        <p:nvSpPr>
          <p:cNvPr id="5" name="Footer Placeholder 4">
            <a:extLst>
              <a:ext uri="{FF2B5EF4-FFF2-40B4-BE49-F238E27FC236}">
                <a16:creationId xmlns:a16="http://schemas.microsoft.com/office/drawing/2014/main" id="{218F23E9-C0D2-4207-9D63-D8D54F18DB0A}"/>
              </a:ext>
            </a:extLst>
          </p:cNvPr>
          <p:cNvSpPr txBox="1">
            <a:spLocks noGrp="1"/>
          </p:cNvSpPr>
          <p:nvPr>
            <p:ph type="ftr" sz="quarter" idx="9"/>
          </p:nvPr>
        </p:nvSpPr>
        <p:spPr/>
        <p:txBody>
          <a:bodyPr/>
          <a:lstStyle>
            <a:lvl1pPr>
              <a:defRPr/>
            </a:lvl1pPr>
          </a:lstStyle>
          <a:p>
            <a:pPr lvl="0"/>
            <a:endParaRPr lang="en-CA"/>
          </a:p>
        </p:txBody>
      </p:sp>
      <p:sp>
        <p:nvSpPr>
          <p:cNvPr id="6" name="Slide Number Placeholder 5">
            <a:extLst>
              <a:ext uri="{FF2B5EF4-FFF2-40B4-BE49-F238E27FC236}">
                <a16:creationId xmlns:a16="http://schemas.microsoft.com/office/drawing/2014/main" id="{25C6E79D-18DB-4A13-A857-4D372EA298C9}"/>
              </a:ext>
            </a:extLst>
          </p:cNvPr>
          <p:cNvSpPr txBox="1">
            <a:spLocks noGrp="1"/>
          </p:cNvSpPr>
          <p:nvPr>
            <p:ph type="sldNum" sz="quarter" idx="8"/>
          </p:nvPr>
        </p:nvSpPr>
        <p:spPr/>
        <p:txBody>
          <a:bodyPr/>
          <a:lstStyle>
            <a:lvl1pPr>
              <a:defRPr/>
            </a:lvl1pPr>
          </a:lstStyle>
          <a:p>
            <a:pPr lvl="0"/>
            <a:fld id="{4A5CB9A3-8C67-4B93-9544-211F158488EA}" type="slidenum">
              <a:t>‹#›</a:t>
            </a:fld>
            <a:endParaRPr lang="en-CA"/>
          </a:p>
        </p:txBody>
      </p:sp>
    </p:spTree>
    <p:extLst>
      <p:ext uri="{BB962C8B-B14F-4D97-AF65-F5344CB8AC3E}">
        <p14:creationId xmlns:p14="http://schemas.microsoft.com/office/powerpoint/2010/main" val="3633435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B13A0-9AE7-4C14-AF90-F3906EA4FA10}"/>
              </a:ext>
            </a:extLst>
          </p:cNvPr>
          <p:cNvSpPr txBox="1">
            <a:spLocks noGrp="1"/>
          </p:cNvSpPr>
          <p:nvPr>
            <p:ph type="title"/>
          </p:nvPr>
        </p:nvSpPr>
        <p:spPr/>
        <p:txBody>
          <a:bodyPr/>
          <a:lstStyle>
            <a:lvl1pPr>
              <a:defRPr/>
            </a:lvl1pPr>
          </a:lstStyle>
          <a:p>
            <a:pPr lvl="0"/>
            <a:r>
              <a:rPr lang="en-US"/>
              <a:t>Click to edit Master title style</a:t>
            </a:r>
            <a:endParaRPr lang="en-CA"/>
          </a:p>
        </p:txBody>
      </p:sp>
      <p:sp>
        <p:nvSpPr>
          <p:cNvPr id="3" name="Content Placeholder 2">
            <a:extLst>
              <a:ext uri="{FF2B5EF4-FFF2-40B4-BE49-F238E27FC236}">
                <a16:creationId xmlns:a16="http://schemas.microsoft.com/office/drawing/2014/main" id="{56D9D8B5-568E-4260-9236-C626FD3E0B85}"/>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4172932-2C99-47CE-B2DD-54F33D486199}"/>
              </a:ext>
            </a:extLst>
          </p:cNvPr>
          <p:cNvSpPr txBox="1">
            <a:spLocks noGrp="1"/>
          </p:cNvSpPr>
          <p:nvPr>
            <p:ph type="dt" sz="half" idx="7"/>
          </p:nvPr>
        </p:nvSpPr>
        <p:spPr/>
        <p:txBody>
          <a:bodyPr/>
          <a:lstStyle>
            <a:lvl1pPr>
              <a:defRPr/>
            </a:lvl1pPr>
          </a:lstStyle>
          <a:p>
            <a:pPr lvl="0"/>
            <a:fld id="{64E9A1E7-935A-4D76-A6DC-25A65117521E}" type="datetime1">
              <a:rPr lang="en-CA"/>
              <a:pPr lvl="0"/>
              <a:t>2021-04-22</a:t>
            </a:fld>
            <a:endParaRPr lang="en-CA"/>
          </a:p>
        </p:txBody>
      </p:sp>
      <p:sp>
        <p:nvSpPr>
          <p:cNvPr id="5" name="Footer Placeholder 4">
            <a:extLst>
              <a:ext uri="{FF2B5EF4-FFF2-40B4-BE49-F238E27FC236}">
                <a16:creationId xmlns:a16="http://schemas.microsoft.com/office/drawing/2014/main" id="{73745846-9F1A-4D40-80AB-2FC9A7EEC37F}"/>
              </a:ext>
            </a:extLst>
          </p:cNvPr>
          <p:cNvSpPr txBox="1">
            <a:spLocks noGrp="1"/>
          </p:cNvSpPr>
          <p:nvPr>
            <p:ph type="ftr" sz="quarter" idx="9"/>
          </p:nvPr>
        </p:nvSpPr>
        <p:spPr/>
        <p:txBody>
          <a:bodyPr/>
          <a:lstStyle>
            <a:lvl1pPr>
              <a:defRPr/>
            </a:lvl1pPr>
          </a:lstStyle>
          <a:p>
            <a:pPr lvl="0"/>
            <a:endParaRPr lang="en-CA"/>
          </a:p>
        </p:txBody>
      </p:sp>
      <p:sp>
        <p:nvSpPr>
          <p:cNvPr id="6" name="Slide Number Placeholder 5">
            <a:extLst>
              <a:ext uri="{FF2B5EF4-FFF2-40B4-BE49-F238E27FC236}">
                <a16:creationId xmlns:a16="http://schemas.microsoft.com/office/drawing/2014/main" id="{83837ADA-5920-4EEC-9EB7-A2200A890B82}"/>
              </a:ext>
            </a:extLst>
          </p:cNvPr>
          <p:cNvSpPr txBox="1">
            <a:spLocks noGrp="1"/>
          </p:cNvSpPr>
          <p:nvPr>
            <p:ph type="sldNum" sz="quarter" idx="8"/>
          </p:nvPr>
        </p:nvSpPr>
        <p:spPr/>
        <p:txBody>
          <a:bodyPr/>
          <a:lstStyle>
            <a:lvl1pPr>
              <a:defRPr/>
            </a:lvl1pPr>
          </a:lstStyle>
          <a:p>
            <a:pPr lvl="0"/>
            <a:fld id="{0CEFC494-FF8C-48D5-9E16-5AA1F76D997A}" type="slidenum">
              <a:t>‹#›</a:t>
            </a:fld>
            <a:endParaRPr lang="en-CA"/>
          </a:p>
        </p:txBody>
      </p:sp>
    </p:spTree>
    <p:extLst>
      <p:ext uri="{BB962C8B-B14F-4D97-AF65-F5344CB8AC3E}">
        <p14:creationId xmlns:p14="http://schemas.microsoft.com/office/powerpoint/2010/main" val="245489342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26F84-6F35-449A-BA78-159150CCA422}"/>
              </a:ext>
            </a:extLst>
          </p:cNvPr>
          <p:cNvSpPr txBox="1">
            <a:spLocks noGrp="1"/>
          </p:cNvSpPr>
          <p:nvPr>
            <p:ph type="title"/>
          </p:nvPr>
        </p:nvSpPr>
        <p:spPr>
          <a:xfrm>
            <a:off x="831847" y="1709735"/>
            <a:ext cx="10515600" cy="2852735"/>
          </a:xfrm>
        </p:spPr>
        <p:txBody>
          <a:bodyPr anchor="b"/>
          <a:lstStyle>
            <a:lvl1pPr>
              <a:defRPr sz="6000"/>
            </a:lvl1pPr>
          </a:lstStyle>
          <a:p>
            <a:pPr lvl="0"/>
            <a:r>
              <a:rPr lang="en-US"/>
              <a:t>Click to edit Master title style</a:t>
            </a:r>
            <a:endParaRPr lang="en-CA"/>
          </a:p>
        </p:txBody>
      </p:sp>
      <p:sp>
        <p:nvSpPr>
          <p:cNvPr id="3" name="Text Placeholder 2">
            <a:extLst>
              <a:ext uri="{FF2B5EF4-FFF2-40B4-BE49-F238E27FC236}">
                <a16:creationId xmlns:a16="http://schemas.microsoft.com/office/drawing/2014/main" id="{C17B1B0E-8347-4B33-83E6-03ACEC85E496}"/>
              </a:ext>
            </a:extLst>
          </p:cNvPr>
          <p:cNvSpPr txBox="1">
            <a:spLocks noGrp="1"/>
          </p:cNvSpPr>
          <p:nvPr>
            <p:ph type="body" idx="1"/>
          </p:nvPr>
        </p:nvSpPr>
        <p:spPr>
          <a:xfrm>
            <a:off x="831847" y="4589465"/>
            <a:ext cx="10515600" cy="1500182"/>
          </a:xfrm>
        </p:spPr>
        <p:txBody>
          <a:bodyPr/>
          <a:lstStyle>
            <a:lvl1pPr marL="0" indent="0">
              <a:buNone/>
              <a:defRPr sz="2400">
                <a:solidFill>
                  <a:srgbClr val="898989"/>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3E07264F-B447-43E9-881D-34F0A313069A}"/>
              </a:ext>
            </a:extLst>
          </p:cNvPr>
          <p:cNvSpPr txBox="1">
            <a:spLocks noGrp="1"/>
          </p:cNvSpPr>
          <p:nvPr>
            <p:ph type="dt" sz="half" idx="7"/>
          </p:nvPr>
        </p:nvSpPr>
        <p:spPr/>
        <p:txBody>
          <a:bodyPr/>
          <a:lstStyle>
            <a:lvl1pPr>
              <a:defRPr/>
            </a:lvl1pPr>
          </a:lstStyle>
          <a:p>
            <a:pPr lvl="0"/>
            <a:fld id="{B12031B8-15E2-45B0-991F-3E807451D0F4}" type="datetime1">
              <a:rPr lang="en-CA"/>
              <a:pPr lvl="0"/>
              <a:t>2021-04-22</a:t>
            </a:fld>
            <a:endParaRPr lang="en-CA"/>
          </a:p>
        </p:txBody>
      </p:sp>
      <p:sp>
        <p:nvSpPr>
          <p:cNvPr id="5" name="Footer Placeholder 4">
            <a:extLst>
              <a:ext uri="{FF2B5EF4-FFF2-40B4-BE49-F238E27FC236}">
                <a16:creationId xmlns:a16="http://schemas.microsoft.com/office/drawing/2014/main" id="{D178D4FA-F1CF-4F1F-8029-F618F926E2DE}"/>
              </a:ext>
            </a:extLst>
          </p:cNvPr>
          <p:cNvSpPr txBox="1">
            <a:spLocks noGrp="1"/>
          </p:cNvSpPr>
          <p:nvPr>
            <p:ph type="ftr" sz="quarter" idx="9"/>
          </p:nvPr>
        </p:nvSpPr>
        <p:spPr/>
        <p:txBody>
          <a:bodyPr/>
          <a:lstStyle>
            <a:lvl1pPr>
              <a:defRPr/>
            </a:lvl1pPr>
          </a:lstStyle>
          <a:p>
            <a:pPr lvl="0"/>
            <a:endParaRPr lang="en-CA"/>
          </a:p>
        </p:txBody>
      </p:sp>
      <p:sp>
        <p:nvSpPr>
          <p:cNvPr id="6" name="Slide Number Placeholder 5">
            <a:extLst>
              <a:ext uri="{FF2B5EF4-FFF2-40B4-BE49-F238E27FC236}">
                <a16:creationId xmlns:a16="http://schemas.microsoft.com/office/drawing/2014/main" id="{976EA035-FEF5-4D17-99ED-9DC9C934AAA1}"/>
              </a:ext>
            </a:extLst>
          </p:cNvPr>
          <p:cNvSpPr txBox="1">
            <a:spLocks noGrp="1"/>
          </p:cNvSpPr>
          <p:nvPr>
            <p:ph type="sldNum" sz="quarter" idx="8"/>
          </p:nvPr>
        </p:nvSpPr>
        <p:spPr/>
        <p:txBody>
          <a:bodyPr/>
          <a:lstStyle>
            <a:lvl1pPr>
              <a:defRPr/>
            </a:lvl1pPr>
          </a:lstStyle>
          <a:p>
            <a:pPr lvl="0"/>
            <a:fld id="{603A56DA-DD10-43D2-AAD3-B043B3009646}" type="slidenum">
              <a:t>‹#›</a:t>
            </a:fld>
            <a:endParaRPr lang="en-CA"/>
          </a:p>
        </p:txBody>
      </p:sp>
    </p:spTree>
    <p:extLst>
      <p:ext uri="{BB962C8B-B14F-4D97-AF65-F5344CB8AC3E}">
        <p14:creationId xmlns:p14="http://schemas.microsoft.com/office/powerpoint/2010/main" val="31276902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6011F-13D8-4ED5-9AC5-12D9C685A5F8}"/>
              </a:ext>
            </a:extLst>
          </p:cNvPr>
          <p:cNvSpPr txBox="1">
            <a:spLocks noGrp="1"/>
          </p:cNvSpPr>
          <p:nvPr>
            <p:ph type="title"/>
          </p:nvPr>
        </p:nvSpPr>
        <p:spPr/>
        <p:txBody>
          <a:bodyPr/>
          <a:lstStyle>
            <a:lvl1pPr>
              <a:defRPr/>
            </a:lvl1pPr>
          </a:lstStyle>
          <a:p>
            <a:pPr lvl="0"/>
            <a:r>
              <a:rPr lang="en-US"/>
              <a:t>Click to edit Master title style</a:t>
            </a:r>
            <a:endParaRPr lang="en-CA"/>
          </a:p>
        </p:txBody>
      </p:sp>
      <p:sp>
        <p:nvSpPr>
          <p:cNvPr id="3" name="Content Placeholder 2">
            <a:extLst>
              <a:ext uri="{FF2B5EF4-FFF2-40B4-BE49-F238E27FC236}">
                <a16:creationId xmlns:a16="http://schemas.microsoft.com/office/drawing/2014/main" id="{CD84FD71-BAC2-47BA-80E6-E1E5525FCD8D}"/>
              </a:ext>
            </a:extLst>
          </p:cNvPr>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6E1B7C0A-598B-423D-AB4B-E336B0136B8F}"/>
              </a:ext>
            </a:extLst>
          </p:cNvPr>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AE32AC96-F621-4685-B4DD-07CBACE1B3F5}"/>
              </a:ext>
            </a:extLst>
          </p:cNvPr>
          <p:cNvSpPr txBox="1">
            <a:spLocks noGrp="1"/>
          </p:cNvSpPr>
          <p:nvPr>
            <p:ph type="dt" sz="half" idx="7"/>
          </p:nvPr>
        </p:nvSpPr>
        <p:spPr/>
        <p:txBody>
          <a:bodyPr/>
          <a:lstStyle>
            <a:lvl1pPr>
              <a:defRPr/>
            </a:lvl1pPr>
          </a:lstStyle>
          <a:p>
            <a:pPr lvl="0"/>
            <a:fld id="{5352A3D3-91F1-49FE-9B1C-EE5960EDB472}" type="datetime1">
              <a:rPr lang="en-CA"/>
              <a:pPr lvl="0"/>
              <a:t>2021-04-22</a:t>
            </a:fld>
            <a:endParaRPr lang="en-CA"/>
          </a:p>
        </p:txBody>
      </p:sp>
      <p:sp>
        <p:nvSpPr>
          <p:cNvPr id="6" name="Footer Placeholder 5">
            <a:extLst>
              <a:ext uri="{FF2B5EF4-FFF2-40B4-BE49-F238E27FC236}">
                <a16:creationId xmlns:a16="http://schemas.microsoft.com/office/drawing/2014/main" id="{E96E8942-7D35-4C81-9505-9A69C0337BA2}"/>
              </a:ext>
            </a:extLst>
          </p:cNvPr>
          <p:cNvSpPr txBox="1">
            <a:spLocks noGrp="1"/>
          </p:cNvSpPr>
          <p:nvPr>
            <p:ph type="ftr" sz="quarter" idx="9"/>
          </p:nvPr>
        </p:nvSpPr>
        <p:spPr/>
        <p:txBody>
          <a:bodyPr/>
          <a:lstStyle>
            <a:lvl1pPr>
              <a:defRPr/>
            </a:lvl1pPr>
          </a:lstStyle>
          <a:p>
            <a:pPr lvl="0"/>
            <a:endParaRPr lang="en-CA"/>
          </a:p>
        </p:txBody>
      </p:sp>
      <p:sp>
        <p:nvSpPr>
          <p:cNvPr id="7" name="Slide Number Placeholder 6">
            <a:extLst>
              <a:ext uri="{FF2B5EF4-FFF2-40B4-BE49-F238E27FC236}">
                <a16:creationId xmlns:a16="http://schemas.microsoft.com/office/drawing/2014/main" id="{C81B6D41-940E-4FA1-AAC7-A0BA6C7010CA}"/>
              </a:ext>
            </a:extLst>
          </p:cNvPr>
          <p:cNvSpPr txBox="1">
            <a:spLocks noGrp="1"/>
          </p:cNvSpPr>
          <p:nvPr>
            <p:ph type="sldNum" sz="quarter" idx="8"/>
          </p:nvPr>
        </p:nvSpPr>
        <p:spPr/>
        <p:txBody>
          <a:bodyPr/>
          <a:lstStyle>
            <a:lvl1pPr>
              <a:defRPr/>
            </a:lvl1pPr>
          </a:lstStyle>
          <a:p>
            <a:pPr lvl="0"/>
            <a:fld id="{615C8B43-BAE1-4281-B732-93D5FE1C6781}" type="slidenum">
              <a:t>‹#›</a:t>
            </a:fld>
            <a:endParaRPr lang="en-CA"/>
          </a:p>
        </p:txBody>
      </p:sp>
    </p:spTree>
    <p:extLst>
      <p:ext uri="{BB962C8B-B14F-4D97-AF65-F5344CB8AC3E}">
        <p14:creationId xmlns:p14="http://schemas.microsoft.com/office/powerpoint/2010/main" val="2383146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F174C-7792-4B63-8D88-125D3B4DD49E}"/>
              </a:ext>
            </a:extLst>
          </p:cNvPr>
          <p:cNvSpPr txBox="1">
            <a:spLocks noGrp="1"/>
          </p:cNvSpPr>
          <p:nvPr>
            <p:ph type="title"/>
          </p:nvPr>
        </p:nvSpPr>
        <p:spPr>
          <a:xfrm>
            <a:off x="839784" y="365129"/>
            <a:ext cx="10515600" cy="1325559"/>
          </a:xfrm>
        </p:spPr>
        <p:txBody>
          <a:bodyPr/>
          <a:lstStyle>
            <a:lvl1pPr>
              <a:defRPr/>
            </a:lvl1pPr>
          </a:lstStyle>
          <a:p>
            <a:pPr lvl="0"/>
            <a:r>
              <a:rPr lang="en-US"/>
              <a:t>Click to edit Master title style</a:t>
            </a:r>
            <a:endParaRPr lang="en-CA"/>
          </a:p>
        </p:txBody>
      </p:sp>
      <p:sp>
        <p:nvSpPr>
          <p:cNvPr id="3" name="Text Placeholder 2">
            <a:extLst>
              <a:ext uri="{FF2B5EF4-FFF2-40B4-BE49-F238E27FC236}">
                <a16:creationId xmlns:a16="http://schemas.microsoft.com/office/drawing/2014/main" id="{56B2FCC1-BD90-4646-B47D-E17C623D3317}"/>
              </a:ext>
            </a:extLst>
          </p:cNvPr>
          <p:cNvSpPr txBox="1">
            <a:spLocks noGrp="1"/>
          </p:cNvSpPr>
          <p:nvPr>
            <p:ph type="body" idx="1"/>
          </p:nvPr>
        </p:nvSpPr>
        <p:spPr>
          <a:xfrm>
            <a:off x="839784" y="1681160"/>
            <a:ext cx="5157782" cy="823910"/>
          </a:xfrm>
        </p:spPr>
        <p:txBody>
          <a:bodyPr anchor="b"/>
          <a:lstStyle>
            <a:lvl1pPr marL="0" indent="0">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0CEB0C5C-F154-4F59-A632-DF27217290D7}"/>
              </a:ext>
            </a:extLst>
          </p:cNvPr>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BF2E58C5-E28D-4B14-A8A5-CA1FCB1B64FE}"/>
              </a:ext>
            </a:extLst>
          </p:cNvPr>
          <p:cNvSpPr txBox="1">
            <a:spLocks noGrp="1"/>
          </p:cNvSpPr>
          <p:nvPr>
            <p:ph type="body" idx="3"/>
          </p:nvPr>
        </p:nvSpPr>
        <p:spPr>
          <a:xfrm>
            <a:off x="6172200" y="1681160"/>
            <a:ext cx="5183184" cy="823910"/>
          </a:xfrm>
        </p:spPr>
        <p:txBody>
          <a:bodyPr anchor="b"/>
          <a:lstStyle>
            <a:lvl1pPr marL="0" indent="0">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17D8F6A8-71F8-4BC4-84A5-3B660293190B}"/>
              </a:ext>
            </a:extLst>
          </p:cNvPr>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4C2843BA-90B6-4209-B83C-2FA5E71DC097}"/>
              </a:ext>
            </a:extLst>
          </p:cNvPr>
          <p:cNvSpPr txBox="1">
            <a:spLocks noGrp="1"/>
          </p:cNvSpPr>
          <p:nvPr>
            <p:ph type="dt" sz="half" idx="7"/>
          </p:nvPr>
        </p:nvSpPr>
        <p:spPr/>
        <p:txBody>
          <a:bodyPr/>
          <a:lstStyle>
            <a:lvl1pPr>
              <a:defRPr/>
            </a:lvl1pPr>
          </a:lstStyle>
          <a:p>
            <a:pPr lvl="0"/>
            <a:fld id="{BED6A72B-362B-4662-BEE7-46D92DE9D8C1}" type="datetime1">
              <a:rPr lang="en-CA"/>
              <a:pPr lvl="0"/>
              <a:t>2021-04-22</a:t>
            </a:fld>
            <a:endParaRPr lang="en-CA"/>
          </a:p>
        </p:txBody>
      </p:sp>
      <p:sp>
        <p:nvSpPr>
          <p:cNvPr id="8" name="Footer Placeholder 7">
            <a:extLst>
              <a:ext uri="{FF2B5EF4-FFF2-40B4-BE49-F238E27FC236}">
                <a16:creationId xmlns:a16="http://schemas.microsoft.com/office/drawing/2014/main" id="{B2988030-AF33-4F66-9A29-43F8972CF75F}"/>
              </a:ext>
            </a:extLst>
          </p:cNvPr>
          <p:cNvSpPr txBox="1">
            <a:spLocks noGrp="1"/>
          </p:cNvSpPr>
          <p:nvPr>
            <p:ph type="ftr" sz="quarter" idx="9"/>
          </p:nvPr>
        </p:nvSpPr>
        <p:spPr/>
        <p:txBody>
          <a:bodyPr/>
          <a:lstStyle>
            <a:lvl1pPr>
              <a:defRPr/>
            </a:lvl1pPr>
          </a:lstStyle>
          <a:p>
            <a:pPr lvl="0"/>
            <a:endParaRPr lang="en-CA"/>
          </a:p>
        </p:txBody>
      </p:sp>
      <p:sp>
        <p:nvSpPr>
          <p:cNvPr id="9" name="Slide Number Placeholder 8">
            <a:extLst>
              <a:ext uri="{FF2B5EF4-FFF2-40B4-BE49-F238E27FC236}">
                <a16:creationId xmlns:a16="http://schemas.microsoft.com/office/drawing/2014/main" id="{A031F6DC-202D-4F1D-961F-732B310B1E87}"/>
              </a:ext>
            </a:extLst>
          </p:cNvPr>
          <p:cNvSpPr txBox="1">
            <a:spLocks noGrp="1"/>
          </p:cNvSpPr>
          <p:nvPr>
            <p:ph type="sldNum" sz="quarter" idx="8"/>
          </p:nvPr>
        </p:nvSpPr>
        <p:spPr/>
        <p:txBody>
          <a:bodyPr/>
          <a:lstStyle>
            <a:lvl1pPr>
              <a:defRPr/>
            </a:lvl1pPr>
          </a:lstStyle>
          <a:p>
            <a:pPr lvl="0"/>
            <a:fld id="{4760775F-88EC-4A0F-A73F-5D59A77EF511}" type="slidenum">
              <a:t>‹#›</a:t>
            </a:fld>
            <a:endParaRPr lang="en-CA"/>
          </a:p>
        </p:txBody>
      </p:sp>
    </p:spTree>
    <p:extLst>
      <p:ext uri="{BB962C8B-B14F-4D97-AF65-F5344CB8AC3E}">
        <p14:creationId xmlns:p14="http://schemas.microsoft.com/office/powerpoint/2010/main" val="3386211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4426E-AE25-4698-8209-373524568E01}"/>
              </a:ext>
            </a:extLst>
          </p:cNvPr>
          <p:cNvSpPr txBox="1">
            <a:spLocks noGrp="1"/>
          </p:cNvSpPr>
          <p:nvPr>
            <p:ph type="title"/>
          </p:nvPr>
        </p:nvSpPr>
        <p:spPr/>
        <p:txBody>
          <a:bodyPr/>
          <a:lstStyle>
            <a:lvl1pPr>
              <a:defRPr/>
            </a:lvl1pPr>
          </a:lstStyle>
          <a:p>
            <a:pPr lvl="0"/>
            <a:r>
              <a:rPr lang="en-US"/>
              <a:t>Click to edit Master title style</a:t>
            </a:r>
            <a:endParaRPr lang="en-CA"/>
          </a:p>
        </p:txBody>
      </p:sp>
      <p:sp>
        <p:nvSpPr>
          <p:cNvPr id="3" name="Date Placeholder 2">
            <a:extLst>
              <a:ext uri="{FF2B5EF4-FFF2-40B4-BE49-F238E27FC236}">
                <a16:creationId xmlns:a16="http://schemas.microsoft.com/office/drawing/2014/main" id="{0F695873-DBBA-4744-88B7-DC747933293D}"/>
              </a:ext>
            </a:extLst>
          </p:cNvPr>
          <p:cNvSpPr txBox="1">
            <a:spLocks noGrp="1"/>
          </p:cNvSpPr>
          <p:nvPr>
            <p:ph type="dt" sz="half" idx="7"/>
          </p:nvPr>
        </p:nvSpPr>
        <p:spPr/>
        <p:txBody>
          <a:bodyPr/>
          <a:lstStyle>
            <a:lvl1pPr>
              <a:defRPr/>
            </a:lvl1pPr>
          </a:lstStyle>
          <a:p>
            <a:pPr lvl="0"/>
            <a:fld id="{94F7EEEF-9374-4536-836C-136AA736CF7A}" type="datetime1">
              <a:rPr lang="en-CA"/>
              <a:pPr lvl="0"/>
              <a:t>2021-04-22</a:t>
            </a:fld>
            <a:endParaRPr lang="en-CA"/>
          </a:p>
        </p:txBody>
      </p:sp>
      <p:sp>
        <p:nvSpPr>
          <p:cNvPr id="4" name="Footer Placeholder 3">
            <a:extLst>
              <a:ext uri="{FF2B5EF4-FFF2-40B4-BE49-F238E27FC236}">
                <a16:creationId xmlns:a16="http://schemas.microsoft.com/office/drawing/2014/main" id="{42EE09CC-8B0D-41FE-921D-CD892F2A5C63}"/>
              </a:ext>
            </a:extLst>
          </p:cNvPr>
          <p:cNvSpPr txBox="1">
            <a:spLocks noGrp="1"/>
          </p:cNvSpPr>
          <p:nvPr>
            <p:ph type="ftr" sz="quarter" idx="9"/>
          </p:nvPr>
        </p:nvSpPr>
        <p:spPr/>
        <p:txBody>
          <a:bodyPr/>
          <a:lstStyle>
            <a:lvl1pPr>
              <a:defRPr/>
            </a:lvl1pPr>
          </a:lstStyle>
          <a:p>
            <a:pPr lvl="0"/>
            <a:endParaRPr lang="en-CA"/>
          </a:p>
        </p:txBody>
      </p:sp>
      <p:sp>
        <p:nvSpPr>
          <p:cNvPr id="5" name="Slide Number Placeholder 4">
            <a:extLst>
              <a:ext uri="{FF2B5EF4-FFF2-40B4-BE49-F238E27FC236}">
                <a16:creationId xmlns:a16="http://schemas.microsoft.com/office/drawing/2014/main" id="{F914862F-F9F5-4DD2-97F3-312580655A7B}"/>
              </a:ext>
            </a:extLst>
          </p:cNvPr>
          <p:cNvSpPr txBox="1">
            <a:spLocks noGrp="1"/>
          </p:cNvSpPr>
          <p:nvPr>
            <p:ph type="sldNum" sz="quarter" idx="8"/>
          </p:nvPr>
        </p:nvSpPr>
        <p:spPr/>
        <p:txBody>
          <a:bodyPr/>
          <a:lstStyle>
            <a:lvl1pPr>
              <a:defRPr/>
            </a:lvl1pPr>
          </a:lstStyle>
          <a:p>
            <a:pPr lvl="0"/>
            <a:fld id="{66190472-7F8C-413D-BC70-C4028F10AB76}" type="slidenum">
              <a:t>‹#›</a:t>
            </a:fld>
            <a:endParaRPr lang="en-CA"/>
          </a:p>
        </p:txBody>
      </p:sp>
    </p:spTree>
    <p:extLst>
      <p:ext uri="{BB962C8B-B14F-4D97-AF65-F5344CB8AC3E}">
        <p14:creationId xmlns:p14="http://schemas.microsoft.com/office/powerpoint/2010/main" val="177649212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A00D47-C62B-4126-BB16-95BBA760DFAE}"/>
              </a:ext>
            </a:extLst>
          </p:cNvPr>
          <p:cNvSpPr txBox="1">
            <a:spLocks noGrp="1"/>
          </p:cNvSpPr>
          <p:nvPr>
            <p:ph type="dt" sz="half" idx="7"/>
          </p:nvPr>
        </p:nvSpPr>
        <p:spPr/>
        <p:txBody>
          <a:bodyPr/>
          <a:lstStyle>
            <a:lvl1pPr>
              <a:defRPr/>
            </a:lvl1pPr>
          </a:lstStyle>
          <a:p>
            <a:pPr lvl="0"/>
            <a:fld id="{D55CCD28-4189-43F1-AC15-B079C54E7711}" type="datetime1">
              <a:rPr lang="en-CA"/>
              <a:pPr lvl="0"/>
              <a:t>2021-04-22</a:t>
            </a:fld>
            <a:endParaRPr lang="en-CA"/>
          </a:p>
        </p:txBody>
      </p:sp>
      <p:sp>
        <p:nvSpPr>
          <p:cNvPr id="3" name="Footer Placeholder 2">
            <a:extLst>
              <a:ext uri="{FF2B5EF4-FFF2-40B4-BE49-F238E27FC236}">
                <a16:creationId xmlns:a16="http://schemas.microsoft.com/office/drawing/2014/main" id="{9A262501-1EAD-4AB8-8E93-69DFC7D2EDDF}"/>
              </a:ext>
            </a:extLst>
          </p:cNvPr>
          <p:cNvSpPr txBox="1">
            <a:spLocks noGrp="1"/>
          </p:cNvSpPr>
          <p:nvPr>
            <p:ph type="ftr" sz="quarter" idx="9"/>
          </p:nvPr>
        </p:nvSpPr>
        <p:spPr/>
        <p:txBody>
          <a:bodyPr/>
          <a:lstStyle>
            <a:lvl1pPr>
              <a:defRPr/>
            </a:lvl1pPr>
          </a:lstStyle>
          <a:p>
            <a:pPr lvl="0"/>
            <a:endParaRPr lang="en-CA"/>
          </a:p>
        </p:txBody>
      </p:sp>
      <p:sp>
        <p:nvSpPr>
          <p:cNvPr id="4" name="Slide Number Placeholder 3">
            <a:extLst>
              <a:ext uri="{FF2B5EF4-FFF2-40B4-BE49-F238E27FC236}">
                <a16:creationId xmlns:a16="http://schemas.microsoft.com/office/drawing/2014/main" id="{937C4CF8-AD89-4A93-B83C-93721674CEF6}"/>
              </a:ext>
            </a:extLst>
          </p:cNvPr>
          <p:cNvSpPr txBox="1">
            <a:spLocks noGrp="1"/>
          </p:cNvSpPr>
          <p:nvPr>
            <p:ph type="sldNum" sz="quarter" idx="8"/>
          </p:nvPr>
        </p:nvSpPr>
        <p:spPr/>
        <p:txBody>
          <a:bodyPr/>
          <a:lstStyle>
            <a:lvl1pPr>
              <a:defRPr/>
            </a:lvl1pPr>
          </a:lstStyle>
          <a:p>
            <a:pPr lvl="0"/>
            <a:fld id="{CCC64C46-2FCE-4C0A-85CD-B7177503E79C}" type="slidenum">
              <a:t>‹#›</a:t>
            </a:fld>
            <a:endParaRPr lang="en-CA"/>
          </a:p>
        </p:txBody>
      </p:sp>
    </p:spTree>
    <p:extLst>
      <p:ext uri="{BB962C8B-B14F-4D97-AF65-F5344CB8AC3E}">
        <p14:creationId xmlns:p14="http://schemas.microsoft.com/office/powerpoint/2010/main" val="191780257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D0F99-1BF3-4662-B3E9-0AA1BF497911}"/>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CA"/>
          </a:p>
        </p:txBody>
      </p:sp>
      <p:sp>
        <p:nvSpPr>
          <p:cNvPr id="3" name="Content Placeholder 2">
            <a:extLst>
              <a:ext uri="{FF2B5EF4-FFF2-40B4-BE49-F238E27FC236}">
                <a16:creationId xmlns:a16="http://schemas.microsoft.com/office/drawing/2014/main" id="{2E743648-FB7D-4754-AC53-B4B9D479C081}"/>
              </a:ext>
            </a:extLst>
          </p:cNvPr>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C3A54FA4-D898-4661-BAE1-A0EA60A1DD80}"/>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79EA9C45-C9C8-43AA-BB8C-18628AEDD7DF}"/>
              </a:ext>
            </a:extLst>
          </p:cNvPr>
          <p:cNvSpPr txBox="1">
            <a:spLocks noGrp="1"/>
          </p:cNvSpPr>
          <p:nvPr>
            <p:ph type="dt" sz="half" idx="7"/>
          </p:nvPr>
        </p:nvSpPr>
        <p:spPr/>
        <p:txBody>
          <a:bodyPr/>
          <a:lstStyle>
            <a:lvl1pPr>
              <a:defRPr/>
            </a:lvl1pPr>
          </a:lstStyle>
          <a:p>
            <a:pPr lvl="0"/>
            <a:fld id="{5290263A-48D6-4676-9660-2475F12FA0FF}" type="datetime1">
              <a:rPr lang="en-CA"/>
              <a:pPr lvl="0"/>
              <a:t>2021-04-22</a:t>
            </a:fld>
            <a:endParaRPr lang="en-CA"/>
          </a:p>
        </p:txBody>
      </p:sp>
      <p:sp>
        <p:nvSpPr>
          <p:cNvPr id="6" name="Footer Placeholder 5">
            <a:extLst>
              <a:ext uri="{FF2B5EF4-FFF2-40B4-BE49-F238E27FC236}">
                <a16:creationId xmlns:a16="http://schemas.microsoft.com/office/drawing/2014/main" id="{039FAD05-CA9B-42AC-9C28-B2BEAE2DE35D}"/>
              </a:ext>
            </a:extLst>
          </p:cNvPr>
          <p:cNvSpPr txBox="1">
            <a:spLocks noGrp="1"/>
          </p:cNvSpPr>
          <p:nvPr>
            <p:ph type="ftr" sz="quarter" idx="9"/>
          </p:nvPr>
        </p:nvSpPr>
        <p:spPr/>
        <p:txBody>
          <a:bodyPr/>
          <a:lstStyle>
            <a:lvl1pPr>
              <a:defRPr/>
            </a:lvl1pPr>
          </a:lstStyle>
          <a:p>
            <a:pPr lvl="0"/>
            <a:endParaRPr lang="en-CA"/>
          </a:p>
        </p:txBody>
      </p:sp>
      <p:sp>
        <p:nvSpPr>
          <p:cNvPr id="7" name="Slide Number Placeholder 6">
            <a:extLst>
              <a:ext uri="{FF2B5EF4-FFF2-40B4-BE49-F238E27FC236}">
                <a16:creationId xmlns:a16="http://schemas.microsoft.com/office/drawing/2014/main" id="{12578472-97B0-428A-8F1E-613C9D7494E0}"/>
              </a:ext>
            </a:extLst>
          </p:cNvPr>
          <p:cNvSpPr txBox="1">
            <a:spLocks noGrp="1"/>
          </p:cNvSpPr>
          <p:nvPr>
            <p:ph type="sldNum" sz="quarter" idx="8"/>
          </p:nvPr>
        </p:nvSpPr>
        <p:spPr/>
        <p:txBody>
          <a:bodyPr/>
          <a:lstStyle>
            <a:lvl1pPr>
              <a:defRPr/>
            </a:lvl1pPr>
          </a:lstStyle>
          <a:p>
            <a:pPr lvl="0"/>
            <a:fld id="{4E155853-C93B-42FD-BBE5-C35548A46242}" type="slidenum">
              <a:t>‹#›</a:t>
            </a:fld>
            <a:endParaRPr lang="en-CA"/>
          </a:p>
        </p:txBody>
      </p:sp>
    </p:spTree>
    <p:extLst>
      <p:ext uri="{BB962C8B-B14F-4D97-AF65-F5344CB8AC3E}">
        <p14:creationId xmlns:p14="http://schemas.microsoft.com/office/powerpoint/2010/main" val="2481559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B33D6-5DB6-40D3-A1A5-FF22E5036A08}"/>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CA"/>
          </a:p>
        </p:txBody>
      </p:sp>
      <p:sp>
        <p:nvSpPr>
          <p:cNvPr id="3" name="Picture Placeholder 2">
            <a:extLst>
              <a:ext uri="{FF2B5EF4-FFF2-40B4-BE49-F238E27FC236}">
                <a16:creationId xmlns:a16="http://schemas.microsoft.com/office/drawing/2014/main" id="{BC4AFED7-D564-49DD-A654-32F92020F17A}"/>
              </a:ext>
            </a:extLst>
          </p:cNvPr>
          <p:cNvSpPr txBox="1">
            <a:spLocks noGrp="1"/>
          </p:cNvSpPr>
          <p:nvPr>
            <p:ph type="pic" idx="1"/>
          </p:nvPr>
        </p:nvSpPr>
        <p:spPr>
          <a:xfrm>
            <a:off x="5183184" y="987423"/>
            <a:ext cx="6172200" cy="4873623"/>
          </a:xfrm>
        </p:spPr>
        <p:txBody>
          <a:bodyPr/>
          <a:lstStyle>
            <a:lvl1pPr marL="0" indent="0">
              <a:buNone/>
              <a:defRPr lang="en-CA" sz="3200"/>
            </a:lvl1pPr>
          </a:lstStyle>
          <a:p>
            <a:pPr lvl="0"/>
            <a:endParaRPr lang="en-CA"/>
          </a:p>
        </p:txBody>
      </p:sp>
      <p:sp>
        <p:nvSpPr>
          <p:cNvPr id="4" name="Text Placeholder 3">
            <a:extLst>
              <a:ext uri="{FF2B5EF4-FFF2-40B4-BE49-F238E27FC236}">
                <a16:creationId xmlns:a16="http://schemas.microsoft.com/office/drawing/2014/main" id="{806AAD49-CD62-4922-840A-11D5190AB057}"/>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0CA6123C-B18A-4DDD-A841-4D064115A97C}"/>
              </a:ext>
            </a:extLst>
          </p:cNvPr>
          <p:cNvSpPr txBox="1">
            <a:spLocks noGrp="1"/>
          </p:cNvSpPr>
          <p:nvPr>
            <p:ph type="dt" sz="half" idx="7"/>
          </p:nvPr>
        </p:nvSpPr>
        <p:spPr/>
        <p:txBody>
          <a:bodyPr/>
          <a:lstStyle>
            <a:lvl1pPr>
              <a:defRPr/>
            </a:lvl1pPr>
          </a:lstStyle>
          <a:p>
            <a:pPr lvl="0"/>
            <a:fld id="{8B911EB1-D989-4441-8769-C9EEAC233475}" type="datetime1">
              <a:rPr lang="en-CA"/>
              <a:pPr lvl="0"/>
              <a:t>2021-04-22</a:t>
            </a:fld>
            <a:endParaRPr lang="en-CA"/>
          </a:p>
        </p:txBody>
      </p:sp>
      <p:sp>
        <p:nvSpPr>
          <p:cNvPr id="6" name="Footer Placeholder 5">
            <a:extLst>
              <a:ext uri="{FF2B5EF4-FFF2-40B4-BE49-F238E27FC236}">
                <a16:creationId xmlns:a16="http://schemas.microsoft.com/office/drawing/2014/main" id="{44A51E2E-9BAB-4617-9607-E4B4AEB5AED0}"/>
              </a:ext>
            </a:extLst>
          </p:cNvPr>
          <p:cNvSpPr txBox="1">
            <a:spLocks noGrp="1"/>
          </p:cNvSpPr>
          <p:nvPr>
            <p:ph type="ftr" sz="quarter" idx="9"/>
          </p:nvPr>
        </p:nvSpPr>
        <p:spPr/>
        <p:txBody>
          <a:bodyPr/>
          <a:lstStyle>
            <a:lvl1pPr>
              <a:defRPr/>
            </a:lvl1pPr>
          </a:lstStyle>
          <a:p>
            <a:pPr lvl="0"/>
            <a:endParaRPr lang="en-CA"/>
          </a:p>
        </p:txBody>
      </p:sp>
      <p:sp>
        <p:nvSpPr>
          <p:cNvPr id="7" name="Slide Number Placeholder 6">
            <a:extLst>
              <a:ext uri="{FF2B5EF4-FFF2-40B4-BE49-F238E27FC236}">
                <a16:creationId xmlns:a16="http://schemas.microsoft.com/office/drawing/2014/main" id="{E1E10E4F-F39E-40F1-A3E8-1BDB780AE5EA}"/>
              </a:ext>
            </a:extLst>
          </p:cNvPr>
          <p:cNvSpPr txBox="1">
            <a:spLocks noGrp="1"/>
          </p:cNvSpPr>
          <p:nvPr>
            <p:ph type="sldNum" sz="quarter" idx="8"/>
          </p:nvPr>
        </p:nvSpPr>
        <p:spPr/>
        <p:txBody>
          <a:bodyPr/>
          <a:lstStyle>
            <a:lvl1pPr>
              <a:defRPr/>
            </a:lvl1pPr>
          </a:lstStyle>
          <a:p>
            <a:pPr lvl="0"/>
            <a:fld id="{155EE757-5B09-4791-B5E3-8F2BB2DF5BE3}" type="slidenum">
              <a:t>‹#›</a:t>
            </a:fld>
            <a:endParaRPr lang="en-CA"/>
          </a:p>
        </p:txBody>
      </p:sp>
    </p:spTree>
    <p:extLst>
      <p:ext uri="{BB962C8B-B14F-4D97-AF65-F5344CB8AC3E}">
        <p14:creationId xmlns:p14="http://schemas.microsoft.com/office/powerpoint/2010/main" val="3703213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E7059-310F-422D-8597-1936DD44A902}"/>
              </a:ext>
            </a:extLst>
          </p:cNvPr>
          <p:cNvSpPr txBox="1">
            <a:spLocks noGrp="1"/>
          </p:cNvSpPr>
          <p:nvPr>
            <p:ph type="title"/>
          </p:nvPr>
        </p:nvSpPr>
        <p:spPr/>
        <p:txBody>
          <a:bodyPr/>
          <a:lstStyle>
            <a:lvl1pPr>
              <a:defRPr/>
            </a:lvl1pPr>
          </a:lstStyle>
          <a:p>
            <a:pPr lvl="0"/>
            <a:r>
              <a:rPr lang="en-US"/>
              <a:t>Click to edit Master title style</a:t>
            </a:r>
            <a:endParaRPr lang="en-CA"/>
          </a:p>
        </p:txBody>
      </p:sp>
      <p:sp>
        <p:nvSpPr>
          <p:cNvPr id="3" name="Vertical Text Placeholder 2">
            <a:extLst>
              <a:ext uri="{FF2B5EF4-FFF2-40B4-BE49-F238E27FC236}">
                <a16:creationId xmlns:a16="http://schemas.microsoft.com/office/drawing/2014/main" id="{22DFBD65-1256-43CF-BDED-3C6E817FFD43}"/>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8183A20-0568-427F-9E25-A3DF797312DC}"/>
              </a:ext>
            </a:extLst>
          </p:cNvPr>
          <p:cNvSpPr txBox="1">
            <a:spLocks noGrp="1"/>
          </p:cNvSpPr>
          <p:nvPr>
            <p:ph type="dt" sz="half" idx="7"/>
          </p:nvPr>
        </p:nvSpPr>
        <p:spPr/>
        <p:txBody>
          <a:bodyPr/>
          <a:lstStyle>
            <a:lvl1pPr>
              <a:defRPr/>
            </a:lvl1pPr>
          </a:lstStyle>
          <a:p>
            <a:pPr lvl="0"/>
            <a:fld id="{70C9890D-8635-4600-99B7-D45AEA090FFC}" type="datetime1">
              <a:rPr lang="en-CA"/>
              <a:pPr lvl="0"/>
              <a:t>2021-04-22</a:t>
            </a:fld>
            <a:endParaRPr lang="en-CA"/>
          </a:p>
        </p:txBody>
      </p:sp>
      <p:sp>
        <p:nvSpPr>
          <p:cNvPr id="5" name="Footer Placeholder 4">
            <a:extLst>
              <a:ext uri="{FF2B5EF4-FFF2-40B4-BE49-F238E27FC236}">
                <a16:creationId xmlns:a16="http://schemas.microsoft.com/office/drawing/2014/main" id="{3E934538-71C8-46CF-A647-9E820F427CA6}"/>
              </a:ext>
            </a:extLst>
          </p:cNvPr>
          <p:cNvSpPr txBox="1">
            <a:spLocks noGrp="1"/>
          </p:cNvSpPr>
          <p:nvPr>
            <p:ph type="ftr" sz="quarter" idx="9"/>
          </p:nvPr>
        </p:nvSpPr>
        <p:spPr/>
        <p:txBody>
          <a:bodyPr/>
          <a:lstStyle>
            <a:lvl1pPr>
              <a:defRPr/>
            </a:lvl1pPr>
          </a:lstStyle>
          <a:p>
            <a:pPr lvl="0"/>
            <a:endParaRPr lang="en-CA"/>
          </a:p>
        </p:txBody>
      </p:sp>
      <p:sp>
        <p:nvSpPr>
          <p:cNvPr id="6" name="Slide Number Placeholder 5">
            <a:extLst>
              <a:ext uri="{FF2B5EF4-FFF2-40B4-BE49-F238E27FC236}">
                <a16:creationId xmlns:a16="http://schemas.microsoft.com/office/drawing/2014/main" id="{C6E6F282-8C44-4617-9C9F-B1822D774293}"/>
              </a:ext>
            </a:extLst>
          </p:cNvPr>
          <p:cNvSpPr txBox="1">
            <a:spLocks noGrp="1"/>
          </p:cNvSpPr>
          <p:nvPr>
            <p:ph type="sldNum" sz="quarter" idx="8"/>
          </p:nvPr>
        </p:nvSpPr>
        <p:spPr/>
        <p:txBody>
          <a:bodyPr/>
          <a:lstStyle>
            <a:lvl1pPr>
              <a:defRPr/>
            </a:lvl1pPr>
          </a:lstStyle>
          <a:p>
            <a:pPr lvl="0"/>
            <a:fld id="{B4B2E276-3503-4366-92A6-BA89722BC7AB}" type="slidenum">
              <a:t>‹#›</a:t>
            </a:fld>
            <a:endParaRPr lang="en-CA"/>
          </a:p>
        </p:txBody>
      </p:sp>
    </p:spTree>
    <p:extLst>
      <p:ext uri="{BB962C8B-B14F-4D97-AF65-F5344CB8AC3E}">
        <p14:creationId xmlns:p14="http://schemas.microsoft.com/office/powerpoint/2010/main" val="7319342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ACDDFD-4A9E-4C69-9C0F-4544DEA80499}"/>
              </a:ext>
            </a:extLst>
          </p:cNvPr>
          <p:cNvSpPr txBox="1">
            <a:spLocks noGrp="1"/>
          </p:cNvSpPr>
          <p:nvPr>
            <p:ph type="title" orient="vert"/>
          </p:nvPr>
        </p:nvSpPr>
        <p:spPr>
          <a:xfrm>
            <a:off x="8724903" y="365129"/>
            <a:ext cx="2628899" cy="5811834"/>
          </a:xfrm>
        </p:spPr>
        <p:txBody>
          <a:bodyPr vert="eaVert"/>
          <a:lstStyle>
            <a:lvl1pPr>
              <a:defRPr/>
            </a:lvl1pPr>
          </a:lstStyle>
          <a:p>
            <a:pPr lvl="0"/>
            <a:r>
              <a:rPr lang="en-US"/>
              <a:t>Click to edit Master title style</a:t>
            </a:r>
            <a:endParaRPr lang="en-CA"/>
          </a:p>
        </p:txBody>
      </p:sp>
      <p:sp>
        <p:nvSpPr>
          <p:cNvPr id="3" name="Vertical Text Placeholder 2">
            <a:extLst>
              <a:ext uri="{FF2B5EF4-FFF2-40B4-BE49-F238E27FC236}">
                <a16:creationId xmlns:a16="http://schemas.microsoft.com/office/drawing/2014/main" id="{06FAF4C1-89A5-4A16-B5DB-51110FF07F3C}"/>
              </a:ext>
            </a:extLst>
          </p:cNvPr>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51104F1-C8FA-47D3-8C34-B597716FB361}"/>
              </a:ext>
            </a:extLst>
          </p:cNvPr>
          <p:cNvSpPr txBox="1">
            <a:spLocks noGrp="1"/>
          </p:cNvSpPr>
          <p:nvPr>
            <p:ph type="dt" sz="half" idx="7"/>
          </p:nvPr>
        </p:nvSpPr>
        <p:spPr/>
        <p:txBody>
          <a:bodyPr/>
          <a:lstStyle>
            <a:lvl1pPr>
              <a:defRPr/>
            </a:lvl1pPr>
          </a:lstStyle>
          <a:p>
            <a:pPr lvl="0"/>
            <a:fld id="{BB7CD942-786D-4F96-AFC1-DB088F1C9363}" type="datetime1">
              <a:rPr lang="en-CA"/>
              <a:pPr lvl="0"/>
              <a:t>2021-04-22</a:t>
            </a:fld>
            <a:endParaRPr lang="en-CA"/>
          </a:p>
        </p:txBody>
      </p:sp>
      <p:sp>
        <p:nvSpPr>
          <p:cNvPr id="5" name="Footer Placeholder 4">
            <a:extLst>
              <a:ext uri="{FF2B5EF4-FFF2-40B4-BE49-F238E27FC236}">
                <a16:creationId xmlns:a16="http://schemas.microsoft.com/office/drawing/2014/main" id="{80E97634-E278-4B9A-8C94-1EB607335E21}"/>
              </a:ext>
            </a:extLst>
          </p:cNvPr>
          <p:cNvSpPr txBox="1">
            <a:spLocks noGrp="1"/>
          </p:cNvSpPr>
          <p:nvPr>
            <p:ph type="ftr" sz="quarter" idx="9"/>
          </p:nvPr>
        </p:nvSpPr>
        <p:spPr/>
        <p:txBody>
          <a:bodyPr/>
          <a:lstStyle>
            <a:lvl1pPr>
              <a:defRPr/>
            </a:lvl1pPr>
          </a:lstStyle>
          <a:p>
            <a:pPr lvl="0"/>
            <a:endParaRPr lang="en-CA"/>
          </a:p>
        </p:txBody>
      </p:sp>
      <p:sp>
        <p:nvSpPr>
          <p:cNvPr id="6" name="Slide Number Placeholder 5">
            <a:extLst>
              <a:ext uri="{FF2B5EF4-FFF2-40B4-BE49-F238E27FC236}">
                <a16:creationId xmlns:a16="http://schemas.microsoft.com/office/drawing/2014/main" id="{C24E54CE-5F2D-42C1-A4D9-1FD1C675F833}"/>
              </a:ext>
            </a:extLst>
          </p:cNvPr>
          <p:cNvSpPr txBox="1">
            <a:spLocks noGrp="1"/>
          </p:cNvSpPr>
          <p:nvPr>
            <p:ph type="sldNum" sz="quarter" idx="8"/>
          </p:nvPr>
        </p:nvSpPr>
        <p:spPr/>
        <p:txBody>
          <a:bodyPr/>
          <a:lstStyle>
            <a:lvl1pPr>
              <a:defRPr/>
            </a:lvl1pPr>
          </a:lstStyle>
          <a:p>
            <a:pPr lvl="0"/>
            <a:fld id="{20520A79-D98C-4090-9E66-EE8D37044079}" type="slidenum">
              <a:t>‹#›</a:t>
            </a:fld>
            <a:endParaRPr lang="en-CA"/>
          </a:p>
        </p:txBody>
      </p:sp>
    </p:spTree>
    <p:extLst>
      <p:ext uri="{BB962C8B-B14F-4D97-AF65-F5344CB8AC3E}">
        <p14:creationId xmlns:p14="http://schemas.microsoft.com/office/powerpoint/2010/main" val="310361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D1DCCB-8115-46E0-AE22-3DFE03652937}"/>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en-US"/>
              <a:t>Click to edit Master title style</a:t>
            </a:r>
            <a:endParaRPr lang="en-CA"/>
          </a:p>
        </p:txBody>
      </p:sp>
      <p:sp>
        <p:nvSpPr>
          <p:cNvPr id="3" name="Text Placeholder 2">
            <a:extLst>
              <a:ext uri="{FF2B5EF4-FFF2-40B4-BE49-F238E27FC236}">
                <a16:creationId xmlns:a16="http://schemas.microsoft.com/office/drawing/2014/main" id="{D861232C-5A55-41D5-AC33-9D5751FD414C}"/>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6FE9EF7-7230-47C8-80F6-26ED5B6CAC84}"/>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en-CA" sz="1200" b="0" i="0" u="none" strike="noStrike" kern="1200" cap="none" spc="0" baseline="0">
                <a:solidFill>
                  <a:srgbClr val="898989"/>
                </a:solidFill>
                <a:uFillTx/>
                <a:latin typeface="Calibri"/>
              </a:defRPr>
            </a:lvl1pPr>
          </a:lstStyle>
          <a:p>
            <a:pPr lvl="0"/>
            <a:fld id="{7708597C-36A3-462F-BC85-4466AFCD38BE}" type="datetime1">
              <a:rPr lang="en-CA"/>
              <a:pPr lvl="0"/>
              <a:t>2021-04-22</a:t>
            </a:fld>
            <a:endParaRPr lang="en-CA"/>
          </a:p>
        </p:txBody>
      </p:sp>
      <p:sp>
        <p:nvSpPr>
          <p:cNvPr id="5" name="Footer Placeholder 4">
            <a:extLst>
              <a:ext uri="{FF2B5EF4-FFF2-40B4-BE49-F238E27FC236}">
                <a16:creationId xmlns:a16="http://schemas.microsoft.com/office/drawing/2014/main" id="{62CC10E0-1D66-401F-ADB7-0C655C3EF43C}"/>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en-CA" sz="1200" b="0" i="0" u="none" strike="noStrike" kern="1200" cap="none" spc="0" baseline="0">
                <a:solidFill>
                  <a:srgbClr val="898989"/>
                </a:solidFill>
                <a:uFillTx/>
                <a:latin typeface="Calibri"/>
              </a:defRPr>
            </a:lvl1pPr>
          </a:lstStyle>
          <a:p>
            <a:pPr lvl="0"/>
            <a:endParaRPr lang="en-CA"/>
          </a:p>
        </p:txBody>
      </p:sp>
      <p:sp>
        <p:nvSpPr>
          <p:cNvPr id="6" name="Slide Number Placeholder 5">
            <a:extLst>
              <a:ext uri="{FF2B5EF4-FFF2-40B4-BE49-F238E27FC236}">
                <a16:creationId xmlns:a16="http://schemas.microsoft.com/office/drawing/2014/main" id="{7EF624C4-9036-4A6C-87F1-30FE4D4FEFBA}"/>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n-CA" sz="1200" b="0" i="0" u="none" strike="noStrike" kern="1200" cap="none" spc="0" baseline="0">
                <a:solidFill>
                  <a:srgbClr val="898989"/>
                </a:solidFill>
                <a:uFillTx/>
                <a:latin typeface="Calibri"/>
              </a:defRPr>
            </a:lvl1pPr>
          </a:lstStyle>
          <a:p>
            <a:pPr lvl="0"/>
            <a:fld id="{BCF2D046-7F13-4E9C-B6DA-4E46EC6A6DA6}" type="slidenum">
              <a:t>‹#›</a:t>
            </a:fld>
            <a:endParaRPr lang="en-CA"/>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marR="0" lvl="0" indent="0" algn="l" defTabSz="914400" rtl="0" fontAlgn="auto" hangingPunct="1">
        <a:lnSpc>
          <a:spcPct val="90000"/>
        </a:lnSpc>
        <a:spcBef>
          <a:spcPts val="0"/>
        </a:spcBef>
        <a:spcAft>
          <a:spcPts val="0"/>
        </a:spcAft>
        <a:buNone/>
        <a:tabLst/>
        <a:defRPr lang="en-US" sz="4400" b="0" i="0" u="none" strike="noStrike" kern="1200" cap="none" spc="0" baseline="0">
          <a:solidFill>
            <a:srgbClr val="000000"/>
          </a:solidFill>
          <a:uFillTx/>
          <a:latin typeface="Calibri Light"/>
        </a:defRPr>
      </a:lvl1pPr>
    </p:titleStyle>
    <p:body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Calibri"/>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5.jpe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2.jpeg"/><Relationship Id="rId7" Type="http://schemas.openxmlformats.org/officeDocument/2006/relationships/diagramColors" Target="../diagrams/colors2.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jpeg"/></Relationships>
</file>

<file path=ppt/slides/_rels/slide1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7.xml"/><Relationship Id="rId4" Type="http://schemas.openxmlformats.org/officeDocument/2006/relationships/image" Target="../media/image25.emf"/></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2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 Id="rId4" Type="http://schemas.openxmlformats.org/officeDocument/2006/relationships/chart" Target="../charts/chart5.xml"/></Relationships>
</file>

<file path=ppt/slides/_rels/slide2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2.xml"/><Relationship Id="rId5" Type="http://schemas.openxmlformats.org/officeDocument/2006/relationships/chart" Target="../charts/chart9.xml"/><Relationship Id="rId4" Type="http://schemas.openxmlformats.org/officeDocument/2006/relationships/chart" Target="../charts/chart8.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BEDB0AA1-9C93-4BFF-BC2C-0041D33108A6}"/>
              </a:ext>
            </a:extLst>
          </p:cNvPr>
          <p:cNvSpPr>
            <a:spLocks noGrp="1"/>
          </p:cNvSpPr>
          <p:nvPr>
            <p:ph type="title"/>
          </p:nvPr>
        </p:nvSpPr>
        <p:spPr/>
        <p:txBody>
          <a:bodyPr>
            <a:normAutofit fontScale="90000"/>
          </a:bodyPr>
          <a:lstStyle/>
          <a:p>
            <a:pPr algn="l"/>
            <a:r>
              <a:rPr lang="en-CA" sz="4400" b="1"/>
              <a:t>Attitudinal Democratic    </a:t>
            </a:r>
            <a:br>
              <a:rPr lang="en-CA" sz="4400" b="1"/>
            </a:br>
            <a:r>
              <a:rPr lang="en-CA" sz="4400" b="1"/>
              <a:t>          Backsliding</a:t>
            </a:r>
            <a:br>
              <a:rPr lang="en-CA" sz="3300" b="1"/>
            </a:br>
            <a:br>
              <a:rPr lang="en-CA" sz="3300" b="1"/>
            </a:br>
            <a:r>
              <a:rPr lang="en-CA" sz="3300" b="1"/>
              <a:t>Do Populists, Young People and </a:t>
            </a:r>
            <a:br>
              <a:rPr lang="en-CA" sz="3300" b="1"/>
            </a:br>
            <a:r>
              <a:rPr lang="en-CA" sz="3300" b="1"/>
              <a:t>Partisans support it more?</a:t>
            </a:r>
            <a:endParaRPr lang="en-CA" sz="3300" dirty="0"/>
          </a:p>
        </p:txBody>
      </p:sp>
      <p:pic>
        <p:nvPicPr>
          <p:cNvPr id="3" name="Picture 2">
            <a:extLst>
              <a:ext uri="{FF2B5EF4-FFF2-40B4-BE49-F238E27FC236}">
                <a16:creationId xmlns:a16="http://schemas.microsoft.com/office/drawing/2014/main" id="{84FA1F71-074B-4B36-9405-2BBD5B270933}"/>
              </a:ext>
            </a:extLst>
          </p:cNvPr>
          <p:cNvPicPr/>
          <p:nvPr/>
        </p:nvPicPr>
        <p:blipFill>
          <a:blip r:embed="rId3"/>
          <a:stretch>
            <a:fillRect/>
          </a:stretch>
        </p:blipFill>
        <p:spPr>
          <a:xfrm>
            <a:off x="0" y="0"/>
            <a:ext cx="12192000" cy="6858000"/>
          </a:xfrm>
          <a:prstGeom prst="rect">
            <a:avLst/>
          </a:prstGeom>
        </p:spPr>
      </p:pic>
      <p:pic>
        <p:nvPicPr>
          <p:cNvPr id="4" name="Picture 3">
            <a:extLst>
              <a:ext uri="{FF2B5EF4-FFF2-40B4-BE49-F238E27FC236}">
                <a16:creationId xmlns:a16="http://schemas.microsoft.com/office/drawing/2014/main" id="{B24E750B-BB11-4825-81CD-F14ADEEF7611}"/>
              </a:ext>
            </a:extLst>
          </p:cNvPr>
          <p:cNvPicPr>
            <a:picLocks noChangeAspect="1"/>
          </p:cNvPicPr>
          <p:nvPr/>
        </p:nvPicPr>
        <p:blipFill>
          <a:blip r:embed="rId4"/>
          <a:stretch>
            <a:fillRect/>
          </a:stretch>
        </p:blipFill>
        <p:spPr>
          <a:xfrm>
            <a:off x="6481611" y="3059310"/>
            <a:ext cx="5007900" cy="1078620"/>
          </a:xfrm>
          <a:prstGeom prst="rect">
            <a:avLst/>
          </a:prstGeom>
        </p:spPr>
      </p:pic>
      <p:pic>
        <p:nvPicPr>
          <p:cNvPr id="5" name="Picture 4" descr="Fodem">
            <a:extLst>
              <a:ext uri="{FF2B5EF4-FFF2-40B4-BE49-F238E27FC236}">
                <a16:creationId xmlns:a16="http://schemas.microsoft.com/office/drawing/2014/main" id="{92BBAE52-A216-4E47-91F9-F39F07E2D6DA}"/>
              </a:ext>
            </a:extLst>
          </p:cNvPr>
          <p:cNvPicPr>
            <a:picLocks noChangeAspect="1"/>
          </p:cNvPicPr>
          <p:nvPr/>
        </p:nvPicPr>
        <p:blipFill>
          <a:blip r:embed="rId5"/>
          <a:srcRect/>
          <a:stretch>
            <a:fillRect/>
          </a:stretch>
        </p:blipFill>
        <p:spPr>
          <a:xfrm>
            <a:off x="4921321" y="5918245"/>
            <a:ext cx="924090" cy="790121"/>
          </a:xfrm>
          <a:prstGeom prst="rect">
            <a:avLst/>
          </a:prstGeom>
          <a:noFill/>
          <a:ln cap="flat">
            <a:noFill/>
          </a:ln>
        </p:spPr>
      </p:pic>
      <p:pic>
        <p:nvPicPr>
          <p:cNvPr id="6" name="Picture 47" descr="A close up of a logo&#10;&#10;Description generated with very high confidence">
            <a:extLst>
              <a:ext uri="{FF2B5EF4-FFF2-40B4-BE49-F238E27FC236}">
                <a16:creationId xmlns:a16="http://schemas.microsoft.com/office/drawing/2014/main" id="{E3672B1A-07A7-491C-B8A4-156046EA8B13}"/>
              </a:ext>
            </a:extLst>
          </p:cNvPr>
          <p:cNvPicPr>
            <a:picLocks noChangeAspect="1"/>
          </p:cNvPicPr>
          <p:nvPr/>
        </p:nvPicPr>
        <p:blipFill>
          <a:blip r:embed="rId6"/>
          <a:srcRect/>
          <a:stretch>
            <a:fillRect/>
          </a:stretch>
        </p:blipFill>
        <p:spPr>
          <a:xfrm>
            <a:off x="9965932" y="5804899"/>
            <a:ext cx="2025205" cy="880378"/>
          </a:xfrm>
          <a:prstGeom prst="rect">
            <a:avLst/>
          </a:prstGeom>
          <a:noFill/>
          <a:ln cap="flat">
            <a:noFill/>
          </a:ln>
        </p:spPr>
      </p:pic>
      <p:sp>
        <p:nvSpPr>
          <p:cNvPr id="7" name="Rectangle 6">
            <a:extLst>
              <a:ext uri="{FF2B5EF4-FFF2-40B4-BE49-F238E27FC236}">
                <a16:creationId xmlns:a16="http://schemas.microsoft.com/office/drawing/2014/main" id="{E49FE676-591B-40B5-8E3F-ECEEFE3D33CC}"/>
              </a:ext>
            </a:extLst>
          </p:cNvPr>
          <p:cNvSpPr/>
          <p:nvPr/>
        </p:nvSpPr>
        <p:spPr>
          <a:xfrm>
            <a:off x="6298059" y="1263721"/>
            <a:ext cx="5455577" cy="163359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CA" sz="3200" dirty="0"/>
              <a:t>Are younger age cohorts less democratic? </a:t>
            </a:r>
          </a:p>
        </p:txBody>
      </p:sp>
      <p:pic>
        <p:nvPicPr>
          <p:cNvPr id="8" name="Picture 6" descr="Image result for McGill logo">
            <a:extLst>
              <a:ext uri="{FF2B5EF4-FFF2-40B4-BE49-F238E27FC236}">
                <a16:creationId xmlns:a16="http://schemas.microsoft.com/office/drawing/2014/main" id="{6969659E-E022-4DCF-BDF1-0EDBE9C74DB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92331" y="6010381"/>
            <a:ext cx="1445008" cy="7654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DA07A756-96D5-40C4-92C0-5C39B2A04CA6}"/>
              </a:ext>
            </a:extLst>
          </p:cNvPr>
          <p:cNvSpPr/>
          <p:nvPr/>
        </p:nvSpPr>
        <p:spPr>
          <a:xfrm>
            <a:off x="6041203" y="2712376"/>
            <a:ext cx="6150797" cy="318498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CA" sz="3200" dirty="0"/>
          </a:p>
          <a:p>
            <a:pPr algn="ctr"/>
            <a:r>
              <a:rPr lang="en-CA" sz="2800" dirty="0"/>
              <a:t>Olivier Bergeron-Boutin, Dietlind Stolle and Elisabeth </a:t>
            </a:r>
            <a:r>
              <a:rPr lang="en-CA" sz="2800" dirty="0" err="1"/>
              <a:t>Gidengil</a:t>
            </a:r>
            <a:endParaRPr lang="en-CA" sz="2800" dirty="0"/>
          </a:p>
          <a:p>
            <a:pPr algn="ctr"/>
            <a:endParaRPr lang="en-CA" sz="2800" dirty="0"/>
          </a:p>
          <a:p>
            <a:pPr algn="ctr"/>
            <a:r>
              <a:rPr lang="en-US" dirty="0"/>
              <a:t>Prepared for the CSDC Conference Diversity and the State of Democratic Citizenship, April 2021</a:t>
            </a:r>
            <a:endParaRPr lang="en-CA" dirty="0"/>
          </a:p>
        </p:txBody>
      </p:sp>
    </p:spTree>
    <p:extLst>
      <p:ext uri="{BB962C8B-B14F-4D97-AF65-F5344CB8AC3E}">
        <p14:creationId xmlns:p14="http://schemas.microsoft.com/office/powerpoint/2010/main" val="3254539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7133B6-AC37-490E-9DAF-A273CF216029}"/>
              </a:ext>
            </a:extLst>
          </p:cNvPr>
          <p:cNvSpPr>
            <a:spLocks noGrp="1"/>
          </p:cNvSpPr>
          <p:nvPr>
            <p:ph type="title"/>
          </p:nvPr>
        </p:nvSpPr>
        <p:spPr>
          <a:xfrm>
            <a:off x="689941" y="530916"/>
            <a:ext cx="3476625" cy="4962524"/>
          </a:xfrm>
        </p:spPr>
        <p:txBody>
          <a:bodyPr vert="horz" lIns="91440" tIns="45720" rIns="91440" bIns="45720" rtlCol="0" anchor="ctr">
            <a:normAutofit fontScale="90000"/>
          </a:bodyPr>
          <a:lstStyle/>
          <a:p>
            <a:pPr lvl="1"/>
            <a:r>
              <a:rPr lang="en-US" sz="2800" dirty="0">
                <a:solidFill>
                  <a:schemeClr val="bg1"/>
                </a:solidFill>
              </a:rPr>
              <a:t>There is evidence that younger cohorts are less supportive of democracy (see also Foa and Mounk 2016, 2017).</a:t>
            </a:r>
            <a:br>
              <a:rPr lang="en-US" sz="2800" dirty="0">
                <a:solidFill>
                  <a:schemeClr val="bg1"/>
                </a:solidFill>
              </a:rPr>
            </a:br>
            <a:r>
              <a:rPr lang="en-US" sz="2800" dirty="0">
                <a:solidFill>
                  <a:schemeClr val="bg1"/>
                </a:solidFill>
              </a:rPr>
              <a:t>OUR QUESTIONS:</a:t>
            </a:r>
            <a:br>
              <a:rPr lang="en-US" sz="2800" dirty="0">
                <a:solidFill>
                  <a:schemeClr val="bg1"/>
                </a:solidFill>
              </a:rPr>
            </a:br>
            <a:r>
              <a:rPr lang="en-US" sz="2800" dirty="0">
                <a:solidFill>
                  <a:schemeClr val="bg1"/>
                </a:solidFill>
              </a:rPr>
              <a:t> How can we explain this result? What can we find out about how younger cohorts view democracy? </a:t>
            </a:r>
            <a:br>
              <a:rPr lang="en-US" sz="2800" dirty="0">
                <a:solidFill>
                  <a:schemeClr val="bg1"/>
                </a:solidFill>
              </a:rPr>
            </a:br>
            <a:br>
              <a:rPr lang="en-US" sz="2800" dirty="0">
                <a:solidFill>
                  <a:schemeClr val="bg1"/>
                </a:solidFill>
              </a:rPr>
            </a:br>
            <a:r>
              <a:rPr lang="en-US" dirty="0">
                <a:solidFill>
                  <a:schemeClr val="bg1"/>
                </a:solidFill>
              </a:rPr>
              <a:t>Graph shows ESS data</a:t>
            </a:r>
          </a:p>
        </p:txBody>
      </p:sp>
      <p:pic>
        <p:nvPicPr>
          <p:cNvPr id="4" name="Content Placeholder 3">
            <a:extLst>
              <a:ext uri="{FF2B5EF4-FFF2-40B4-BE49-F238E27FC236}">
                <a16:creationId xmlns:a16="http://schemas.microsoft.com/office/drawing/2014/main" id="{0888BDE8-802E-419A-8A68-ECC5ACDB20E3}"/>
              </a:ext>
            </a:extLst>
          </p:cNvPr>
          <p:cNvPicPr>
            <a:picLocks noGrp="1"/>
          </p:cNvPicPr>
          <p:nvPr>
            <p:ph idx="1"/>
          </p:nvPr>
        </p:nvPicPr>
        <p:blipFill>
          <a:blip r:embed="rId3">
            <a:extLst>
              <a:ext uri="{28A0092B-C50C-407E-A947-70E740481C1C}">
                <a14:useLocalDpi xmlns:a14="http://schemas.microsoft.com/office/drawing/2010/main" val="0"/>
              </a:ext>
            </a:extLst>
          </a:blip>
          <a:srcRect/>
          <a:stretch/>
        </p:blipFill>
        <p:spPr>
          <a:xfrm>
            <a:off x="5247861" y="529789"/>
            <a:ext cx="6417171" cy="5833792"/>
          </a:xfrm>
          <a:prstGeom prst="rect">
            <a:avLst/>
          </a:prstGeom>
        </p:spPr>
      </p:pic>
      <p:pic>
        <p:nvPicPr>
          <p:cNvPr id="6" name="Picture 23" descr="Fodem">
            <a:extLst>
              <a:ext uri="{FF2B5EF4-FFF2-40B4-BE49-F238E27FC236}">
                <a16:creationId xmlns:a16="http://schemas.microsoft.com/office/drawing/2014/main" id="{B9CFA4A5-1CF2-4DAF-BD16-9F168CA1FFA8}"/>
              </a:ext>
            </a:extLst>
          </p:cNvPr>
          <p:cNvPicPr>
            <a:picLocks noChangeAspect="1"/>
          </p:cNvPicPr>
          <p:nvPr/>
        </p:nvPicPr>
        <p:blipFill>
          <a:blip r:embed="rId4"/>
          <a:srcRect/>
          <a:stretch>
            <a:fillRect/>
          </a:stretch>
        </p:blipFill>
        <p:spPr>
          <a:xfrm>
            <a:off x="410818" y="5861210"/>
            <a:ext cx="700823" cy="599224"/>
          </a:xfrm>
          <a:prstGeom prst="rect">
            <a:avLst/>
          </a:prstGeom>
          <a:noFill/>
          <a:ln cap="flat">
            <a:noFill/>
          </a:ln>
        </p:spPr>
      </p:pic>
      <p:pic>
        <p:nvPicPr>
          <p:cNvPr id="7" name="Picture 47" descr="A close up of a logo&#10;&#10;Description generated with very high confidence">
            <a:extLst>
              <a:ext uri="{FF2B5EF4-FFF2-40B4-BE49-F238E27FC236}">
                <a16:creationId xmlns:a16="http://schemas.microsoft.com/office/drawing/2014/main" id="{657F6925-BF7F-448D-AD42-21CF61131773}"/>
              </a:ext>
            </a:extLst>
          </p:cNvPr>
          <p:cNvPicPr>
            <a:picLocks noChangeAspect="1"/>
          </p:cNvPicPr>
          <p:nvPr/>
        </p:nvPicPr>
        <p:blipFill>
          <a:blip r:embed="rId5"/>
          <a:srcRect/>
          <a:stretch>
            <a:fillRect/>
          </a:stretch>
        </p:blipFill>
        <p:spPr>
          <a:xfrm>
            <a:off x="1706522" y="5695126"/>
            <a:ext cx="1627696" cy="752057"/>
          </a:xfrm>
          <a:prstGeom prst="rect">
            <a:avLst/>
          </a:prstGeom>
          <a:noFill/>
          <a:ln cap="flat">
            <a:noFill/>
          </a:ln>
        </p:spPr>
      </p:pic>
      <p:pic>
        <p:nvPicPr>
          <p:cNvPr id="8" name="Picture 6" descr="Image result for McGill logo">
            <a:extLst>
              <a:ext uri="{FF2B5EF4-FFF2-40B4-BE49-F238E27FC236}">
                <a16:creationId xmlns:a16="http://schemas.microsoft.com/office/drawing/2014/main" id="{A3468818-887A-4857-AB53-EEB82ECACF4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31075" y="5862041"/>
            <a:ext cx="1129678" cy="5983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2059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Shape 18">
            <a:extLst>
              <a:ext uri="{FF2B5EF4-FFF2-40B4-BE49-F238E27FC236}">
                <a16:creationId xmlns:a16="http://schemas.microsoft.com/office/drawing/2014/main" id="{9C899144-0BA4-47BF-88AD-083B67C4293B}"/>
              </a:ext>
            </a:extLst>
          </p:cNvPr>
          <p:cNvSpPr>
            <a:spLocks noMove="1" noResize="1"/>
          </p:cNvSpPr>
          <p:nvPr/>
        </p:nvSpPr>
        <p:spPr>
          <a:xfrm>
            <a:off x="0" y="5367912"/>
            <a:ext cx="9161026" cy="1490097"/>
          </a:xfrm>
          <a:custGeom>
            <a:avLst/>
            <a:gdLst>
              <a:gd name="f0" fmla="val 10800000"/>
              <a:gd name="f1" fmla="val 5400000"/>
              <a:gd name="f2" fmla="val 180"/>
              <a:gd name="f3" fmla="val w"/>
              <a:gd name="f4" fmla="val h"/>
              <a:gd name="f5" fmla="val 0"/>
              <a:gd name="f6" fmla="val 9161029"/>
              <a:gd name="f7" fmla="val 1490093"/>
              <a:gd name="f8" fmla="val 2046494"/>
              <a:gd name="f9" fmla="val 2496613"/>
              <a:gd name="f10" fmla="val 3235839"/>
              <a:gd name="f11" fmla="val 8470921"/>
              <a:gd name="f12" fmla="+- 0 0 -90"/>
              <a:gd name="f13" fmla="*/ f3 1 9161029"/>
              <a:gd name="f14" fmla="*/ f4 1 1490093"/>
              <a:gd name="f15" fmla="+- f7 0 f5"/>
              <a:gd name="f16" fmla="+- f6 0 f5"/>
              <a:gd name="f17" fmla="*/ f12 f0 1"/>
              <a:gd name="f18" fmla="*/ f16 1 9161029"/>
              <a:gd name="f19" fmla="*/ f15 1 1490093"/>
              <a:gd name="f20" fmla="*/ 0 f16 1"/>
              <a:gd name="f21" fmla="*/ 0 f15 1"/>
              <a:gd name="f22" fmla="*/ 2046494 f16 1"/>
              <a:gd name="f23" fmla="*/ 2496613 f16 1"/>
              <a:gd name="f24" fmla="*/ 3235839 f16 1"/>
              <a:gd name="f25" fmla="*/ 9161029 f16 1"/>
              <a:gd name="f26" fmla="*/ 8470921 f16 1"/>
              <a:gd name="f27" fmla="*/ 1490093 f15 1"/>
              <a:gd name="f28" fmla="*/ f17 1 f2"/>
              <a:gd name="f29" fmla="*/ f20 1 9161029"/>
              <a:gd name="f30" fmla="*/ f21 1 1490093"/>
              <a:gd name="f31" fmla="*/ f22 1 9161029"/>
              <a:gd name="f32" fmla="*/ f23 1 9161029"/>
              <a:gd name="f33" fmla="*/ f24 1 9161029"/>
              <a:gd name="f34" fmla="*/ f25 1 9161029"/>
              <a:gd name="f35" fmla="*/ f26 1 9161029"/>
              <a:gd name="f36" fmla="*/ f27 1 1490093"/>
              <a:gd name="f37" fmla="*/ f5 1 f18"/>
              <a:gd name="f38" fmla="*/ f6 1 f18"/>
              <a:gd name="f39" fmla="*/ f5 1 f19"/>
              <a:gd name="f40" fmla="*/ f7 1 f19"/>
              <a:gd name="f41" fmla="+- f28 0 f1"/>
              <a:gd name="f42" fmla="*/ f29 1 f18"/>
              <a:gd name="f43" fmla="*/ f30 1 f19"/>
              <a:gd name="f44" fmla="*/ f31 1 f18"/>
              <a:gd name="f45" fmla="*/ f32 1 f18"/>
              <a:gd name="f46" fmla="*/ f33 1 f18"/>
              <a:gd name="f47" fmla="*/ f34 1 f18"/>
              <a:gd name="f48" fmla="*/ f35 1 f18"/>
              <a:gd name="f49" fmla="*/ f36 1 f19"/>
              <a:gd name="f50" fmla="*/ f37 f13 1"/>
              <a:gd name="f51" fmla="*/ f38 f13 1"/>
              <a:gd name="f52" fmla="*/ f40 f14 1"/>
              <a:gd name="f53" fmla="*/ f39 f14 1"/>
              <a:gd name="f54" fmla="*/ f42 f13 1"/>
              <a:gd name="f55" fmla="*/ f43 f14 1"/>
              <a:gd name="f56" fmla="*/ f44 f13 1"/>
              <a:gd name="f57" fmla="*/ f45 f13 1"/>
              <a:gd name="f58" fmla="*/ f46 f13 1"/>
              <a:gd name="f59" fmla="*/ f47 f13 1"/>
              <a:gd name="f60" fmla="*/ f48 f13 1"/>
              <a:gd name="f61" fmla="*/ f49 f14 1"/>
            </a:gdLst>
            <a:ahLst/>
            <a:cxnLst>
              <a:cxn ang="3cd4">
                <a:pos x="hc" y="t"/>
              </a:cxn>
              <a:cxn ang="0">
                <a:pos x="r" y="vc"/>
              </a:cxn>
              <a:cxn ang="cd4">
                <a:pos x="hc" y="b"/>
              </a:cxn>
              <a:cxn ang="cd2">
                <a:pos x="l" y="vc"/>
              </a:cxn>
              <a:cxn ang="f41">
                <a:pos x="f54" y="f55"/>
              </a:cxn>
              <a:cxn ang="f41">
                <a:pos x="f56" y="f55"/>
              </a:cxn>
              <a:cxn ang="f41">
                <a:pos x="f57" y="f55"/>
              </a:cxn>
              <a:cxn ang="f41">
                <a:pos x="f58" y="f55"/>
              </a:cxn>
              <a:cxn ang="f41">
                <a:pos x="f59" y="f55"/>
              </a:cxn>
              <a:cxn ang="f41">
                <a:pos x="f60" y="f61"/>
              </a:cxn>
              <a:cxn ang="f41">
                <a:pos x="f54" y="f61"/>
              </a:cxn>
            </a:cxnLst>
            <a:rect l="f50" t="f53" r="f51" b="f52"/>
            <a:pathLst>
              <a:path w="9161029" h="1490093">
                <a:moveTo>
                  <a:pt x="f5" y="f5"/>
                </a:moveTo>
                <a:lnTo>
                  <a:pt x="f8" y="f5"/>
                </a:lnTo>
                <a:lnTo>
                  <a:pt x="f9" y="f5"/>
                </a:lnTo>
                <a:lnTo>
                  <a:pt x="f10" y="f5"/>
                </a:lnTo>
                <a:lnTo>
                  <a:pt x="f6" y="f5"/>
                </a:lnTo>
                <a:lnTo>
                  <a:pt x="f11" y="f7"/>
                </a:lnTo>
                <a:lnTo>
                  <a:pt x="f5" y="f7"/>
                </a:lnTo>
                <a:close/>
              </a:path>
            </a:pathLst>
          </a:custGeom>
          <a:solidFill>
            <a:srgbClr val="7F7F7F">
              <a:alpha val="40000"/>
            </a:srgbClr>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3" name="Title 3">
            <a:extLst>
              <a:ext uri="{FF2B5EF4-FFF2-40B4-BE49-F238E27FC236}">
                <a16:creationId xmlns:a16="http://schemas.microsoft.com/office/drawing/2014/main" id="{80DBC6F2-A8D0-4B22-9841-DF13F0818F3C}"/>
              </a:ext>
            </a:extLst>
          </p:cNvPr>
          <p:cNvSpPr txBox="1">
            <a:spLocks noGrp="1"/>
          </p:cNvSpPr>
          <p:nvPr>
            <p:ph type="title"/>
          </p:nvPr>
        </p:nvSpPr>
        <p:spPr>
          <a:xfrm>
            <a:off x="838203" y="5529879"/>
            <a:ext cx="7719383" cy="1096329"/>
          </a:xfrm>
        </p:spPr>
        <p:txBody>
          <a:bodyPr>
            <a:normAutofit/>
          </a:bodyPr>
          <a:lstStyle/>
          <a:p>
            <a:pPr lvl="0"/>
            <a:r>
              <a:rPr lang="en-CA" sz="4800" b="1" dirty="0"/>
              <a:t>Hypotheses</a:t>
            </a:r>
          </a:p>
        </p:txBody>
      </p:sp>
      <p:sp>
        <p:nvSpPr>
          <p:cNvPr id="4" name="Freeform: Shape 20">
            <a:extLst>
              <a:ext uri="{FF2B5EF4-FFF2-40B4-BE49-F238E27FC236}">
                <a16:creationId xmlns:a16="http://schemas.microsoft.com/office/drawing/2014/main" id="{9C14A1E6-3C7B-4077-82B5-5951B8B0B212}"/>
              </a:ext>
            </a:extLst>
          </p:cNvPr>
          <p:cNvSpPr>
            <a:spLocks noMove="1" noResize="1"/>
          </p:cNvSpPr>
          <p:nvPr/>
        </p:nvSpPr>
        <p:spPr>
          <a:xfrm>
            <a:off x="8763033" y="5367912"/>
            <a:ext cx="3428963" cy="1490097"/>
          </a:xfrm>
          <a:custGeom>
            <a:avLst/>
            <a:gdLst>
              <a:gd name="f0" fmla="val 10800000"/>
              <a:gd name="f1" fmla="val 5400000"/>
              <a:gd name="f2" fmla="val 180"/>
              <a:gd name="f3" fmla="val w"/>
              <a:gd name="f4" fmla="val h"/>
              <a:gd name="f5" fmla="val 0"/>
              <a:gd name="f6" fmla="val 3428963"/>
              <a:gd name="f7" fmla="val 1490093"/>
              <a:gd name="f8" fmla="val 690108"/>
              <a:gd name="f9" fmla="+- 0 0 -90"/>
              <a:gd name="f10" fmla="*/ f3 1 3428963"/>
              <a:gd name="f11" fmla="*/ f4 1 1490093"/>
              <a:gd name="f12" fmla="+- f7 0 f5"/>
              <a:gd name="f13" fmla="+- f6 0 f5"/>
              <a:gd name="f14" fmla="*/ f9 f0 1"/>
              <a:gd name="f15" fmla="*/ f13 1 3428963"/>
              <a:gd name="f16" fmla="*/ f12 1 1490093"/>
              <a:gd name="f17" fmla="*/ 690108 f13 1"/>
              <a:gd name="f18" fmla="*/ 0 f12 1"/>
              <a:gd name="f19" fmla="*/ 3428963 f13 1"/>
              <a:gd name="f20" fmla="*/ 1490093 f12 1"/>
              <a:gd name="f21" fmla="*/ 0 f13 1"/>
              <a:gd name="f22" fmla="*/ f14 1 f2"/>
              <a:gd name="f23" fmla="*/ f17 1 3428963"/>
              <a:gd name="f24" fmla="*/ f18 1 1490093"/>
              <a:gd name="f25" fmla="*/ f19 1 3428963"/>
              <a:gd name="f26" fmla="*/ f20 1 1490093"/>
              <a:gd name="f27" fmla="*/ f21 1 3428963"/>
              <a:gd name="f28" fmla="*/ f5 1 f15"/>
              <a:gd name="f29" fmla="*/ f6 1 f15"/>
              <a:gd name="f30" fmla="*/ f5 1 f16"/>
              <a:gd name="f31" fmla="*/ f7 1 f16"/>
              <a:gd name="f32" fmla="+- f22 0 f1"/>
              <a:gd name="f33" fmla="*/ f23 1 f15"/>
              <a:gd name="f34" fmla="*/ f24 1 f16"/>
              <a:gd name="f35" fmla="*/ f25 1 f15"/>
              <a:gd name="f36" fmla="*/ f26 1 f16"/>
              <a:gd name="f37" fmla="*/ f27 1 f15"/>
              <a:gd name="f38" fmla="*/ f28 f10 1"/>
              <a:gd name="f39" fmla="*/ f29 f10 1"/>
              <a:gd name="f40" fmla="*/ f31 f11 1"/>
              <a:gd name="f41" fmla="*/ f30 f11 1"/>
              <a:gd name="f42" fmla="*/ f33 f10 1"/>
              <a:gd name="f43" fmla="*/ f34 f11 1"/>
              <a:gd name="f44" fmla="*/ f35 f10 1"/>
              <a:gd name="f45" fmla="*/ f36 f11 1"/>
              <a:gd name="f46" fmla="*/ f37 f10 1"/>
            </a:gdLst>
            <a:ahLst/>
            <a:cxnLst>
              <a:cxn ang="3cd4">
                <a:pos x="hc" y="t"/>
              </a:cxn>
              <a:cxn ang="0">
                <a:pos x="r" y="vc"/>
              </a:cxn>
              <a:cxn ang="cd4">
                <a:pos x="hc" y="b"/>
              </a:cxn>
              <a:cxn ang="cd2">
                <a:pos x="l" y="vc"/>
              </a:cxn>
              <a:cxn ang="f32">
                <a:pos x="f42" y="f43"/>
              </a:cxn>
              <a:cxn ang="f32">
                <a:pos x="f44" y="f43"/>
              </a:cxn>
              <a:cxn ang="f32">
                <a:pos x="f44" y="f45"/>
              </a:cxn>
              <a:cxn ang="f32">
                <a:pos x="f46" y="f45"/>
              </a:cxn>
            </a:cxnLst>
            <a:rect l="f38" t="f41" r="f39" b="f40"/>
            <a:pathLst>
              <a:path w="3428963" h="1490093">
                <a:moveTo>
                  <a:pt x="f8" y="f5"/>
                </a:moveTo>
                <a:lnTo>
                  <a:pt x="f6" y="f5"/>
                </a:lnTo>
                <a:lnTo>
                  <a:pt x="f6" y="f7"/>
                </a:lnTo>
                <a:lnTo>
                  <a:pt x="f5" y="f7"/>
                </a:lnTo>
                <a:close/>
              </a:path>
            </a:pathLst>
          </a:custGeom>
          <a:solidFill>
            <a:srgbClr val="000000">
              <a:alpha val="70000"/>
            </a:srgbClr>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6" name="Freeform: Shape 5">
            <a:extLst>
              <a:ext uri="{FF2B5EF4-FFF2-40B4-BE49-F238E27FC236}">
                <a16:creationId xmlns:a16="http://schemas.microsoft.com/office/drawing/2014/main" id="{3B2FE469-4625-4899-8D4B-4B1AECD82E39}"/>
              </a:ext>
            </a:extLst>
          </p:cNvPr>
          <p:cNvSpPr/>
          <p:nvPr/>
        </p:nvSpPr>
        <p:spPr>
          <a:xfrm>
            <a:off x="377857" y="693301"/>
            <a:ext cx="11069717" cy="0"/>
          </a:xfrm>
          <a:custGeom>
            <a:avLst/>
            <a:gdLst>
              <a:gd name="f0" fmla="val 10800000"/>
              <a:gd name="f1" fmla="val 5400000"/>
              <a:gd name="f2" fmla="val 180"/>
              <a:gd name="f3" fmla="val w"/>
              <a:gd name="f4" fmla="val h"/>
              <a:gd name="f5" fmla="val ss"/>
              <a:gd name="f6" fmla="val 0"/>
              <a:gd name="f7" fmla="+- 0 0 -180"/>
              <a:gd name="f8" fmla="+- 0 0 -360"/>
              <a:gd name="f9" fmla="abs f3"/>
              <a:gd name="f10" fmla="abs f4"/>
              <a:gd name="f11" fmla="abs f5"/>
              <a:gd name="f12" fmla="*/ f7 f0 1"/>
              <a:gd name="f13" fmla="*/ f8 f0 1"/>
              <a:gd name="f14" fmla="?: f9 f3 1"/>
              <a:gd name="f15" fmla="?: f10 f4 1"/>
              <a:gd name="f16" fmla="?: f11 f5 1"/>
              <a:gd name="f17" fmla="*/ f12 1 f2"/>
              <a:gd name="f18" fmla="*/ f13 1 f2"/>
              <a:gd name="f19" fmla="*/ f14 1 21600"/>
              <a:gd name="f20" fmla="*/ f15 1 21600"/>
              <a:gd name="f21" fmla="*/ 21600 f14 1"/>
              <a:gd name="f22" fmla="*/ 21600 f15 1"/>
              <a:gd name="f23" fmla="+- f17 0 f1"/>
              <a:gd name="f24" fmla="+- f18 0 f1"/>
              <a:gd name="f25" fmla="min f20 f19"/>
              <a:gd name="f26" fmla="*/ f21 1 f16"/>
              <a:gd name="f27" fmla="*/ f22 1 f16"/>
              <a:gd name="f28" fmla="val f26"/>
              <a:gd name="f29" fmla="val f27"/>
              <a:gd name="f30" fmla="*/ f6 f25 1"/>
              <a:gd name="f31" fmla="*/ f28 f25 1"/>
              <a:gd name="f32" fmla="*/ f29 f25 1"/>
            </a:gdLst>
            <a:ahLst/>
            <a:cxnLst>
              <a:cxn ang="3cd4">
                <a:pos x="hc" y="t"/>
              </a:cxn>
              <a:cxn ang="0">
                <a:pos x="r" y="vc"/>
              </a:cxn>
              <a:cxn ang="cd4">
                <a:pos x="hc" y="b"/>
              </a:cxn>
              <a:cxn ang="cd2">
                <a:pos x="l" y="vc"/>
              </a:cxn>
              <a:cxn ang="f23">
                <a:pos x="f30" y="f30"/>
              </a:cxn>
              <a:cxn ang="f24">
                <a:pos x="f31" y="f32"/>
              </a:cxn>
            </a:cxnLst>
            <a:rect l="f30" t="f30" r="f31" b="f32"/>
            <a:pathLst>
              <a:path>
                <a:moveTo>
                  <a:pt x="f30" y="f30"/>
                </a:moveTo>
                <a:lnTo>
                  <a:pt x="f31" y="f32"/>
                </a:lnTo>
              </a:path>
            </a:pathLst>
          </a:custGeom>
          <a:noFill/>
          <a:ln w="12701" cap="flat">
            <a:solidFill>
              <a:srgbClr val="5B9BD5"/>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CA" sz="1800" b="0" i="0" u="none" strike="noStrike" kern="1200" cap="none" spc="0" baseline="0">
              <a:solidFill>
                <a:srgbClr val="000000"/>
              </a:solidFill>
              <a:uFillTx/>
              <a:latin typeface="Calibri"/>
            </a:endParaRPr>
          </a:p>
        </p:txBody>
      </p:sp>
      <p:sp>
        <p:nvSpPr>
          <p:cNvPr id="9" name="Freeform: Shape 8">
            <a:extLst>
              <a:ext uri="{FF2B5EF4-FFF2-40B4-BE49-F238E27FC236}">
                <a16:creationId xmlns:a16="http://schemas.microsoft.com/office/drawing/2014/main" id="{AA61E4C0-B38B-43D5-A295-4BE549815539}"/>
              </a:ext>
            </a:extLst>
          </p:cNvPr>
          <p:cNvSpPr/>
          <p:nvPr/>
        </p:nvSpPr>
        <p:spPr>
          <a:xfrm>
            <a:off x="377857" y="857250"/>
            <a:ext cx="11167713" cy="3176576"/>
          </a:xfrm>
          <a:custGeom>
            <a:avLst/>
            <a:gdLst>
              <a:gd name="f0" fmla="val 10800000"/>
              <a:gd name="f1" fmla="val 5400000"/>
              <a:gd name="f2" fmla="val 180"/>
              <a:gd name="f3" fmla="val w"/>
              <a:gd name="f4" fmla="val h"/>
              <a:gd name="f5" fmla="val 0"/>
              <a:gd name="f6" fmla="val 11058904"/>
              <a:gd name="f7" fmla="val 1786651"/>
              <a:gd name="f8" fmla="+- 0 0 -90"/>
              <a:gd name="f9" fmla="*/ f3 1 11058904"/>
              <a:gd name="f10" fmla="*/ f4 1 1786651"/>
              <a:gd name="f11" fmla="+- f7 0 f5"/>
              <a:gd name="f12" fmla="+- f6 0 f5"/>
              <a:gd name="f13" fmla="*/ f8 f0 1"/>
              <a:gd name="f14" fmla="*/ f12 1 11058904"/>
              <a:gd name="f15" fmla="*/ f11 1 1786651"/>
              <a:gd name="f16" fmla="*/ 0 f12 1"/>
              <a:gd name="f17" fmla="*/ 0 f11 1"/>
              <a:gd name="f18" fmla="*/ 11058904 f12 1"/>
              <a:gd name="f19" fmla="*/ 1786651 f11 1"/>
              <a:gd name="f20" fmla="*/ f13 1 f2"/>
              <a:gd name="f21" fmla="*/ f16 1 11058904"/>
              <a:gd name="f22" fmla="*/ f17 1 1786651"/>
              <a:gd name="f23" fmla="*/ f18 1 11058904"/>
              <a:gd name="f24" fmla="*/ f19 1 1786651"/>
              <a:gd name="f25" fmla="*/ f5 1 f14"/>
              <a:gd name="f26" fmla="*/ f6 1 f14"/>
              <a:gd name="f27" fmla="*/ f5 1 f15"/>
              <a:gd name="f28" fmla="*/ f7 1 f15"/>
              <a:gd name="f29" fmla="+- f20 0 f1"/>
              <a:gd name="f30" fmla="*/ f21 1 f14"/>
              <a:gd name="f31" fmla="*/ f22 1 f15"/>
              <a:gd name="f32" fmla="*/ f23 1 f14"/>
              <a:gd name="f33" fmla="*/ f24 1 f15"/>
              <a:gd name="f34" fmla="*/ f25 f9 1"/>
              <a:gd name="f35" fmla="*/ f26 f9 1"/>
              <a:gd name="f36" fmla="*/ f28 f10 1"/>
              <a:gd name="f37" fmla="*/ f27 f10 1"/>
              <a:gd name="f38" fmla="*/ f30 f9 1"/>
              <a:gd name="f39" fmla="*/ f31 f10 1"/>
              <a:gd name="f40" fmla="*/ f32 f9 1"/>
              <a:gd name="f41" fmla="*/ f33 f10 1"/>
            </a:gdLst>
            <a:ahLst/>
            <a:cxnLst>
              <a:cxn ang="3cd4">
                <a:pos x="hc" y="t"/>
              </a:cxn>
              <a:cxn ang="0">
                <a:pos x="r" y="vc"/>
              </a:cxn>
              <a:cxn ang="cd4">
                <a:pos x="hc" y="b"/>
              </a:cxn>
              <a:cxn ang="cd2">
                <a:pos x="l" y="vc"/>
              </a:cxn>
              <a:cxn ang="f29">
                <a:pos x="f38" y="f39"/>
              </a:cxn>
              <a:cxn ang="f29">
                <a:pos x="f40" y="f39"/>
              </a:cxn>
              <a:cxn ang="f29">
                <a:pos x="f40" y="f41"/>
              </a:cxn>
              <a:cxn ang="f29">
                <a:pos x="f38" y="f41"/>
              </a:cxn>
              <a:cxn ang="f29">
                <a:pos x="f38" y="f39"/>
              </a:cxn>
            </a:cxnLst>
            <a:rect l="f34" t="f37" r="f35" b="f36"/>
            <a:pathLst>
              <a:path w="11058904" h="1786651">
                <a:moveTo>
                  <a:pt x="f5" y="f5"/>
                </a:moveTo>
                <a:lnTo>
                  <a:pt x="f6" y="f5"/>
                </a:lnTo>
                <a:lnTo>
                  <a:pt x="f6" y="f7"/>
                </a:lnTo>
                <a:lnTo>
                  <a:pt x="f5" y="f7"/>
                </a:lnTo>
                <a:lnTo>
                  <a:pt x="f5" y="f5"/>
                </a:lnTo>
                <a:close/>
              </a:path>
            </a:pathLst>
          </a:custGeom>
          <a:noFill/>
          <a:ln cap="flat">
            <a:noFill/>
            <a:prstDash val="solid"/>
          </a:ln>
        </p:spPr>
        <p:txBody>
          <a:bodyPr vert="horz" wrap="square" lIns="91440" tIns="91440" rIns="91440" bIns="91440" anchor="t" anchorCtr="0" compatLnSpc="1">
            <a:noAutofit/>
          </a:bodyPr>
          <a:lstStyle/>
          <a:p>
            <a:pPr marL="0" marR="0" lvl="0" indent="0" algn="l" defTabSz="1066803" rtl="0" fontAlgn="auto" hangingPunct="1">
              <a:lnSpc>
                <a:spcPct val="90000"/>
              </a:lnSpc>
              <a:spcBef>
                <a:spcPts val="0"/>
              </a:spcBef>
              <a:spcAft>
                <a:spcPts val="1000"/>
              </a:spcAft>
              <a:buNone/>
              <a:tabLst/>
              <a:defRPr sz="1800" b="0" i="0" u="none" strike="noStrike" kern="0" cap="none" spc="0" baseline="0">
                <a:solidFill>
                  <a:srgbClr val="000000"/>
                </a:solidFill>
                <a:uFillTx/>
              </a:defRPr>
            </a:pPr>
            <a:r>
              <a:rPr lang="en-CA" sz="4000" b="1" i="0" u="none" strike="noStrike" kern="1200" cap="none" spc="0" baseline="0" dirty="0">
                <a:solidFill>
                  <a:srgbClr val="000000"/>
                </a:solidFill>
                <a:uFillTx/>
                <a:latin typeface="Calibri"/>
              </a:rPr>
              <a:t>Younger cohorts….</a:t>
            </a:r>
          </a:p>
          <a:p>
            <a:pPr marL="514350" marR="0" lvl="0" indent="-514350" algn="l" defTabSz="1066803" rtl="0" fontAlgn="auto" hangingPunct="1">
              <a:lnSpc>
                <a:spcPct val="90000"/>
              </a:lnSpc>
              <a:spcBef>
                <a:spcPts val="0"/>
              </a:spcBef>
              <a:spcAft>
                <a:spcPts val="1000"/>
              </a:spcAft>
              <a:buAutoNum type="arabicParenR"/>
              <a:tabLst/>
              <a:defRPr sz="1800" b="0" i="0" u="none" strike="noStrike" kern="0" cap="none" spc="0" baseline="0">
                <a:solidFill>
                  <a:srgbClr val="000000"/>
                </a:solidFill>
                <a:uFillTx/>
              </a:defRPr>
            </a:pPr>
            <a:r>
              <a:rPr lang="en-CA" sz="3600" dirty="0">
                <a:solidFill>
                  <a:srgbClr val="000000"/>
                </a:solidFill>
                <a:latin typeface="Calibri"/>
              </a:rPr>
              <a:t>…are more critical citizens</a:t>
            </a:r>
          </a:p>
          <a:p>
            <a:pPr marL="514350" marR="0" lvl="0" indent="-514350" algn="l" defTabSz="1066803" rtl="0" fontAlgn="auto" hangingPunct="1">
              <a:lnSpc>
                <a:spcPct val="90000"/>
              </a:lnSpc>
              <a:spcBef>
                <a:spcPts val="0"/>
              </a:spcBef>
              <a:spcAft>
                <a:spcPts val="1000"/>
              </a:spcAft>
              <a:buAutoNum type="arabicParenR"/>
              <a:tabLst/>
              <a:defRPr sz="1800" b="0" i="0" u="none" strike="noStrike" kern="0" cap="none" spc="0" baseline="0">
                <a:solidFill>
                  <a:srgbClr val="000000"/>
                </a:solidFill>
                <a:uFillTx/>
              </a:defRPr>
            </a:pPr>
            <a:r>
              <a:rPr lang="en-CA" sz="3600" dirty="0">
                <a:solidFill>
                  <a:srgbClr val="000000"/>
                </a:solidFill>
                <a:latin typeface="Calibri"/>
              </a:rPr>
              <a:t>…are confused about alternatives to democracy</a:t>
            </a:r>
          </a:p>
          <a:p>
            <a:pPr marL="514350" marR="0" lvl="0" indent="-514350" algn="l" defTabSz="1066803" rtl="0" fontAlgn="auto" hangingPunct="1">
              <a:lnSpc>
                <a:spcPct val="90000"/>
              </a:lnSpc>
              <a:spcBef>
                <a:spcPts val="0"/>
              </a:spcBef>
              <a:spcAft>
                <a:spcPts val="1000"/>
              </a:spcAft>
              <a:buAutoNum type="arabicParenR"/>
              <a:tabLst/>
              <a:defRPr sz="1800" b="0" i="0" u="none" strike="noStrike" kern="0" cap="none" spc="0" baseline="0">
                <a:solidFill>
                  <a:srgbClr val="000000"/>
                </a:solidFill>
                <a:uFillTx/>
              </a:defRPr>
            </a:pPr>
            <a:r>
              <a:rPr lang="en-CA" sz="3600" dirty="0">
                <a:solidFill>
                  <a:srgbClr val="000000"/>
                </a:solidFill>
                <a:latin typeface="Calibri"/>
              </a:rPr>
              <a:t>…might react differently to scenarios about democratic backsliding of politicians than more abstract democracy questions  </a:t>
            </a:r>
          </a:p>
          <a:p>
            <a:pPr marL="514350" marR="0" lvl="0" indent="-514350" algn="l" defTabSz="1066803" rtl="0" fontAlgn="auto" hangingPunct="1">
              <a:lnSpc>
                <a:spcPct val="90000"/>
              </a:lnSpc>
              <a:spcBef>
                <a:spcPts val="0"/>
              </a:spcBef>
              <a:spcAft>
                <a:spcPts val="1000"/>
              </a:spcAft>
              <a:buAutoNum type="arabicParenR"/>
              <a:tabLst/>
              <a:defRPr sz="1800" b="0" i="0" u="none" strike="noStrike" kern="0" cap="none" spc="0" baseline="0">
                <a:solidFill>
                  <a:srgbClr val="000000"/>
                </a:solidFill>
                <a:uFillTx/>
              </a:defRPr>
            </a:pPr>
            <a:r>
              <a:rPr lang="en-CA" sz="3600" dirty="0">
                <a:solidFill>
                  <a:srgbClr val="000000"/>
                </a:solidFill>
                <a:latin typeface="Calibri"/>
              </a:rPr>
              <a:t>….have less knowledge </a:t>
            </a:r>
          </a:p>
          <a:p>
            <a:pPr marL="514350" marR="0" lvl="0" indent="-514350" algn="l" defTabSz="1066803" rtl="0" fontAlgn="auto" hangingPunct="1">
              <a:lnSpc>
                <a:spcPct val="90000"/>
              </a:lnSpc>
              <a:spcBef>
                <a:spcPts val="0"/>
              </a:spcBef>
              <a:spcAft>
                <a:spcPts val="1000"/>
              </a:spcAft>
              <a:buAutoNum type="arabicParenR"/>
              <a:tabLst/>
              <a:defRPr sz="1800" b="0" i="0" u="none" strike="noStrike" kern="0" cap="none" spc="0" baseline="0">
                <a:solidFill>
                  <a:srgbClr val="000000"/>
                </a:solidFill>
                <a:uFillTx/>
              </a:defRPr>
            </a:pPr>
            <a:endParaRPr lang="en-CA" sz="2800" b="1" i="0" u="none" strike="noStrike" kern="1200" cap="none" spc="0" baseline="0" dirty="0">
              <a:solidFill>
                <a:srgbClr val="000000"/>
              </a:solidFill>
              <a:uFillTx/>
              <a:latin typeface="Calibri"/>
            </a:endParaRPr>
          </a:p>
          <a:p>
            <a:pPr lvl="0" defTabSz="1066803">
              <a:lnSpc>
                <a:spcPct val="90000"/>
              </a:lnSpc>
              <a:spcAft>
                <a:spcPts val="1000"/>
              </a:spcAft>
              <a:defRPr sz="1800" b="0" i="0" u="none" strike="noStrike" kern="0" cap="none" spc="0" baseline="0">
                <a:solidFill>
                  <a:srgbClr val="000000"/>
                </a:solidFill>
                <a:uFillTx/>
              </a:defRPr>
            </a:pPr>
            <a:endParaRPr lang="en-CA" sz="2800" b="1" i="0" u="none" strike="noStrike" kern="1200" cap="none" spc="0" baseline="0" dirty="0">
              <a:solidFill>
                <a:srgbClr val="000000"/>
              </a:solidFill>
              <a:uFillTx/>
            </a:endParaRPr>
          </a:p>
          <a:p>
            <a:pPr marL="0" marR="0" lvl="0" indent="0" algn="l" defTabSz="1066803" rtl="0" fontAlgn="auto" hangingPunct="1">
              <a:lnSpc>
                <a:spcPct val="90000"/>
              </a:lnSpc>
              <a:spcBef>
                <a:spcPts val="0"/>
              </a:spcBef>
              <a:spcAft>
                <a:spcPts val="1000"/>
              </a:spcAft>
              <a:buNone/>
              <a:tabLst/>
              <a:defRPr sz="1800" b="0" i="0" u="none" strike="noStrike" kern="0" cap="none" spc="0" baseline="0">
                <a:solidFill>
                  <a:srgbClr val="000000"/>
                </a:solidFill>
                <a:uFillTx/>
              </a:defRPr>
            </a:pPr>
            <a:endParaRPr lang="en-CA" sz="2800" b="0" i="0" u="none" strike="noStrike" kern="1200" cap="none" spc="0" baseline="0" dirty="0">
              <a:solidFill>
                <a:srgbClr val="000000"/>
              </a:solidFill>
              <a:uFillTx/>
            </a:endParaRPr>
          </a:p>
          <a:p>
            <a:pPr marL="0" marR="0" lvl="0" indent="0" algn="l" defTabSz="1066803" rtl="0" fontAlgn="auto" hangingPunct="1">
              <a:lnSpc>
                <a:spcPct val="90000"/>
              </a:lnSpc>
              <a:spcBef>
                <a:spcPts val="0"/>
              </a:spcBef>
              <a:spcAft>
                <a:spcPts val="1000"/>
              </a:spcAft>
              <a:buNone/>
              <a:tabLst/>
              <a:defRPr sz="1800" b="0" i="0" u="none" strike="noStrike" kern="0" cap="none" spc="0" baseline="0">
                <a:solidFill>
                  <a:srgbClr val="000000"/>
                </a:solidFill>
                <a:uFillTx/>
              </a:defRPr>
            </a:pPr>
            <a:endParaRPr lang="en-US" sz="2400" b="0" i="0" u="none" strike="noStrike" kern="1200" cap="none" spc="0" baseline="0" dirty="0">
              <a:solidFill>
                <a:srgbClr val="000000"/>
              </a:solidFill>
              <a:uFillTx/>
              <a:latin typeface="Calibri"/>
            </a:endParaRPr>
          </a:p>
        </p:txBody>
      </p:sp>
      <p:sp>
        <p:nvSpPr>
          <p:cNvPr id="10" name="Freeform: Shape 9">
            <a:extLst>
              <a:ext uri="{FF2B5EF4-FFF2-40B4-BE49-F238E27FC236}">
                <a16:creationId xmlns:a16="http://schemas.microsoft.com/office/drawing/2014/main" id="{A3233422-6D1B-491A-ADBD-A3E01272914F}"/>
              </a:ext>
            </a:extLst>
          </p:cNvPr>
          <p:cNvSpPr/>
          <p:nvPr/>
        </p:nvSpPr>
        <p:spPr>
          <a:xfrm>
            <a:off x="473107" y="5218438"/>
            <a:ext cx="11069717" cy="0"/>
          </a:xfrm>
          <a:custGeom>
            <a:avLst/>
            <a:gdLst>
              <a:gd name="f0" fmla="val 10800000"/>
              <a:gd name="f1" fmla="val 5400000"/>
              <a:gd name="f2" fmla="val 180"/>
              <a:gd name="f3" fmla="val w"/>
              <a:gd name="f4" fmla="val h"/>
              <a:gd name="f5" fmla="val ss"/>
              <a:gd name="f6" fmla="val 0"/>
              <a:gd name="f7" fmla="+- 0 0 -180"/>
              <a:gd name="f8" fmla="+- 0 0 -360"/>
              <a:gd name="f9" fmla="abs f3"/>
              <a:gd name="f10" fmla="abs f4"/>
              <a:gd name="f11" fmla="abs f5"/>
              <a:gd name="f12" fmla="*/ f7 f0 1"/>
              <a:gd name="f13" fmla="*/ f8 f0 1"/>
              <a:gd name="f14" fmla="?: f9 f3 1"/>
              <a:gd name="f15" fmla="?: f10 f4 1"/>
              <a:gd name="f16" fmla="?: f11 f5 1"/>
              <a:gd name="f17" fmla="*/ f12 1 f2"/>
              <a:gd name="f18" fmla="*/ f13 1 f2"/>
              <a:gd name="f19" fmla="*/ f14 1 21600"/>
              <a:gd name="f20" fmla="*/ f15 1 21600"/>
              <a:gd name="f21" fmla="*/ 21600 f14 1"/>
              <a:gd name="f22" fmla="*/ 21600 f15 1"/>
              <a:gd name="f23" fmla="+- f17 0 f1"/>
              <a:gd name="f24" fmla="+- f18 0 f1"/>
              <a:gd name="f25" fmla="min f20 f19"/>
              <a:gd name="f26" fmla="*/ f21 1 f16"/>
              <a:gd name="f27" fmla="*/ f22 1 f16"/>
              <a:gd name="f28" fmla="val f26"/>
              <a:gd name="f29" fmla="val f27"/>
              <a:gd name="f30" fmla="*/ f6 f25 1"/>
              <a:gd name="f31" fmla="*/ f28 f25 1"/>
              <a:gd name="f32" fmla="*/ f29 f25 1"/>
            </a:gdLst>
            <a:ahLst/>
            <a:cxnLst>
              <a:cxn ang="3cd4">
                <a:pos x="hc" y="t"/>
              </a:cxn>
              <a:cxn ang="0">
                <a:pos x="r" y="vc"/>
              </a:cxn>
              <a:cxn ang="cd4">
                <a:pos x="hc" y="b"/>
              </a:cxn>
              <a:cxn ang="cd2">
                <a:pos x="l" y="vc"/>
              </a:cxn>
              <a:cxn ang="f23">
                <a:pos x="f30" y="f30"/>
              </a:cxn>
              <a:cxn ang="f24">
                <a:pos x="f31" y="f32"/>
              </a:cxn>
            </a:cxnLst>
            <a:rect l="f30" t="f30" r="f31" b="f32"/>
            <a:pathLst>
              <a:path>
                <a:moveTo>
                  <a:pt x="f30" y="f30"/>
                </a:moveTo>
                <a:lnTo>
                  <a:pt x="f31" y="f32"/>
                </a:lnTo>
              </a:path>
            </a:pathLst>
          </a:custGeom>
          <a:noFill/>
          <a:ln w="12701" cap="flat">
            <a:solidFill>
              <a:srgbClr val="70AD47"/>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CA" sz="1800" b="0" i="0" u="none" strike="noStrike" kern="1200" cap="none" spc="0" baseline="0">
              <a:solidFill>
                <a:srgbClr val="000000"/>
              </a:solidFill>
              <a:uFillTx/>
              <a:latin typeface="Calibri"/>
            </a:endParaRPr>
          </a:p>
        </p:txBody>
      </p:sp>
      <p:pic>
        <p:nvPicPr>
          <p:cNvPr id="12" name="Picture 12" descr="Fodem">
            <a:extLst>
              <a:ext uri="{FF2B5EF4-FFF2-40B4-BE49-F238E27FC236}">
                <a16:creationId xmlns:a16="http://schemas.microsoft.com/office/drawing/2014/main" id="{E963BF7F-50E3-4503-94DC-91014674EAB9}"/>
              </a:ext>
            </a:extLst>
          </p:cNvPr>
          <p:cNvPicPr>
            <a:picLocks noChangeAspect="1"/>
          </p:cNvPicPr>
          <p:nvPr/>
        </p:nvPicPr>
        <p:blipFill>
          <a:blip r:embed="rId3"/>
          <a:srcRect/>
          <a:stretch>
            <a:fillRect/>
          </a:stretch>
        </p:blipFill>
        <p:spPr>
          <a:xfrm>
            <a:off x="9395780" y="6214536"/>
            <a:ext cx="700823" cy="599224"/>
          </a:xfrm>
          <a:prstGeom prst="rect">
            <a:avLst/>
          </a:prstGeom>
          <a:noFill/>
          <a:ln cap="flat">
            <a:noFill/>
          </a:ln>
        </p:spPr>
      </p:pic>
      <p:pic>
        <p:nvPicPr>
          <p:cNvPr id="13" name="Picture 47" descr="A close up of a logo&#10;&#10;Description generated with very high confidence">
            <a:extLst>
              <a:ext uri="{FF2B5EF4-FFF2-40B4-BE49-F238E27FC236}">
                <a16:creationId xmlns:a16="http://schemas.microsoft.com/office/drawing/2014/main" id="{3D55F12F-3FB9-4FFF-8AE9-8C2F0F736994}"/>
              </a:ext>
            </a:extLst>
          </p:cNvPr>
          <p:cNvPicPr>
            <a:picLocks noChangeAspect="1"/>
          </p:cNvPicPr>
          <p:nvPr/>
        </p:nvPicPr>
        <p:blipFill>
          <a:blip r:embed="rId4"/>
          <a:srcRect/>
          <a:stretch>
            <a:fillRect/>
          </a:stretch>
        </p:blipFill>
        <p:spPr>
          <a:xfrm>
            <a:off x="10272762" y="6105942"/>
            <a:ext cx="1627696" cy="752057"/>
          </a:xfrm>
          <a:prstGeom prst="rect">
            <a:avLst/>
          </a:prstGeom>
          <a:noFill/>
          <a:ln cap="flat">
            <a:noFill/>
          </a:ln>
        </p:spPr>
      </p:pic>
      <p:pic>
        <p:nvPicPr>
          <p:cNvPr id="14" name="Picture 6" descr="Image result for McGill logo">
            <a:extLst>
              <a:ext uri="{FF2B5EF4-FFF2-40B4-BE49-F238E27FC236}">
                <a16:creationId xmlns:a16="http://schemas.microsoft.com/office/drawing/2014/main" id="{7EE24FF9-425D-4C52-91DB-3731351C8B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25249" y="5507131"/>
            <a:ext cx="1129678" cy="5983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0370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37A924-73C8-48F0-AB89-036F19F37250}"/>
              </a:ext>
            </a:extLst>
          </p:cNvPr>
          <p:cNvSpPr>
            <a:spLocks noGrp="1"/>
          </p:cNvSpPr>
          <p:nvPr>
            <p:ph type="title"/>
          </p:nvPr>
        </p:nvSpPr>
        <p:spPr>
          <a:xfrm>
            <a:off x="635000" y="640823"/>
            <a:ext cx="3418659" cy="5583148"/>
          </a:xfrm>
        </p:spPr>
        <p:txBody>
          <a:bodyPr anchor="ctr">
            <a:normAutofit/>
          </a:bodyPr>
          <a:lstStyle/>
          <a:p>
            <a:r>
              <a:rPr lang="en-CA" sz="5400"/>
              <a:t>Data</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32EB729D-68D6-470E-8715-0408476BE076}"/>
              </a:ext>
            </a:extLst>
          </p:cNvPr>
          <p:cNvGraphicFramePr>
            <a:graphicFrameLocks noGrp="1"/>
          </p:cNvGraphicFramePr>
          <p:nvPr>
            <p:ph idx="1"/>
            <p:extLst>
              <p:ext uri="{D42A27DB-BD31-4B8C-83A1-F6EECF244321}">
                <p14:modId xmlns:p14="http://schemas.microsoft.com/office/powerpoint/2010/main" val="721261078"/>
              </p:ext>
            </p:extLst>
          </p:nvPr>
        </p:nvGraphicFramePr>
        <p:xfrm>
          <a:off x="4648017" y="640822"/>
          <a:ext cx="7402955" cy="60192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11436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96175D-C58F-471D-91F3-5998D144A589}"/>
              </a:ext>
            </a:extLst>
          </p:cNvPr>
          <p:cNvSpPr>
            <a:spLocks noGrp="1"/>
          </p:cNvSpPr>
          <p:nvPr>
            <p:ph type="title"/>
          </p:nvPr>
        </p:nvSpPr>
        <p:spPr>
          <a:xfrm>
            <a:off x="742950" y="742951"/>
            <a:ext cx="3476625" cy="4962524"/>
          </a:xfrm>
        </p:spPr>
        <p:txBody>
          <a:bodyPr vert="horz" lIns="91440" tIns="45720" rIns="91440" bIns="45720" rtlCol="0" anchor="ctr">
            <a:normAutofit/>
          </a:bodyPr>
          <a:lstStyle/>
          <a:p>
            <a:pPr algn="ctr">
              <a:spcBef>
                <a:spcPct val="0"/>
              </a:spcBef>
            </a:pPr>
            <a:r>
              <a:rPr lang="en-US" sz="2600" b="1" kern="1200">
                <a:solidFill>
                  <a:srgbClr val="FFFFFF"/>
                </a:solidFill>
                <a:latin typeface="+mj-lt"/>
                <a:ea typeface="+mj-ea"/>
                <a:cs typeface="+mj-cs"/>
              </a:rPr>
              <a:t>Critical Citizens? </a:t>
            </a:r>
            <a:br>
              <a:rPr lang="en-US" sz="2600" kern="1200">
                <a:solidFill>
                  <a:srgbClr val="FFFFFF"/>
                </a:solidFill>
                <a:latin typeface="+mj-lt"/>
                <a:ea typeface="+mj-ea"/>
                <a:cs typeface="+mj-cs"/>
              </a:rPr>
            </a:br>
            <a:br>
              <a:rPr lang="en-US" sz="2600" kern="1200">
                <a:solidFill>
                  <a:srgbClr val="FFFFFF"/>
                </a:solidFill>
                <a:latin typeface="+mj-lt"/>
                <a:ea typeface="+mj-ea"/>
                <a:cs typeface="+mj-cs"/>
              </a:rPr>
            </a:br>
            <a:r>
              <a:rPr lang="en-US" sz="2600" kern="1200">
                <a:solidFill>
                  <a:srgbClr val="FFFFFF"/>
                </a:solidFill>
                <a:latin typeface="+mj-lt"/>
                <a:ea typeface="+mj-ea"/>
                <a:cs typeface="+mj-cs"/>
              </a:rPr>
              <a:t>There is no evidence that younger cohorts are more dissatisfied with democracy. But their dissatisfaction translates into less support for democracy compared with older cohorts.</a:t>
            </a:r>
          </a:p>
        </p:txBody>
      </p:sp>
      <p:pic>
        <p:nvPicPr>
          <p:cNvPr id="6" name="Content Placeholder 5" descr="A picture containing timeline&#10;&#10;Description automatically generated">
            <a:extLst>
              <a:ext uri="{FF2B5EF4-FFF2-40B4-BE49-F238E27FC236}">
                <a16:creationId xmlns:a16="http://schemas.microsoft.com/office/drawing/2014/main" id="{20DD3DA5-B232-44E9-A5E9-2306A5D65BD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835706" y="283434"/>
            <a:ext cx="7123281" cy="6475711"/>
          </a:xfrm>
        </p:spPr>
      </p:pic>
    </p:spTree>
    <p:extLst>
      <p:ext uri="{BB962C8B-B14F-4D97-AF65-F5344CB8AC3E}">
        <p14:creationId xmlns:p14="http://schemas.microsoft.com/office/powerpoint/2010/main" val="1962046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96175D-C58F-471D-91F3-5998D144A589}"/>
              </a:ext>
            </a:extLst>
          </p:cNvPr>
          <p:cNvSpPr>
            <a:spLocks noGrp="1"/>
          </p:cNvSpPr>
          <p:nvPr>
            <p:ph type="title"/>
          </p:nvPr>
        </p:nvSpPr>
        <p:spPr>
          <a:xfrm>
            <a:off x="742950" y="742951"/>
            <a:ext cx="3476625" cy="4962524"/>
          </a:xfrm>
        </p:spPr>
        <p:txBody>
          <a:bodyPr vert="horz" lIns="91440" tIns="45720" rIns="91440" bIns="45720" rtlCol="0" anchor="ctr">
            <a:normAutofit/>
          </a:bodyPr>
          <a:lstStyle/>
          <a:p>
            <a:pPr algn="ctr">
              <a:spcBef>
                <a:spcPct val="0"/>
              </a:spcBef>
            </a:pPr>
            <a:r>
              <a:rPr lang="en-US" sz="2600" b="1" kern="1200">
                <a:solidFill>
                  <a:srgbClr val="FFFFFF"/>
                </a:solidFill>
                <a:latin typeface="+mj-lt"/>
                <a:ea typeface="+mj-ea"/>
                <a:cs typeface="+mj-cs"/>
              </a:rPr>
              <a:t>Critical Citizens? </a:t>
            </a:r>
            <a:br>
              <a:rPr lang="en-US" sz="2600" kern="1200">
                <a:solidFill>
                  <a:srgbClr val="FFFFFF"/>
                </a:solidFill>
                <a:latin typeface="+mj-lt"/>
                <a:ea typeface="+mj-ea"/>
                <a:cs typeface="+mj-cs"/>
              </a:rPr>
            </a:br>
            <a:br>
              <a:rPr lang="en-US" sz="2600" kern="1200">
                <a:solidFill>
                  <a:srgbClr val="FFFFFF"/>
                </a:solidFill>
                <a:latin typeface="+mj-lt"/>
                <a:ea typeface="+mj-ea"/>
                <a:cs typeface="+mj-cs"/>
              </a:rPr>
            </a:br>
            <a:r>
              <a:rPr lang="en-US" sz="2600" kern="1200">
                <a:solidFill>
                  <a:srgbClr val="FFFFFF"/>
                </a:solidFill>
                <a:latin typeface="+mj-lt"/>
                <a:ea typeface="+mj-ea"/>
                <a:cs typeface="+mj-cs"/>
              </a:rPr>
              <a:t>There is no evidence that younger cohorts are more dissatisfied with democracy. But their dissatisfaction translates into less support for democracy compared with older cohorts.</a:t>
            </a:r>
          </a:p>
        </p:txBody>
      </p:sp>
      <p:pic>
        <p:nvPicPr>
          <p:cNvPr id="7" name="Content Placeholder 6">
            <a:extLst>
              <a:ext uri="{FF2B5EF4-FFF2-40B4-BE49-F238E27FC236}">
                <a16:creationId xmlns:a16="http://schemas.microsoft.com/office/drawing/2014/main" id="{87AB6A9C-B229-4CFE-8E90-A081E0D11BB7}"/>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5153822" y="884370"/>
            <a:ext cx="6553544" cy="5097201"/>
          </a:xfrm>
          <a:prstGeom prst="rect">
            <a:avLst/>
          </a:prstGeom>
        </p:spPr>
      </p:pic>
    </p:spTree>
    <p:extLst>
      <p:ext uri="{BB962C8B-B14F-4D97-AF65-F5344CB8AC3E}">
        <p14:creationId xmlns:p14="http://schemas.microsoft.com/office/powerpoint/2010/main" val="3127894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5645A921-5856-4AE6-B219-315426EAD373}"/>
              </a:ext>
            </a:extLst>
          </p:cNvPr>
          <p:cNvSpPr>
            <a:spLocks noGrp="1"/>
          </p:cNvSpPr>
          <p:nvPr>
            <p:ph type="title"/>
          </p:nvPr>
        </p:nvSpPr>
        <p:spPr>
          <a:xfrm>
            <a:off x="132522" y="705454"/>
            <a:ext cx="3571810" cy="3573516"/>
          </a:xfrm>
        </p:spPr>
        <p:txBody>
          <a:bodyPr vert="horz" lIns="91440" tIns="45720" rIns="91440" bIns="45720" rtlCol="0" anchor="b">
            <a:normAutofit/>
          </a:bodyPr>
          <a:lstStyle/>
          <a:p>
            <a:pPr>
              <a:spcBef>
                <a:spcPct val="0"/>
              </a:spcBef>
            </a:pPr>
            <a:r>
              <a:rPr lang="en-US" sz="6000" kern="1200" dirty="0">
                <a:solidFill>
                  <a:schemeClr val="tx1"/>
                </a:solidFill>
                <a:latin typeface="+mj-lt"/>
                <a:ea typeface="+mj-ea"/>
                <a:cs typeface="+mj-cs"/>
              </a:rPr>
              <a:t>Confused Citizens? </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AD91EC2-4CE9-4C0F-B3FC-24D3022DCC7E}"/>
              </a:ext>
            </a:extLst>
          </p:cNvPr>
          <p:cNvPicPr/>
          <p:nvPr/>
        </p:nvPicPr>
        <p:blipFill>
          <a:blip r:embed="rId3">
            <a:extLst>
              <a:ext uri="{28A0092B-C50C-407E-A947-70E740481C1C}">
                <a14:useLocalDpi xmlns:a14="http://schemas.microsoft.com/office/drawing/2010/main" val="0"/>
              </a:ext>
            </a:extLst>
          </a:blip>
          <a:srcRect/>
          <a:stretch/>
        </p:blipFill>
        <p:spPr>
          <a:xfrm>
            <a:off x="3988904" y="947995"/>
            <a:ext cx="7880007" cy="5910005"/>
          </a:xfrm>
          <a:prstGeom prst="rect">
            <a:avLst/>
          </a:prstGeom>
        </p:spPr>
      </p:pic>
      <p:sp>
        <p:nvSpPr>
          <p:cNvPr id="2" name="TextBox 1">
            <a:extLst>
              <a:ext uri="{FF2B5EF4-FFF2-40B4-BE49-F238E27FC236}">
                <a16:creationId xmlns:a16="http://schemas.microsoft.com/office/drawing/2014/main" id="{C9236FF2-2F95-46D2-9DE0-2D51A32A1DAC}"/>
              </a:ext>
            </a:extLst>
          </p:cNvPr>
          <p:cNvSpPr txBox="1"/>
          <p:nvPr/>
        </p:nvSpPr>
        <p:spPr>
          <a:xfrm>
            <a:off x="471657" y="0"/>
            <a:ext cx="10629159" cy="1077218"/>
          </a:xfrm>
          <a:prstGeom prst="rect">
            <a:avLst/>
          </a:prstGeom>
          <a:noFill/>
        </p:spPr>
        <p:txBody>
          <a:bodyPr wrap="square" rtlCol="0">
            <a:spAutoFit/>
          </a:bodyPr>
          <a:lstStyle/>
          <a:p>
            <a:r>
              <a:rPr lang="en-CA" sz="3200" dirty="0"/>
              <a:t>Showing proportion endorsing a strong leader for respondents who score 10 on importance for democracy</a:t>
            </a:r>
          </a:p>
        </p:txBody>
      </p:sp>
    </p:spTree>
    <p:extLst>
      <p:ext uri="{BB962C8B-B14F-4D97-AF65-F5344CB8AC3E}">
        <p14:creationId xmlns:p14="http://schemas.microsoft.com/office/powerpoint/2010/main" val="197429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411EDB-1D94-48BF-93BF-CCA32F984E40}"/>
              </a:ext>
            </a:extLst>
          </p:cNvPr>
          <p:cNvSpPr>
            <a:spLocks noGrp="1"/>
          </p:cNvSpPr>
          <p:nvPr>
            <p:ph type="title"/>
          </p:nvPr>
        </p:nvSpPr>
        <p:spPr>
          <a:xfrm>
            <a:off x="841248" y="548640"/>
            <a:ext cx="3600860" cy="5431536"/>
          </a:xfrm>
        </p:spPr>
        <p:txBody>
          <a:bodyPr>
            <a:normAutofit/>
          </a:bodyPr>
          <a:lstStyle/>
          <a:p>
            <a:r>
              <a:rPr lang="en-CA" sz="5400" dirty="0"/>
              <a:t>Alternative Measures of Democratic Support</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4F65150-9680-4307-8DA1-A82ACC7E5C66}"/>
              </a:ext>
            </a:extLst>
          </p:cNvPr>
          <p:cNvSpPr>
            <a:spLocks noGrp="1"/>
          </p:cNvSpPr>
          <p:nvPr>
            <p:ph idx="1"/>
          </p:nvPr>
        </p:nvSpPr>
        <p:spPr>
          <a:xfrm>
            <a:off x="5126418" y="552091"/>
            <a:ext cx="6224335" cy="5431536"/>
          </a:xfrm>
        </p:spPr>
        <p:txBody>
          <a:bodyPr anchor="ctr">
            <a:normAutofit/>
          </a:bodyPr>
          <a:lstStyle/>
          <a:p>
            <a:r>
              <a:rPr lang="en-CA" dirty="0"/>
              <a:t>Concrete Backsliding Scenarios </a:t>
            </a:r>
            <a:r>
              <a:rPr lang="en-CA" dirty="0">
                <a:solidFill>
                  <a:schemeClr val="tx1"/>
                </a:solidFill>
              </a:rPr>
              <a:t>with </a:t>
            </a:r>
            <a:r>
              <a:rPr lang="en-CA" dirty="0"/>
              <a:t>which respondents agree or disagree</a:t>
            </a:r>
          </a:p>
          <a:p>
            <a:r>
              <a:rPr lang="en-CA" dirty="0"/>
              <a:t>Wording experiments</a:t>
            </a:r>
          </a:p>
          <a:p>
            <a:r>
              <a:rPr lang="en-CA" dirty="0"/>
              <a:t>Vignette Experiments</a:t>
            </a:r>
          </a:p>
          <a:p>
            <a:r>
              <a:rPr lang="en-CA" dirty="0"/>
              <a:t>Conjoint Experiments</a:t>
            </a:r>
          </a:p>
          <a:p>
            <a:pPr marL="0" indent="0">
              <a:buNone/>
            </a:pPr>
            <a:r>
              <a:rPr lang="en-CA" dirty="0">
                <a:sym typeface="Wingdings" panose="05000000000000000000" pitchFamily="2" charset="2"/>
              </a:rPr>
              <a:t> the point is to ask about democracy not in an abstract sense but by providing more concrete situations that are clearly undemocratic</a:t>
            </a:r>
            <a:endParaRPr lang="en-CA" dirty="0"/>
          </a:p>
        </p:txBody>
      </p:sp>
    </p:spTree>
    <p:extLst>
      <p:ext uri="{BB962C8B-B14F-4D97-AF65-F5344CB8AC3E}">
        <p14:creationId xmlns:p14="http://schemas.microsoft.com/office/powerpoint/2010/main" val="14986255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7">
    <p:bg>
      <p:bgPr>
        <a:solidFill>
          <a:srgbClr val="FFFFFF"/>
        </a:solidFill>
        <a:effectLst/>
      </p:bgPr>
    </p:bg>
    <p:spTree>
      <p:nvGrpSpPr>
        <p:cNvPr id="1" name=""/>
        <p:cNvGrpSpPr/>
        <p:nvPr/>
      </p:nvGrpSpPr>
      <p:grpSpPr>
        <a:xfrm>
          <a:off x="0" y="0"/>
          <a:ext cx="0" cy="0"/>
          <a:chOff x="0" y="0"/>
          <a:chExt cx="0" cy="0"/>
        </a:xfrm>
      </p:grpSpPr>
      <p:sp>
        <p:nvSpPr>
          <p:cNvPr id="2" name="Freeform: Shape 18">
            <a:extLst>
              <a:ext uri="{FF2B5EF4-FFF2-40B4-BE49-F238E27FC236}">
                <a16:creationId xmlns:a16="http://schemas.microsoft.com/office/drawing/2014/main" id="{9C899144-0BA4-47BF-88AD-083B67C4293B}"/>
              </a:ext>
            </a:extLst>
          </p:cNvPr>
          <p:cNvSpPr>
            <a:spLocks noMove="1" noResize="1"/>
          </p:cNvSpPr>
          <p:nvPr/>
        </p:nvSpPr>
        <p:spPr>
          <a:xfrm>
            <a:off x="0" y="5367912"/>
            <a:ext cx="9161026" cy="1490097"/>
          </a:xfrm>
          <a:custGeom>
            <a:avLst/>
            <a:gdLst>
              <a:gd name="f0" fmla="val 10800000"/>
              <a:gd name="f1" fmla="val 5400000"/>
              <a:gd name="f2" fmla="val 180"/>
              <a:gd name="f3" fmla="val w"/>
              <a:gd name="f4" fmla="val h"/>
              <a:gd name="f5" fmla="val 0"/>
              <a:gd name="f6" fmla="val 9161029"/>
              <a:gd name="f7" fmla="val 1490093"/>
              <a:gd name="f8" fmla="val 2046494"/>
              <a:gd name="f9" fmla="val 2496613"/>
              <a:gd name="f10" fmla="val 3235839"/>
              <a:gd name="f11" fmla="val 8470921"/>
              <a:gd name="f12" fmla="+- 0 0 -90"/>
              <a:gd name="f13" fmla="*/ f3 1 9161029"/>
              <a:gd name="f14" fmla="*/ f4 1 1490093"/>
              <a:gd name="f15" fmla="+- f7 0 f5"/>
              <a:gd name="f16" fmla="+- f6 0 f5"/>
              <a:gd name="f17" fmla="*/ f12 f0 1"/>
              <a:gd name="f18" fmla="*/ f16 1 9161029"/>
              <a:gd name="f19" fmla="*/ f15 1 1490093"/>
              <a:gd name="f20" fmla="*/ 0 f16 1"/>
              <a:gd name="f21" fmla="*/ 0 f15 1"/>
              <a:gd name="f22" fmla="*/ 2046494 f16 1"/>
              <a:gd name="f23" fmla="*/ 2496613 f16 1"/>
              <a:gd name="f24" fmla="*/ 3235839 f16 1"/>
              <a:gd name="f25" fmla="*/ 9161029 f16 1"/>
              <a:gd name="f26" fmla="*/ 8470921 f16 1"/>
              <a:gd name="f27" fmla="*/ 1490093 f15 1"/>
              <a:gd name="f28" fmla="*/ f17 1 f2"/>
              <a:gd name="f29" fmla="*/ f20 1 9161029"/>
              <a:gd name="f30" fmla="*/ f21 1 1490093"/>
              <a:gd name="f31" fmla="*/ f22 1 9161029"/>
              <a:gd name="f32" fmla="*/ f23 1 9161029"/>
              <a:gd name="f33" fmla="*/ f24 1 9161029"/>
              <a:gd name="f34" fmla="*/ f25 1 9161029"/>
              <a:gd name="f35" fmla="*/ f26 1 9161029"/>
              <a:gd name="f36" fmla="*/ f27 1 1490093"/>
              <a:gd name="f37" fmla="*/ f5 1 f18"/>
              <a:gd name="f38" fmla="*/ f6 1 f18"/>
              <a:gd name="f39" fmla="*/ f5 1 f19"/>
              <a:gd name="f40" fmla="*/ f7 1 f19"/>
              <a:gd name="f41" fmla="+- f28 0 f1"/>
              <a:gd name="f42" fmla="*/ f29 1 f18"/>
              <a:gd name="f43" fmla="*/ f30 1 f19"/>
              <a:gd name="f44" fmla="*/ f31 1 f18"/>
              <a:gd name="f45" fmla="*/ f32 1 f18"/>
              <a:gd name="f46" fmla="*/ f33 1 f18"/>
              <a:gd name="f47" fmla="*/ f34 1 f18"/>
              <a:gd name="f48" fmla="*/ f35 1 f18"/>
              <a:gd name="f49" fmla="*/ f36 1 f19"/>
              <a:gd name="f50" fmla="*/ f37 f13 1"/>
              <a:gd name="f51" fmla="*/ f38 f13 1"/>
              <a:gd name="f52" fmla="*/ f40 f14 1"/>
              <a:gd name="f53" fmla="*/ f39 f14 1"/>
              <a:gd name="f54" fmla="*/ f42 f13 1"/>
              <a:gd name="f55" fmla="*/ f43 f14 1"/>
              <a:gd name="f56" fmla="*/ f44 f13 1"/>
              <a:gd name="f57" fmla="*/ f45 f13 1"/>
              <a:gd name="f58" fmla="*/ f46 f13 1"/>
              <a:gd name="f59" fmla="*/ f47 f13 1"/>
              <a:gd name="f60" fmla="*/ f48 f13 1"/>
              <a:gd name="f61" fmla="*/ f49 f14 1"/>
            </a:gdLst>
            <a:ahLst/>
            <a:cxnLst>
              <a:cxn ang="3cd4">
                <a:pos x="hc" y="t"/>
              </a:cxn>
              <a:cxn ang="0">
                <a:pos x="r" y="vc"/>
              </a:cxn>
              <a:cxn ang="cd4">
                <a:pos x="hc" y="b"/>
              </a:cxn>
              <a:cxn ang="cd2">
                <a:pos x="l" y="vc"/>
              </a:cxn>
              <a:cxn ang="f41">
                <a:pos x="f54" y="f55"/>
              </a:cxn>
              <a:cxn ang="f41">
                <a:pos x="f56" y="f55"/>
              </a:cxn>
              <a:cxn ang="f41">
                <a:pos x="f57" y="f55"/>
              </a:cxn>
              <a:cxn ang="f41">
                <a:pos x="f58" y="f55"/>
              </a:cxn>
              <a:cxn ang="f41">
                <a:pos x="f59" y="f55"/>
              </a:cxn>
              <a:cxn ang="f41">
                <a:pos x="f60" y="f61"/>
              </a:cxn>
              <a:cxn ang="f41">
                <a:pos x="f54" y="f61"/>
              </a:cxn>
            </a:cxnLst>
            <a:rect l="f50" t="f53" r="f51" b="f52"/>
            <a:pathLst>
              <a:path w="9161029" h="1490093">
                <a:moveTo>
                  <a:pt x="f5" y="f5"/>
                </a:moveTo>
                <a:lnTo>
                  <a:pt x="f8" y="f5"/>
                </a:lnTo>
                <a:lnTo>
                  <a:pt x="f9" y="f5"/>
                </a:lnTo>
                <a:lnTo>
                  <a:pt x="f10" y="f5"/>
                </a:lnTo>
                <a:lnTo>
                  <a:pt x="f6" y="f5"/>
                </a:lnTo>
                <a:lnTo>
                  <a:pt x="f11" y="f7"/>
                </a:lnTo>
                <a:lnTo>
                  <a:pt x="f5" y="f7"/>
                </a:lnTo>
                <a:close/>
              </a:path>
            </a:pathLst>
          </a:custGeom>
          <a:solidFill>
            <a:srgbClr val="7F7F7F">
              <a:alpha val="40000"/>
            </a:srgbClr>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3" name="Title 3">
            <a:extLst>
              <a:ext uri="{FF2B5EF4-FFF2-40B4-BE49-F238E27FC236}">
                <a16:creationId xmlns:a16="http://schemas.microsoft.com/office/drawing/2014/main" id="{80DBC6F2-A8D0-4B22-9841-DF13F0818F3C}"/>
              </a:ext>
            </a:extLst>
          </p:cNvPr>
          <p:cNvSpPr txBox="1">
            <a:spLocks noGrp="1"/>
          </p:cNvSpPr>
          <p:nvPr>
            <p:ph type="title"/>
          </p:nvPr>
        </p:nvSpPr>
        <p:spPr>
          <a:xfrm>
            <a:off x="838203" y="5367912"/>
            <a:ext cx="8381418" cy="1258297"/>
          </a:xfrm>
        </p:spPr>
        <p:txBody>
          <a:bodyPr>
            <a:noAutofit/>
          </a:bodyPr>
          <a:lstStyle/>
          <a:p>
            <a:pPr lvl="0"/>
            <a:r>
              <a:rPr lang="en-CA" sz="3200" b="1" dirty="0"/>
              <a:t>Scenarios: Some Examples of Measures of Support for Democratic  Backsliding in US (2018)  </a:t>
            </a:r>
          </a:p>
        </p:txBody>
      </p:sp>
      <p:sp>
        <p:nvSpPr>
          <p:cNvPr id="4" name="Freeform: Shape 20">
            <a:extLst>
              <a:ext uri="{FF2B5EF4-FFF2-40B4-BE49-F238E27FC236}">
                <a16:creationId xmlns:a16="http://schemas.microsoft.com/office/drawing/2014/main" id="{9C14A1E6-3C7B-4077-82B5-5951B8B0B212}"/>
              </a:ext>
            </a:extLst>
          </p:cNvPr>
          <p:cNvSpPr>
            <a:spLocks noMove="1" noResize="1"/>
          </p:cNvSpPr>
          <p:nvPr/>
        </p:nvSpPr>
        <p:spPr>
          <a:xfrm>
            <a:off x="8763033" y="5367912"/>
            <a:ext cx="3428963" cy="1490097"/>
          </a:xfrm>
          <a:custGeom>
            <a:avLst/>
            <a:gdLst>
              <a:gd name="f0" fmla="val 10800000"/>
              <a:gd name="f1" fmla="val 5400000"/>
              <a:gd name="f2" fmla="val 180"/>
              <a:gd name="f3" fmla="val w"/>
              <a:gd name="f4" fmla="val h"/>
              <a:gd name="f5" fmla="val 0"/>
              <a:gd name="f6" fmla="val 3428963"/>
              <a:gd name="f7" fmla="val 1490093"/>
              <a:gd name="f8" fmla="val 690108"/>
              <a:gd name="f9" fmla="+- 0 0 -90"/>
              <a:gd name="f10" fmla="*/ f3 1 3428963"/>
              <a:gd name="f11" fmla="*/ f4 1 1490093"/>
              <a:gd name="f12" fmla="+- f7 0 f5"/>
              <a:gd name="f13" fmla="+- f6 0 f5"/>
              <a:gd name="f14" fmla="*/ f9 f0 1"/>
              <a:gd name="f15" fmla="*/ f13 1 3428963"/>
              <a:gd name="f16" fmla="*/ f12 1 1490093"/>
              <a:gd name="f17" fmla="*/ 690108 f13 1"/>
              <a:gd name="f18" fmla="*/ 0 f12 1"/>
              <a:gd name="f19" fmla="*/ 3428963 f13 1"/>
              <a:gd name="f20" fmla="*/ 1490093 f12 1"/>
              <a:gd name="f21" fmla="*/ 0 f13 1"/>
              <a:gd name="f22" fmla="*/ f14 1 f2"/>
              <a:gd name="f23" fmla="*/ f17 1 3428963"/>
              <a:gd name="f24" fmla="*/ f18 1 1490093"/>
              <a:gd name="f25" fmla="*/ f19 1 3428963"/>
              <a:gd name="f26" fmla="*/ f20 1 1490093"/>
              <a:gd name="f27" fmla="*/ f21 1 3428963"/>
              <a:gd name="f28" fmla="*/ f5 1 f15"/>
              <a:gd name="f29" fmla="*/ f6 1 f15"/>
              <a:gd name="f30" fmla="*/ f5 1 f16"/>
              <a:gd name="f31" fmla="*/ f7 1 f16"/>
              <a:gd name="f32" fmla="+- f22 0 f1"/>
              <a:gd name="f33" fmla="*/ f23 1 f15"/>
              <a:gd name="f34" fmla="*/ f24 1 f16"/>
              <a:gd name="f35" fmla="*/ f25 1 f15"/>
              <a:gd name="f36" fmla="*/ f26 1 f16"/>
              <a:gd name="f37" fmla="*/ f27 1 f15"/>
              <a:gd name="f38" fmla="*/ f28 f10 1"/>
              <a:gd name="f39" fmla="*/ f29 f10 1"/>
              <a:gd name="f40" fmla="*/ f31 f11 1"/>
              <a:gd name="f41" fmla="*/ f30 f11 1"/>
              <a:gd name="f42" fmla="*/ f33 f10 1"/>
              <a:gd name="f43" fmla="*/ f34 f11 1"/>
              <a:gd name="f44" fmla="*/ f35 f10 1"/>
              <a:gd name="f45" fmla="*/ f36 f11 1"/>
              <a:gd name="f46" fmla="*/ f37 f10 1"/>
            </a:gdLst>
            <a:ahLst/>
            <a:cxnLst>
              <a:cxn ang="3cd4">
                <a:pos x="hc" y="t"/>
              </a:cxn>
              <a:cxn ang="0">
                <a:pos x="r" y="vc"/>
              </a:cxn>
              <a:cxn ang="cd4">
                <a:pos x="hc" y="b"/>
              </a:cxn>
              <a:cxn ang="cd2">
                <a:pos x="l" y="vc"/>
              </a:cxn>
              <a:cxn ang="f32">
                <a:pos x="f42" y="f43"/>
              </a:cxn>
              <a:cxn ang="f32">
                <a:pos x="f44" y="f43"/>
              </a:cxn>
              <a:cxn ang="f32">
                <a:pos x="f44" y="f45"/>
              </a:cxn>
              <a:cxn ang="f32">
                <a:pos x="f46" y="f45"/>
              </a:cxn>
            </a:cxnLst>
            <a:rect l="f38" t="f41" r="f39" b="f40"/>
            <a:pathLst>
              <a:path w="3428963" h="1490093">
                <a:moveTo>
                  <a:pt x="f8" y="f5"/>
                </a:moveTo>
                <a:lnTo>
                  <a:pt x="f6" y="f5"/>
                </a:lnTo>
                <a:lnTo>
                  <a:pt x="f6" y="f7"/>
                </a:lnTo>
                <a:lnTo>
                  <a:pt x="f5" y="f7"/>
                </a:lnTo>
                <a:close/>
              </a:path>
            </a:pathLst>
          </a:custGeom>
          <a:solidFill>
            <a:srgbClr val="000000">
              <a:alpha val="70000"/>
            </a:srgbClr>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6" name="Freeform: Shape 5">
            <a:extLst>
              <a:ext uri="{FF2B5EF4-FFF2-40B4-BE49-F238E27FC236}">
                <a16:creationId xmlns:a16="http://schemas.microsoft.com/office/drawing/2014/main" id="{3B2FE469-4625-4899-8D4B-4B1AECD82E39}"/>
              </a:ext>
            </a:extLst>
          </p:cNvPr>
          <p:cNvSpPr/>
          <p:nvPr/>
        </p:nvSpPr>
        <p:spPr>
          <a:xfrm>
            <a:off x="377857" y="693301"/>
            <a:ext cx="11069717" cy="0"/>
          </a:xfrm>
          <a:custGeom>
            <a:avLst/>
            <a:gdLst>
              <a:gd name="f0" fmla="val 10800000"/>
              <a:gd name="f1" fmla="val 5400000"/>
              <a:gd name="f2" fmla="val 180"/>
              <a:gd name="f3" fmla="val w"/>
              <a:gd name="f4" fmla="val h"/>
              <a:gd name="f5" fmla="val ss"/>
              <a:gd name="f6" fmla="val 0"/>
              <a:gd name="f7" fmla="+- 0 0 -180"/>
              <a:gd name="f8" fmla="+- 0 0 -360"/>
              <a:gd name="f9" fmla="abs f3"/>
              <a:gd name="f10" fmla="abs f4"/>
              <a:gd name="f11" fmla="abs f5"/>
              <a:gd name="f12" fmla="*/ f7 f0 1"/>
              <a:gd name="f13" fmla="*/ f8 f0 1"/>
              <a:gd name="f14" fmla="?: f9 f3 1"/>
              <a:gd name="f15" fmla="?: f10 f4 1"/>
              <a:gd name="f16" fmla="?: f11 f5 1"/>
              <a:gd name="f17" fmla="*/ f12 1 f2"/>
              <a:gd name="f18" fmla="*/ f13 1 f2"/>
              <a:gd name="f19" fmla="*/ f14 1 21600"/>
              <a:gd name="f20" fmla="*/ f15 1 21600"/>
              <a:gd name="f21" fmla="*/ 21600 f14 1"/>
              <a:gd name="f22" fmla="*/ 21600 f15 1"/>
              <a:gd name="f23" fmla="+- f17 0 f1"/>
              <a:gd name="f24" fmla="+- f18 0 f1"/>
              <a:gd name="f25" fmla="min f20 f19"/>
              <a:gd name="f26" fmla="*/ f21 1 f16"/>
              <a:gd name="f27" fmla="*/ f22 1 f16"/>
              <a:gd name="f28" fmla="val f26"/>
              <a:gd name="f29" fmla="val f27"/>
              <a:gd name="f30" fmla="*/ f6 f25 1"/>
              <a:gd name="f31" fmla="*/ f28 f25 1"/>
              <a:gd name="f32" fmla="*/ f29 f25 1"/>
            </a:gdLst>
            <a:ahLst/>
            <a:cxnLst>
              <a:cxn ang="3cd4">
                <a:pos x="hc" y="t"/>
              </a:cxn>
              <a:cxn ang="0">
                <a:pos x="r" y="vc"/>
              </a:cxn>
              <a:cxn ang="cd4">
                <a:pos x="hc" y="b"/>
              </a:cxn>
              <a:cxn ang="cd2">
                <a:pos x="l" y="vc"/>
              </a:cxn>
              <a:cxn ang="f23">
                <a:pos x="f30" y="f30"/>
              </a:cxn>
              <a:cxn ang="f24">
                <a:pos x="f31" y="f32"/>
              </a:cxn>
            </a:cxnLst>
            <a:rect l="f30" t="f30" r="f31" b="f32"/>
            <a:pathLst>
              <a:path>
                <a:moveTo>
                  <a:pt x="f30" y="f30"/>
                </a:moveTo>
                <a:lnTo>
                  <a:pt x="f31" y="f32"/>
                </a:lnTo>
              </a:path>
            </a:pathLst>
          </a:custGeom>
          <a:noFill/>
          <a:ln w="12701" cap="flat">
            <a:solidFill>
              <a:srgbClr val="5B9BD5"/>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CA" sz="1800" b="0" i="0" u="none" strike="noStrike" kern="1200" cap="none" spc="0" baseline="0">
              <a:solidFill>
                <a:srgbClr val="000000"/>
              </a:solidFill>
              <a:uFillTx/>
              <a:latin typeface="Calibri"/>
            </a:endParaRPr>
          </a:p>
        </p:txBody>
      </p:sp>
      <p:sp>
        <p:nvSpPr>
          <p:cNvPr id="9" name="Freeform: Shape 8">
            <a:extLst>
              <a:ext uri="{FF2B5EF4-FFF2-40B4-BE49-F238E27FC236}">
                <a16:creationId xmlns:a16="http://schemas.microsoft.com/office/drawing/2014/main" id="{AA61E4C0-B38B-43D5-A295-4BE549815539}"/>
              </a:ext>
            </a:extLst>
          </p:cNvPr>
          <p:cNvSpPr/>
          <p:nvPr/>
        </p:nvSpPr>
        <p:spPr>
          <a:xfrm>
            <a:off x="377857" y="857250"/>
            <a:ext cx="11167713" cy="3176576"/>
          </a:xfrm>
          <a:custGeom>
            <a:avLst/>
            <a:gdLst>
              <a:gd name="f0" fmla="val 10800000"/>
              <a:gd name="f1" fmla="val 5400000"/>
              <a:gd name="f2" fmla="val 180"/>
              <a:gd name="f3" fmla="val w"/>
              <a:gd name="f4" fmla="val h"/>
              <a:gd name="f5" fmla="val 0"/>
              <a:gd name="f6" fmla="val 11058904"/>
              <a:gd name="f7" fmla="val 1786651"/>
              <a:gd name="f8" fmla="+- 0 0 -90"/>
              <a:gd name="f9" fmla="*/ f3 1 11058904"/>
              <a:gd name="f10" fmla="*/ f4 1 1786651"/>
              <a:gd name="f11" fmla="+- f7 0 f5"/>
              <a:gd name="f12" fmla="+- f6 0 f5"/>
              <a:gd name="f13" fmla="*/ f8 f0 1"/>
              <a:gd name="f14" fmla="*/ f12 1 11058904"/>
              <a:gd name="f15" fmla="*/ f11 1 1786651"/>
              <a:gd name="f16" fmla="*/ 0 f12 1"/>
              <a:gd name="f17" fmla="*/ 0 f11 1"/>
              <a:gd name="f18" fmla="*/ 11058904 f12 1"/>
              <a:gd name="f19" fmla="*/ 1786651 f11 1"/>
              <a:gd name="f20" fmla="*/ f13 1 f2"/>
              <a:gd name="f21" fmla="*/ f16 1 11058904"/>
              <a:gd name="f22" fmla="*/ f17 1 1786651"/>
              <a:gd name="f23" fmla="*/ f18 1 11058904"/>
              <a:gd name="f24" fmla="*/ f19 1 1786651"/>
              <a:gd name="f25" fmla="*/ f5 1 f14"/>
              <a:gd name="f26" fmla="*/ f6 1 f14"/>
              <a:gd name="f27" fmla="*/ f5 1 f15"/>
              <a:gd name="f28" fmla="*/ f7 1 f15"/>
              <a:gd name="f29" fmla="+- f20 0 f1"/>
              <a:gd name="f30" fmla="*/ f21 1 f14"/>
              <a:gd name="f31" fmla="*/ f22 1 f15"/>
              <a:gd name="f32" fmla="*/ f23 1 f14"/>
              <a:gd name="f33" fmla="*/ f24 1 f15"/>
              <a:gd name="f34" fmla="*/ f25 f9 1"/>
              <a:gd name="f35" fmla="*/ f26 f9 1"/>
              <a:gd name="f36" fmla="*/ f28 f10 1"/>
              <a:gd name="f37" fmla="*/ f27 f10 1"/>
              <a:gd name="f38" fmla="*/ f30 f9 1"/>
              <a:gd name="f39" fmla="*/ f31 f10 1"/>
              <a:gd name="f40" fmla="*/ f32 f9 1"/>
              <a:gd name="f41" fmla="*/ f33 f10 1"/>
            </a:gdLst>
            <a:ahLst/>
            <a:cxnLst>
              <a:cxn ang="3cd4">
                <a:pos x="hc" y="t"/>
              </a:cxn>
              <a:cxn ang="0">
                <a:pos x="r" y="vc"/>
              </a:cxn>
              <a:cxn ang="cd4">
                <a:pos x="hc" y="b"/>
              </a:cxn>
              <a:cxn ang="cd2">
                <a:pos x="l" y="vc"/>
              </a:cxn>
              <a:cxn ang="f29">
                <a:pos x="f38" y="f39"/>
              </a:cxn>
              <a:cxn ang="f29">
                <a:pos x="f40" y="f39"/>
              </a:cxn>
              <a:cxn ang="f29">
                <a:pos x="f40" y="f41"/>
              </a:cxn>
              <a:cxn ang="f29">
                <a:pos x="f38" y="f41"/>
              </a:cxn>
              <a:cxn ang="f29">
                <a:pos x="f38" y="f39"/>
              </a:cxn>
            </a:cxnLst>
            <a:rect l="f34" t="f37" r="f35" b="f36"/>
            <a:pathLst>
              <a:path w="11058904" h="1786651">
                <a:moveTo>
                  <a:pt x="f5" y="f5"/>
                </a:moveTo>
                <a:lnTo>
                  <a:pt x="f6" y="f5"/>
                </a:lnTo>
                <a:lnTo>
                  <a:pt x="f6" y="f7"/>
                </a:lnTo>
                <a:lnTo>
                  <a:pt x="f5" y="f7"/>
                </a:lnTo>
                <a:lnTo>
                  <a:pt x="f5" y="f5"/>
                </a:lnTo>
                <a:close/>
              </a:path>
            </a:pathLst>
          </a:custGeom>
          <a:noFill/>
          <a:ln cap="flat">
            <a:noFill/>
            <a:prstDash val="solid"/>
          </a:ln>
        </p:spPr>
        <p:txBody>
          <a:bodyPr vert="horz" wrap="square" lIns="91440" tIns="91440" rIns="91440" bIns="91440" anchor="t" anchorCtr="0" compatLnSpc="1">
            <a:noAutofit/>
          </a:bodyPr>
          <a:lstStyle/>
          <a:p>
            <a:pPr marL="0" marR="0" lvl="0" indent="0" algn="l" defTabSz="1066803" rtl="0" fontAlgn="auto" hangingPunct="1">
              <a:lnSpc>
                <a:spcPct val="90000"/>
              </a:lnSpc>
              <a:spcBef>
                <a:spcPts val="0"/>
              </a:spcBef>
              <a:spcAft>
                <a:spcPts val="1000"/>
              </a:spcAft>
              <a:buNone/>
              <a:tabLst/>
              <a:defRPr sz="1800" b="0" i="0" u="none" strike="noStrike" kern="0" cap="none" spc="0" baseline="0">
                <a:solidFill>
                  <a:srgbClr val="000000"/>
                </a:solidFill>
                <a:uFillTx/>
              </a:defRPr>
            </a:pPr>
            <a:r>
              <a:rPr lang="en-CA" sz="3200" b="1" i="0" u="none" strike="noStrike" kern="1200" cap="none" spc="0" baseline="0" dirty="0">
                <a:solidFill>
                  <a:srgbClr val="000000"/>
                </a:solidFill>
                <a:uFillTx/>
                <a:latin typeface="Calibri"/>
              </a:rPr>
              <a:t>Support for Executive Aggrandizement (Examples</a:t>
            </a:r>
            <a:r>
              <a:rPr lang="en-CA" sz="2800" b="1" i="0" u="none" strike="noStrike" kern="1200" cap="none" spc="0" baseline="0" dirty="0">
                <a:solidFill>
                  <a:srgbClr val="000000"/>
                </a:solidFill>
                <a:uFillTx/>
                <a:latin typeface="Calibri"/>
              </a:rPr>
              <a:t>) alpha=.80</a:t>
            </a:r>
          </a:p>
          <a:p>
            <a:pPr lvl="0" defTabSz="1066803">
              <a:lnSpc>
                <a:spcPct val="90000"/>
              </a:lnSpc>
              <a:spcAft>
                <a:spcPts val="1000"/>
              </a:spcAft>
              <a:defRPr sz="1800" b="0" i="0" u="none" strike="noStrike" kern="0" cap="none" spc="0" baseline="0">
                <a:solidFill>
                  <a:srgbClr val="000000"/>
                </a:solidFill>
                <a:uFillTx/>
              </a:defRPr>
            </a:pPr>
            <a:r>
              <a:rPr lang="en-CA" sz="2800" dirty="0"/>
              <a:t>When Congress is obstructing a president’s agenda, the president should shut down Congress and govern on his/her own. </a:t>
            </a:r>
          </a:p>
          <a:p>
            <a:pPr lvl="0" defTabSz="1066803">
              <a:lnSpc>
                <a:spcPct val="90000"/>
              </a:lnSpc>
              <a:spcAft>
                <a:spcPts val="1000"/>
              </a:spcAft>
              <a:defRPr sz="1800" b="0" i="0" u="none" strike="noStrike" kern="0" cap="none" spc="0" baseline="0">
                <a:solidFill>
                  <a:srgbClr val="000000"/>
                </a:solidFill>
                <a:uFillTx/>
              </a:defRPr>
            </a:pPr>
            <a:endParaRPr lang="en-CA" sz="2800" b="1" i="0" u="none" strike="noStrike" kern="1200" cap="none" spc="0" baseline="0" dirty="0">
              <a:solidFill>
                <a:srgbClr val="000000"/>
              </a:solidFill>
              <a:uFillTx/>
            </a:endParaRPr>
          </a:p>
          <a:p>
            <a:pPr marL="0" marR="0" lvl="0" indent="0" algn="l" defTabSz="1066803" rtl="0" fontAlgn="auto" hangingPunct="1">
              <a:lnSpc>
                <a:spcPct val="90000"/>
              </a:lnSpc>
              <a:spcBef>
                <a:spcPts val="0"/>
              </a:spcBef>
              <a:spcAft>
                <a:spcPts val="1000"/>
              </a:spcAft>
              <a:buNone/>
              <a:tabLst/>
              <a:defRPr sz="1800" b="0" i="0" u="none" strike="noStrike" kern="0" cap="none" spc="0" baseline="0">
                <a:solidFill>
                  <a:srgbClr val="000000"/>
                </a:solidFill>
                <a:uFillTx/>
              </a:defRPr>
            </a:pPr>
            <a:r>
              <a:rPr lang="en-CA" sz="2800" b="0" i="0" u="none" strike="noStrike" kern="1200" cap="none" spc="0" baseline="0" dirty="0">
                <a:solidFill>
                  <a:srgbClr val="000000"/>
                </a:solidFill>
                <a:uFillTx/>
              </a:rPr>
              <a:t>Presidents should be able to veto bills even if two-thirds of members of Congress have voted to pass them into law. </a:t>
            </a:r>
          </a:p>
          <a:p>
            <a:pPr marL="0" marR="0" lvl="0" indent="0" algn="l" defTabSz="1066803" rtl="0" fontAlgn="auto" hangingPunct="1">
              <a:lnSpc>
                <a:spcPct val="90000"/>
              </a:lnSpc>
              <a:spcBef>
                <a:spcPts val="0"/>
              </a:spcBef>
              <a:spcAft>
                <a:spcPts val="1000"/>
              </a:spcAft>
              <a:buNone/>
              <a:tabLst/>
              <a:defRPr sz="1800" b="0" i="0" u="none" strike="noStrike" kern="0" cap="none" spc="0" baseline="0">
                <a:solidFill>
                  <a:srgbClr val="000000"/>
                </a:solidFill>
                <a:uFillTx/>
              </a:defRPr>
            </a:pPr>
            <a:endParaRPr lang="en-CA" sz="2800" b="0" i="0" u="none" strike="noStrike" kern="1200" cap="none" spc="0" baseline="0" dirty="0">
              <a:solidFill>
                <a:srgbClr val="000000"/>
              </a:solidFill>
              <a:uFillTx/>
            </a:endParaRPr>
          </a:p>
          <a:p>
            <a:pPr defTabSz="1066803">
              <a:lnSpc>
                <a:spcPct val="90000"/>
              </a:lnSpc>
              <a:spcAft>
                <a:spcPts val="1000"/>
              </a:spcAft>
              <a:defRPr sz="1800" b="0" i="0" u="none" strike="noStrike" kern="0" cap="none" spc="0" baseline="0">
                <a:solidFill>
                  <a:srgbClr val="000000"/>
                </a:solidFill>
                <a:uFillTx/>
              </a:defRPr>
            </a:pPr>
            <a:r>
              <a:rPr lang="en-CA" sz="2800" dirty="0"/>
              <a:t>Presidents should have the power to appoint Supreme Court judges without getting approval from Senate. </a:t>
            </a:r>
          </a:p>
          <a:p>
            <a:pPr marL="0" marR="0" lvl="0" indent="0" algn="l" defTabSz="1066803" rtl="0" fontAlgn="auto" hangingPunct="1">
              <a:lnSpc>
                <a:spcPct val="90000"/>
              </a:lnSpc>
              <a:spcBef>
                <a:spcPts val="0"/>
              </a:spcBef>
              <a:spcAft>
                <a:spcPts val="1000"/>
              </a:spcAft>
              <a:buNone/>
              <a:tabLst/>
              <a:defRPr sz="1800" b="0" i="0" u="none" strike="noStrike" kern="0" cap="none" spc="0" baseline="0">
                <a:solidFill>
                  <a:srgbClr val="000000"/>
                </a:solidFill>
                <a:uFillTx/>
              </a:defRPr>
            </a:pPr>
            <a:endParaRPr lang="en-US" sz="2400" b="0" i="0" u="none" strike="noStrike" kern="1200" cap="none" spc="0" baseline="0" dirty="0">
              <a:solidFill>
                <a:srgbClr val="000000"/>
              </a:solidFill>
              <a:uFillTx/>
              <a:latin typeface="Calibri"/>
            </a:endParaRPr>
          </a:p>
        </p:txBody>
      </p:sp>
      <p:sp>
        <p:nvSpPr>
          <p:cNvPr id="10" name="Freeform: Shape 9">
            <a:extLst>
              <a:ext uri="{FF2B5EF4-FFF2-40B4-BE49-F238E27FC236}">
                <a16:creationId xmlns:a16="http://schemas.microsoft.com/office/drawing/2014/main" id="{A3233422-6D1B-491A-ADBD-A3E01272914F}"/>
              </a:ext>
            </a:extLst>
          </p:cNvPr>
          <p:cNvSpPr/>
          <p:nvPr/>
        </p:nvSpPr>
        <p:spPr>
          <a:xfrm>
            <a:off x="473107" y="5218438"/>
            <a:ext cx="11069717" cy="0"/>
          </a:xfrm>
          <a:custGeom>
            <a:avLst/>
            <a:gdLst>
              <a:gd name="f0" fmla="val 10800000"/>
              <a:gd name="f1" fmla="val 5400000"/>
              <a:gd name="f2" fmla="val 180"/>
              <a:gd name="f3" fmla="val w"/>
              <a:gd name="f4" fmla="val h"/>
              <a:gd name="f5" fmla="val ss"/>
              <a:gd name="f6" fmla="val 0"/>
              <a:gd name="f7" fmla="+- 0 0 -180"/>
              <a:gd name="f8" fmla="+- 0 0 -360"/>
              <a:gd name="f9" fmla="abs f3"/>
              <a:gd name="f10" fmla="abs f4"/>
              <a:gd name="f11" fmla="abs f5"/>
              <a:gd name="f12" fmla="*/ f7 f0 1"/>
              <a:gd name="f13" fmla="*/ f8 f0 1"/>
              <a:gd name="f14" fmla="?: f9 f3 1"/>
              <a:gd name="f15" fmla="?: f10 f4 1"/>
              <a:gd name="f16" fmla="?: f11 f5 1"/>
              <a:gd name="f17" fmla="*/ f12 1 f2"/>
              <a:gd name="f18" fmla="*/ f13 1 f2"/>
              <a:gd name="f19" fmla="*/ f14 1 21600"/>
              <a:gd name="f20" fmla="*/ f15 1 21600"/>
              <a:gd name="f21" fmla="*/ 21600 f14 1"/>
              <a:gd name="f22" fmla="*/ 21600 f15 1"/>
              <a:gd name="f23" fmla="+- f17 0 f1"/>
              <a:gd name="f24" fmla="+- f18 0 f1"/>
              <a:gd name="f25" fmla="min f20 f19"/>
              <a:gd name="f26" fmla="*/ f21 1 f16"/>
              <a:gd name="f27" fmla="*/ f22 1 f16"/>
              <a:gd name="f28" fmla="val f26"/>
              <a:gd name="f29" fmla="val f27"/>
              <a:gd name="f30" fmla="*/ f6 f25 1"/>
              <a:gd name="f31" fmla="*/ f28 f25 1"/>
              <a:gd name="f32" fmla="*/ f29 f25 1"/>
            </a:gdLst>
            <a:ahLst/>
            <a:cxnLst>
              <a:cxn ang="3cd4">
                <a:pos x="hc" y="t"/>
              </a:cxn>
              <a:cxn ang="0">
                <a:pos x="r" y="vc"/>
              </a:cxn>
              <a:cxn ang="cd4">
                <a:pos x="hc" y="b"/>
              </a:cxn>
              <a:cxn ang="cd2">
                <a:pos x="l" y="vc"/>
              </a:cxn>
              <a:cxn ang="f23">
                <a:pos x="f30" y="f30"/>
              </a:cxn>
              <a:cxn ang="f24">
                <a:pos x="f31" y="f32"/>
              </a:cxn>
            </a:cxnLst>
            <a:rect l="f30" t="f30" r="f31" b="f32"/>
            <a:pathLst>
              <a:path>
                <a:moveTo>
                  <a:pt x="f30" y="f30"/>
                </a:moveTo>
                <a:lnTo>
                  <a:pt x="f31" y="f32"/>
                </a:lnTo>
              </a:path>
            </a:pathLst>
          </a:custGeom>
          <a:noFill/>
          <a:ln w="12701" cap="flat">
            <a:solidFill>
              <a:srgbClr val="70AD47"/>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CA" sz="1800" b="0" i="0" u="none" strike="noStrike" kern="1200" cap="none" spc="0" baseline="0">
              <a:solidFill>
                <a:srgbClr val="000000"/>
              </a:solidFill>
              <a:uFillTx/>
              <a:latin typeface="Calibri"/>
            </a:endParaRPr>
          </a:p>
        </p:txBody>
      </p:sp>
      <p:pic>
        <p:nvPicPr>
          <p:cNvPr id="12" name="Picture 12" descr="Fodem">
            <a:extLst>
              <a:ext uri="{FF2B5EF4-FFF2-40B4-BE49-F238E27FC236}">
                <a16:creationId xmlns:a16="http://schemas.microsoft.com/office/drawing/2014/main" id="{E963BF7F-50E3-4503-94DC-91014674EAB9}"/>
              </a:ext>
            </a:extLst>
          </p:cNvPr>
          <p:cNvPicPr>
            <a:picLocks noChangeAspect="1"/>
          </p:cNvPicPr>
          <p:nvPr/>
        </p:nvPicPr>
        <p:blipFill>
          <a:blip r:embed="rId3"/>
          <a:srcRect/>
          <a:stretch>
            <a:fillRect/>
          </a:stretch>
        </p:blipFill>
        <p:spPr>
          <a:xfrm>
            <a:off x="9395780" y="6214536"/>
            <a:ext cx="700823" cy="599224"/>
          </a:xfrm>
          <a:prstGeom prst="rect">
            <a:avLst/>
          </a:prstGeom>
          <a:noFill/>
          <a:ln cap="flat">
            <a:noFill/>
          </a:ln>
        </p:spPr>
      </p:pic>
      <p:pic>
        <p:nvPicPr>
          <p:cNvPr id="13" name="Picture 47" descr="A close up of a logo&#10;&#10;Description generated with very high confidence">
            <a:extLst>
              <a:ext uri="{FF2B5EF4-FFF2-40B4-BE49-F238E27FC236}">
                <a16:creationId xmlns:a16="http://schemas.microsoft.com/office/drawing/2014/main" id="{3D55F12F-3FB9-4FFF-8AE9-8C2F0F736994}"/>
              </a:ext>
            </a:extLst>
          </p:cNvPr>
          <p:cNvPicPr>
            <a:picLocks noChangeAspect="1"/>
          </p:cNvPicPr>
          <p:nvPr/>
        </p:nvPicPr>
        <p:blipFill>
          <a:blip r:embed="rId4"/>
          <a:srcRect/>
          <a:stretch>
            <a:fillRect/>
          </a:stretch>
        </p:blipFill>
        <p:spPr>
          <a:xfrm>
            <a:off x="10272762" y="6105942"/>
            <a:ext cx="1627696" cy="752057"/>
          </a:xfrm>
          <a:prstGeom prst="rect">
            <a:avLst/>
          </a:prstGeom>
          <a:noFill/>
          <a:ln cap="flat">
            <a:noFill/>
          </a:ln>
        </p:spPr>
      </p:pic>
      <p:pic>
        <p:nvPicPr>
          <p:cNvPr id="14" name="Picture 6" descr="Image result for McGill logo">
            <a:extLst>
              <a:ext uri="{FF2B5EF4-FFF2-40B4-BE49-F238E27FC236}">
                <a16:creationId xmlns:a16="http://schemas.microsoft.com/office/drawing/2014/main" id="{7EE24FF9-425D-4C52-91DB-3731351C8B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25249" y="5507131"/>
            <a:ext cx="1129678" cy="59839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F56156-2088-40C0-99DD-E99976EC9A68}"/>
              </a:ext>
            </a:extLst>
          </p:cNvPr>
          <p:cNvSpPr>
            <a:spLocks noGrp="1"/>
          </p:cNvSpPr>
          <p:nvPr>
            <p:ph type="title"/>
          </p:nvPr>
        </p:nvSpPr>
        <p:spPr>
          <a:xfrm>
            <a:off x="835715" y="477907"/>
            <a:ext cx="3476625" cy="4962524"/>
          </a:xfrm>
        </p:spPr>
        <p:txBody>
          <a:bodyPr vert="horz" lIns="91440" tIns="45720" rIns="91440" bIns="45720" rtlCol="0" anchor="ctr">
            <a:normAutofit/>
          </a:bodyPr>
          <a:lstStyle/>
          <a:p>
            <a:pPr algn="ctr">
              <a:spcBef>
                <a:spcPct val="0"/>
              </a:spcBef>
            </a:pPr>
            <a:r>
              <a:rPr lang="en-US" sz="3700" kern="1200" dirty="0">
                <a:solidFill>
                  <a:srgbClr val="FFFFFF"/>
                </a:solidFill>
                <a:latin typeface="+mj-lt"/>
                <a:ea typeface="+mj-ea"/>
                <a:cs typeface="+mj-cs"/>
              </a:rPr>
              <a:t>Young cohorts support executive aggrandizement more than other cohorts, USA </a:t>
            </a:r>
            <a:r>
              <a:rPr lang="en-US" sz="3700" kern="1200" dirty="0">
                <a:solidFill>
                  <a:schemeClr val="bg1"/>
                </a:solidFill>
                <a:latin typeface="+mj-lt"/>
                <a:ea typeface="+mj-ea"/>
                <a:cs typeface="+mj-cs"/>
              </a:rPr>
              <a:t>2018</a:t>
            </a:r>
          </a:p>
        </p:txBody>
      </p:sp>
      <p:pic>
        <p:nvPicPr>
          <p:cNvPr id="7" name="Picture 23" descr="Fodem">
            <a:extLst>
              <a:ext uri="{FF2B5EF4-FFF2-40B4-BE49-F238E27FC236}">
                <a16:creationId xmlns:a16="http://schemas.microsoft.com/office/drawing/2014/main" id="{5C30A704-66F5-4C88-B081-68EF3C26F8F2}"/>
              </a:ext>
            </a:extLst>
          </p:cNvPr>
          <p:cNvPicPr>
            <a:picLocks noChangeAspect="1"/>
          </p:cNvPicPr>
          <p:nvPr/>
        </p:nvPicPr>
        <p:blipFill>
          <a:blip r:embed="rId3"/>
          <a:srcRect/>
          <a:stretch>
            <a:fillRect/>
          </a:stretch>
        </p:blipFill>
        <p:spPr>
          <a:xfrm>
            <a:off x="834887" y="5847959"/>
            <a:ext cx="700823" cy="599224"/>
          </a:xfrm>
          <a:prstGeom prst="rect">
            <a:avLst/>
          </a:prstGeom>
          <a:noFill/>
          <a:ln cap="flat">
            <a:noFill/>
          </a:ln>
        </p:spPr>
      </p:pic>
      <p:pic>
        <p:nvPicPr>
          <p:cNvPr id="8" name="Picture 47" descr="A close up of a logo&#10;&#10;Description generated with very high confidence">
            <a:extLst>
              <a:ext uri="{FF2B5EF4-FFF2-40B4-BE49-F238E27FC236}">
                <a16:creationId xmlns:a16="http://schemas.microsoft.com/office/drawing/2014/main" id="{0A4CFE86-919B-4477-AFAA-A569B1CB8BE2}"/>
              </a:ext>
            </a:extLst>
          </p:cNvPr>
          <p:cNvPicPr>
            <a:picLocks noChangeAspect="1"/>
          </p:cNvPicPr>
          <p:nvPr/>
        </p:nvPicPr>
        <p:blipFill>
          <a:blip r:embed="rId4"/>
          <a:srcRect/>
          <a:stretch>
            <a:fillRect/>
          </a:stretch>
        </p:blipFill>
        <p:spPr>
          <a:xfrm>
            <a:off x="1799287" y="5695125"/>
            <a:ext cx="1627696" cy="752057"/>
          </a:xfrm>
          <a:prstGeom prst="rect">
            <a:avLst/>
          </a:prstGeom>
          <a:noFill/>
          <a:ln cap="flat">
            <a:noFill/>
          </a:ln>
        </p:spPr>
      </p:pic>
      <p:pic>
        <p:nvPicPr>
          <p:cNvPr id="10" name="Picture 6" descr="Image result for McGill logo">
            <a:extLst>
              <a:ext uri="{FF2B5EF4-FFF2-40B4-BE49-F238E27FC236}">
                <a16:creationId xmlns:a16="http://schemas.microsoft.com/office/drawing/2014/main" id="{A855E723-2BE3-4858-8B8E-0AF87756D2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37093" y="5822284"/>
            <a:ext cx="1129678" cy="59839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A241B30B-CCD7-47C5-BC94-E1E8983A2836}"/>
              </a:ext>
            </a:extLst>
          </p:cNvPr>
          <p:cNvPicPr>
            <a:picLocks noChangeAspect="1"/>
          </p:cNvPicPr>
          <p:nvPr/>
        </p:nvPicPr>
        <p:blipFill>
          <a:blip r:embed="rId6"/>
          <a:stretch>
            <a:fillRect/>
          </a:stretch>
        </p:blipFill>
        <p:spPr>
          <a:xfrm>
            <a:off x="4873083" y="791738"/>
            <a:ext cx="6980663" cy="5263374"/>
          </a:xfrm>
          <a:prstGeom prst="rect">
            <a:avLst/>
          </a:prstGeom>
        </p:spPr>
      </p:pic>
      <p:sp>
        <p:nvSpPr>
          <p:cNvPr id="3" name="TextBox 2">
            <a:extLst>
              <a:ext uri="{FF2B5EF4-FFF2-40B4-BE49-F238E27FC236}">
                <a16:creationId xmlns:a16="http://schemas.microsoft.com/office/drawing/2014/main" id="{1FB3687F-2615-4D2F-BE87-57C2FF5A493F}"/>
              </a:ext>
            </a:extLst>
          </p:cNvPr>
          <p:cNvSpPr txBox="1"/>
          <p:nvPr/>
        </p:nvSpPr>
        <p:spPr>
          <a:xfrm>
            <a:off x="4903641" y="5934670"/>
            <a:ext cx="7181453" cy="923330"/>
          </a:xfrm>
          <a:prstGeom prst="rect">
            <a:avLst/>
          </a:prstGeom>
          <a:noFill/>
        </p:spPr>
        <p:txBody>
          <a:bodyPr wrap="none" rtlCol="0">
            <a:spAutoFit/>
          </a:bodyPr>
          <a:lstStyle/>
          <a:p>
            <a:r>
              <a:rPr lang="en-US" dirty="0"/>
              <a:t>The model controls for education, economic deprivation, sex, party ID and </a:t>
            </a:r>
          </a:p>
          <a:p>
            <a:r>
              <a:rPr lang="en-US" dirty="0"/>
              <a:t>strength, race, being a born-again Christian, unemployed and region of</a:t>
            </a:r>
          </a:p>
          <a:p>
            <a:r>
              <a:rPr lang="en-US" dirty="0"/>
              <a:t> residence. </a:t>
            </a:r>
            <a:endParaRPr lang="en-CA" dirty="0"/>
          </a:p>
        </p:txBody>
      </p:sp>
    </p:spTree>
    <p:extLst>
      <p:ext uri="{BB962C8B-B14F-4D97-AF65-F5344CB8AC3E}">
        <p14:creationId xmlns:p14="http://schemas.microsoft.com/office/powerpoint/2010/main" val="3072057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Shape 18">
            <a:extLst>
              <a:ext uri="{FF2B5EF4-FFF2-40B4-BE49-F238E27FC236}">
                <a16:creationId xmlns:a16="http://schemas.microsoft.com/office/drawing/2014/main" id="{9C899144-0BA4-47BF-88AD-083B67C4293B}"/>
              </a:ext>
            </a:extLst>
          </p:cNvPr>
          <p:cNvSpPr>
            <a:spLocks noMove="1" noResize="1"/>
          </p:cNvSpPr>
          <p:nvPr/>
        </p:nvSpPr>
        <p:spPr>
          <a:xfrm>
            <a:off x="0" y="5367912"/>
            <a:ext cx="9161026" cy="1490097"/>
          </a:xfrm>
          <a:custGeom>
            <a:avLst/>
            <a:gdLst>
              <a:gd name="f0" fmla="val 10800000"/>
              <a:gd name="f1" fmla="val 5400000"/>
              <a:gd name="f2" fmla="val 180"/>
              <a:gd name="f3" fmla="val w"/>
              <a:gd name="f4" fmla="val h"/>
              <a:gd name="f5" fmla="val 0"/>
              <a:gd name="f6" fmla="val 9161029"/>
              <a:gd name="f7" fmla="val 1490093"/>
              <a:gd name="f8" fmla="val 2046494"/>
              <a:gd name="f9" fmla="val 2496613"/>
              <a:gd name="f10" fmla="val 3235839"/>
              <a:gd name="f11" fmla="val 8470921"/>
              <a:gd name="f12" fmla="+- 0 0 -90"/>
              <a:gd name="f13" fmla="*/ f3 1 9161029"/>
              <a:gd name="f14" fmla="*/ f4 1 1490093"/>
              <a:gd name="f15" fmla="+- f7 0 f5"/>
              <a:gd name="f16" fmla="+- f6 0 f5"/>
              <a:gd name="f17" fmla="*/ f12 f0 1"/>
              <a:gd name="f18" fmla="*/ f16 1 9161029"/>
              <a:gd name="f19" fmla="*/ f15 1 1490093"/>
              <a:gd name="f20" fmla="*/ 0 f16 1"/>
              <a:gd name="f21" fmla="*/ 0 f15 1"/>
              <a:gd name="f22" fmla="*/ 2046494 f16 1"/>
              <a:gd name="f23" fmla="*/ 2496613 f16 1"/>
              <a:gd name="f24" fmla="*/ 3235839 f16 1"/>
              <a:gd name="f25" fmla="*/ 9161029 f16 1"/>
              <a:gd name="f26" fmla="*/ 8470921 f16 1"/>
              <a:gd name="f27" fmla="*/ 1490093 f15 1"/>
              <a:gd name="f28" fmla="*/ f17 1 f2"/>
              <a:gd name="f29" fmla="*/ f20 1 9161029"/>
              <a:gd name="f30" fmla="*/ f21 1 1490093"/>
              <a:gd name="f31" fmla="*/ f22 1 9161029"/>
              <a:gd name="f32" fmla="*/ f23 1 9161029"/>
              <a:gd name="f33" fmla="*/ f24 1 9161029"/>
              <a:gd name="f34" fmla="*/ f25 1 9161029"/>
              <a:gd name="f35" fmla="*/ f26 1 9161029"/>
              <a:gd name="f36" fmla="*/ f27 1 1490093"/>
              <a:gd name="f37" fmla="*/ f5 1 f18"/>
              <a:gd name="f38" fmla="*/ f6 1 f18"/>
              <a:gd name="f39" fmla="*/ f5 1 f19"/>
              <a:gd name="f40" fmla="*/ f7 1 f19"/>
              <a:gd name="f41" fmla="+- f28 0 f1"/>
              <a:gd name="f42" fmla="*/ f29 1 f18"/>
              <a:gd name="f43" fmla="*/ f30 1 f19"/>
              <a:gd name="f44" fmla="*/ f31 1 f18"/>
              <a:gd name="f45" fmla="*/ f32 1 f18"/>
              <a:gd name="f46" fmla="*/ f33 1 f18"/>
              <a:gd name="f47" fmla="*/ f34 1 f18"/>
              <a:gd name="f48" fmla="*/ f35 1 f18"/>
              <a:gd name="f49" fmla="*/ f36 1 f19"/>
              <a:gd name="f50" fmla="*/ f37 f13 1"/>
              <a:gd name="f51" fmla="*/ f38 f13 1"/>
              <a:gd name="f52" fmla="*/ f40 f14 1"/>
              <a:gd name="f53" fmla="*/ f39 f14 1"/>
              <a:gd name="f54" fmla="*/ f42 f13 1"/>
              <a:gd name="f55" fmla="*/ f43 f14 1"/>
              <a:gd name="f56" fmla="*/ f44 f13 1"/>
              <a:gd name="f57" fmla="*/ f45 f13 1"/>
              <a:gd name="f58" fmla="*/ f46 f13 1"/>
              <a:gd name="f59" fmla="*/ f47 f13 1"/>
              <a:gd name="f60" fmla="*/ f48 f13 1"/>
              <a:gd name="f61" fmla="*/ f49 f14 1"/>
            </a:gdLst>
            <a:ahLst/>
            <a:cxnLst>
              <a:cxn ang="3cd4">
                <a:pos x="hc" y="t"/>
              </a:cxn>
              <a:cxn ang="0">
                <a:pos x="r" y="vc"/>
              </a:cxn>
              <a:cxn ang="cd4">
                <a:pos x="hc" y="b"/>
              </a:cxn>
              <a:cxn ang="cd2">
                <a:pos x="l" y="vc"/>
              </a:cxn>
              <a:cxn ang="f41">
                <a:pos x="f54" y="f55"/>
              </a:cxn>
              <a:cxn ang="f41">
                <a:pos x="f56" y="f55"/>
              </a:cxn>
              <a:cxn ang="f41">
                <a:pos x="f57" y="f55"/>
              </a:cxn>
              <a:cxn ang="f41">
                <a:pos x="f58" y="f55"/>
              </a:cxn>
              <a:cxn ang="f41">
                <a:pos x="f59" y="f55"/>
              </a:cxn>
              <a:cxn ang="f41">
                <a:pos x="f60" y="f61"/>
              </a:cxn>
              <a:cxn ang="f41">
                <a:pos x="f54" y="f61"/>
              </a:cxn>
            </a:cxnLst>
            <a:rect l="f50" t="f53" r="f51" b="f52"/>
            <a:pathLst>
              <a:path w="9161029" h="1490093">
                <a:moveTo>
                  <a:pt x="f5" y="f5"/>
                </a:moveTo>
                <a:lnTo>
                  <a:pt x="f8" y="f5"/>
                </a:lnTo>
                <a:lnTo>
                  <a:pt x="f9" y="f5"/>
                </a:lnTo>
                <a:lnTo>
                  <a:pt x="f10" y="f5"/>
                </a:lnTo>
                <a:lnTo>
                  <a:pt x="f6" y="f5"/>
                </a:lnTo>
                <a:lnTo>
                  <a:pt x="f11" y="f7"/>
                </a:lnTo>
                <a:lnTo>
                  <a:pt x="f5" y="f7"/>
                </a:lnTo>
                <a:close/>
              </a:path>
            </a:pathLst>
          </a:custGeom>
          <a:solidFill>
            <a:srgbClr val="7F7F7F">
              <a:alpha val="40000"/>
            </a:srgbClr>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3" name="Title 3">
            <a:extLst>
              <a:ext uri="{FF2B5EF4-FFF2-40B4-BE49-F238E27FC236}">
                <a16:creationId xmlns:a16="http://schemas.microsoft.com/office/drawing/2014/main" id="{80DBC6F2-A8D0-4B22-9841-DF13F0818F3C}"/>
              </a:ext>
            </a:extLst>
          </p:cNvPr>
          <p:cNvSpPr txBox="1">
            <a:spLocks noGrp="1"/>
          </p:cNvSpPr>
          <p:nvPr>
            <p:ph type="title"/>
          </p:nvPr>
        </p:nvSpPr>
        <p:spPr>
          <a:xfrm>
            <a:off x="838203" y="5507131"/>
            <a:ext cx="8266039" cy="1119077"/>
          </a:xfrm>
        </p:spPr>
        <p:txBody>
          <a:bodyPr>
            <a:noAutofit/>
          </a:bodyPr>
          <a:lstStyle/>
          <a:p>
            <a:pPr lvl="0"/>
            <a:r>
              <a:rPr lang="en-CA" sz="3200" b="1" dirty="0"/>
              <a:t>Scenarios: Some Examples of Measures of Support for Democratic  Backsliding in US (2018)  </a:t>
            </a:r>
          </a:p>
        </p:txBody>
      </p:sp>
      <p:sp>
        <p:nvSpPr>
          <p:cNvPr id="4" name="Freeform: Shape 20">
            <a:extLst>
              <a:ext uri="{FF2B5EF4-FFF2-40B4-BE49-F238E27FC236}">
                <a16:creationId xmlns:a16="http://schemas.microsoft.com/office/drawing/2014/main" id="{9C14A1E6-3C7B-4077-82B5-5951B8B0B212}"/>
              </a:ext>
            </a:extLst>
          </p:cNvPr>
          <p:cNvSpPr>
            <a:spLocks noMove="1" noResize="1"/>
          </p:cNvSpPr>
          <p:nvPr/>
        </p:nvSpPr>
        <p:spPr>
          <a:xfrm>
            <a:off x="8763033" y="5367912"/>
            <a:ext cx="3428963" cy="1490097"/>
          </a:xfrm>
          <a:custGeom>
            <a:avLst/>
            <a:gdLst>
              <a:gd name="f0" fmla="val 10800000"/>
              <a:gd name="f1" fmla="val 5400000"/>
              <a:gd name="f2" fmla="val 180"/>
              <a:gd name="f3" fmla="val w"/>
              <a:gd name="f4" fmla="val h"/>
              <a:gd name="f5" fmla="val 0"/>
              <a:gd name="f6" fmla="val 3428963"/>
              <a:gd name="f7" fmla="val 1490093"/>
              <a:gd name="f8" fmla="val 690108"/>
              <a:gd name="f9" fmla="+- 0 0 -90"/>
              <a:gd name="f10" fmla="*/ f3 1 3428963"/>
              <a:gd name="f11" fmla="*/ f4 1 1490093"/>
              <a:gd name="f12" fmla="+- f7 0 f5"/>
              <a:gd name="f13" fmla="+- f6 0 f5"/>
              <a:gd name="f14" fmla="*/ f9 f0 1"/>
              <a:gd name="f15" fmla="*/ f13 1 3428963"/>
              <a:gd name="f16" fmla="*/ f12 1 1490093"/>
              <a:gd name="f17" fmla="*/ 690108 f13 1"/>
              <a:gd name="f18" fmla="*/ 0 f12 1"/>
              <a:gd name="f19" fmla="*/ 3428963 f13 1"/>
              <a:gd name="f20" fmla="*/ 1490093 f12 1"/>
              <a:gd name="f21" fmla="*/ 0 f13 1"/>
              <a:gd name="f22" fmla="*/ f14 1 f2"/>
              <a:gd name="f23" fmla="*/ f17 1 3428963"/>
              <a:gd name="f24" fmla="*/ f18 1 1490093"/>
              <a:gd name="f25" fmla="*/ f19 1 3428963"/>
              <a:gd name="f26" fmla="*/ f20 1 1490093"/>
              <a:gd name="f27" fmla="*/ f21 1 3428963"/>
              <a:gd name="f28" fmla="*/ f5 1 f15"/>
              <a:gd name="f29" fmla="*/ f6 1 f15"/>
              <a:gd name="f30" fmla="*/ f5 1 f16"/>
              <a:gd name="f31" fmla="*/ f7 1 f16"/>
              <a:gd name="f32" fmla="+- f22 0 f1"/>
              <a:gd name="f33" fmla="*/ f23 1 f15"/>
              <a:gd name="f34" fmla="*/ f24 1 f16"/>
              <a:gd name="f35" fmla="*/ f25 1 f15"/>
              <a:gd name="f36" fmla="*/ f26 1 f16"/>
              <a:gd name="f37" fmla="*/ f27 1 f15"/>
              <a:gd name="f38" fmla="*/ f28 f10 1"/>
              <a:gd name="f39" fmla="*/ f29 f10 1"/>
              <a:gd name="f40" fmla="*/ f31 f11 1"/>
              <a:gd name="f41" fmla="*/ f30 f11 1"/>
              <a:gd name="f42" fmla="*/ f33 f10 1"/>
              <a:gd name="f43" fmla="*/ f34 f11 1"/>
              <a:gd name="f44" fmla="*/ f35 f10 1"/>
              <a:gd name="f45" fmla="*/ f36 f11 1"/>
              <a:gd name="f46" fmla="*/ f37 f10 1"/>
            </a:gdLst>
            <a:ahLst/>
            <a:cxnLst>
              <a:cxn ang="3cd4">
                <a:pos x="hc" y="t"/>
              </a:cxn>
              <a:cxn ang="0">
                <a:pos x="r" y="vc"/>
              </a:cxn>
              <a:cxn ang="cd4">
                <a:pos x="hc" y="b"/>
              </a:cxn>
              <a:cxn ang="cd2">
                <a:pos x="l" y="vc"/>
              </a:cxn>
              <a:cxn ang="f32">
                <a:pos x="f42" y="f43"/>
              </a:cxn>
              <a:cxn ang="f32">
                <a:pos x="f44" y="f43"/>
              </a:cxn>
              <a:cxn ang="f32">
                <a:pos x="f44" y="f45"/>
              </a:cxn>
              <a:cxn ang="f32">
                <a:pos x="f46" y="f45"/>
              </a:cxn>
            </a:cxnLst>
            <a:rect l="f38" t="f41" r="f39" b="f40"/>
            <a:pathLst>
              <a:path w="3428963" h="1490093">
                <a:moveTo>
                  <a:pt x="f8" y="f5"/>
                </a:moveTo>
                <a:lnTo>
                  <a:pt x="f6" y="f5"/>
                </a:lnTo>
                <a:lnTo>
                  <a:pt x="f6" y="f7"/>
                </a:lnTo>
                <a:lnTo>
                  <a:pt x="f5" y="f7"/>
                </a:lnTo>
                <a:close/>
              </a:path>
            </a:pathLst>
          </a:custGeom>
          <a:solidFill>
            <a:srgbClr val="000000">
              <a:alpha val="70000"/>
            </a:srgbClr>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6" name="Freeform: Shape 5">
            <a:extLst>
              <a:ext uri="{FF2B5EF4-FFF2-40B4-BE49-F238E27FC236}">
                <a16:creationId xmlns:a16="http://schemas.microsoft.com/office/drawing/2014/main" id="{3B2FE469-4625-4899-8D4B-4B1AECD82E39}"/>
              </a:ext>
            </a:extLst>
          </p:cNvPr>
          <p:cNvSpPr/>
          <p:nvPr/>
        </p:nvSpPr>
        <p:spPr>
          <a:xfrm>
            <a:off x="377857" y="693301"/>
            <a:ext cx="11069717" cy="0"/>
          </a:xfrm>
          <a:custGeom>
            <a:avLst/>
            <a:gdLst>
              <a:gd name="f0" fmla="val 10800000"/>
              <a:gd name="f1" fmla="val 5400000"/>
              <a:gd name="f2" fmla="val 180"/>
              <a:gd name="f3" fmla="val w"/>
              <a:gd name="f4" fmla="val h"/>
              <a:gd name="f5" fmla="val ss"/>
              <a:gd name="f6" fmla="val 0"/>
              <a:gd name="f7" fmla="+- 0 0 -180"/>
              <a:gd name="f8" fmla="+- 0 0 -360"/>
              <a:gd name="f9" fmla="abs f3"/>
              <a:gd name="f10" fmla="abs f4"/>
              <a:gd name="f11" fmla="abs f5"/>
              <a:gd name="f12" fmla="*/ f7 f0 1"/>
              <a:gd name="f13" fmla="*/ f8 f0 1"/>
              <a:gd name="f14" fmla="?: f9 f3 1"/>
              <a:gd name="f15" fmla="?: f10 f4 1"/>
              <a:gd name="f16" fmla="?: f11 f5 1"/>
              <a:gd name="f17" fmla="*/ f12 1 f2"/>
              <a:gd name="f18" fmla="*/ f13 1 f2"/>
              <a:gd name="f19" fmla="*/ f14 1 21600"/>
              <a:gd name="f20" fmla="*/ f15 1 21600"/>
              <a:gd name="f21" fmla="*/ 21600 f14 1"/>
              <a:gd name="f22" fmla="*/ 21600 f15 1"/>
              <a:gd name="f23" fmla="+- f17 0 f1"/>
              <a:gd name="f24" fmla="+- f18 0 f1"/>
              <a:gd name="f25" fmla="min f20 f19"/>
              <a:gd name="f26" fmla="*/ f21 1 f16"/>
              <a:gd name="f27" fmla="*/ f22 1 f16"/>
              <a:gd name="f28" fmla="val f26"/>
              <a:gd name="f29" fmla="val f27"/>
              <a:gd name="f30" fmla="*/ f6 f25 1"/>
              <a:gd name="f31" fmla="*/ f28 f25 1"/>
              <a:gd name="f32" fmla="*/ f29 f25 1"/>
            </a:gdLst>
            <a:ahLst/>
            <a:cxnLst>
              <a:cxn ang="3cd4">
                <a:pos x="hc" y="t"/>
              </a:cxn>
              <a:cxn ang="0">
                <a:pos x="r" y="vc"/>
              </a:cxn>
              <a:cxn ang="cd4">
                <a:pos x="hc" y="b"/>
              </a:cxn>
              <a:cxn ang="cd2">
                <a:pos x="l" y="vc"/>
              </a:cxn>
              <a:cxn ang="f23">
                <a:pos x="f30" y="f30"/>
              </a:cxn>
              <a:cxn ang="f24">
                <a:pos x="f31" y="f32"/>
              </a:cxn>
            </a:cxnLst>
            <a:rect l="f30" t="f30" r="f31" b="f32"/>
            <a:pathLst>
              <a:path>
                <a:moveTo>
                  <a:pt x="f30" y="f30"/>
                </a:moveTo>
                <a:lnTo>
                  <a:pt x="f31" y="f32"/>
                </a:lnTo>
              </a:path>
            </a:pathLst>
          </a:custGeom>
          <a:noFill/>
          <a:ln w="12701" cap="flat">
            <a:solidFill>
              <a:srgbClr val="5B9BD5"/>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CA" sz="1800" b="0" i="0" u="none" strike="noStrike" kern="1200" cap="none" spc="0" baseline="0">
              <a:solidFill>
                <a:srgbClr val="000000"/>
              </a:solidFill>
              <a:uFillTx/>
              <a:latin typeface="Calibri"/>
            </a:endParaRPr>
          </a:p>
        </p:txBody>
      </p:sp>
      <p:sp>
        <p:nvSpPr>
          <p:cNvPr id="9" name="Freeform: Shape 8">
            <a:extLst>
              <a:ext uri="{FF2B5EF4-FFF2-40B4-BE49-F238E27FC236}">
                <a16:creationId xmlns:a16="http://schemas.microsoft.com/office/drawing/2014/main" id="{AA61E4C0-B38B-43D5-A295-4BE549815539}"/>
              </a:ext>
            </a:extLst>
          </p:cNvPr>
          <p:cNvSpPr/>
          <p:nvPr/>
        </p:nvSpPr>
        <p:spPr>
          <a:xfrm>
            <a:off x="510379" y="1056033"/>
            <a:ext cx="11167713" cy="3176576"/>
          </a:xfrm>
          <a:custGeom>
            <a:avLst/>
            <a:gdLst>
              <a:gd name="f0" fmla="val 10800000"/>
              <a:gd name="f1" fmla="val 5400000"/>
              <a:gd name="f2" fmla="val 180"/>
              <a:gd name="f3" fmla="val w"/>
              <a:gd name="f4" fmla="val h"/>
              <a:gd name="f5" fmla="val 0"/>
              <a:gd name="f6" fmla="val 11058904"/>
              <a:gd name="f7" fmla="val 1786651"/>
              <a:gd name="f8" fmla="+- 0 0 -90"/>
              <a:gd name="f9" fmla="*/ f3 1 11058904"/>
              <a:gd name="f10" fmla="*/ f4 1 1786651"/>
              <a:gd name="f11" fmla="+- f7 0 f5"/>
              <a:gd name="f12" fmla="+- f6 0 f5"/>
              <a:gd name="f13" fmla="*/ f8 f0 1"/>
              <a:gd name="f14" fmla="*/ f12 1 11058904"/>
              <a:gd name="f15" fmla="*/ f11 1 1786651"/>
              <a:gd name="f16" fmla="*/ 0 f12 1"/>
              <a:gd name="f17" fmla="*/ 0 f11 1"/>
              <a:gd name="f18" fmla="*/ 11058904 f12 1"/>
              <a:gd name="f19" fmla="*/ 1786651 f11 1"/>
              <a:gd name="f20" fmla="*/ f13 1 f2"/>
              <a:gd name="f21" fmla="*/ f16 1 11058904"/>
              <a:gd name="f22" fmla="*/ f17 1 1786651"/>
              <a:gd name="f23" fmla="*/ f18 1 11058904"/>
              <a:gd name="f24" fmla="*/ f19 1 1786651"/>
              <a:gd name="f25" fmla="*/ f5 1 f14"/>
              <a:gd name="f26" fmla="*/ f6 1 f14"/>
              <a:gd name="f27" fmla="*/ f5 1 f15"/>
              <a:gd name="f28" fmla="*/ f7 1 f15"/>
              <a:gd name="f29" fmla="+- f20 0 f1"/>
              <a:gd name="f30" fmla="*/ f21 1 f14"/>
              <a:gd name="f31" fmla="*/ f22 1 f15"/>
              <a:gd name="f32" fmla="*/ f23 1 f14"/>
              <a:gd name="f33" fmla="*/ f24 1 f15"/>
              <a:gd name="f34" fmla="*/ f25 f9 1"/>
              <a:gd name="f35" fmla="*/ f26 f9 1"/>
              <a:gd name="f36" fmla="*/ f28 f10 1"/>
              <a:gd name="f37" fmla="*/ f27 f10 1"/>
              <a:gd name="f38" fmla="*/ f30 f9 1"/>
              <a:gd name="f39" fmla="*/ f31 f10 1"/>
              <a:gd name="f40" fmla="*/ f32 f9 1"/>
              <a:gd name="f41" fmla="*/ f33 f10 1"/>
            </a:gdLst>
            <a:ahLst/>
            <a:cxnLst>
              <a:cxn ang="3cd4">
                <a:pos x="hc" y="t"/>
              </a:cxn>
              <a:cxn ang="0">
                <a:pos x="r" y="vc"/>
              </a:cxn>
              <a:cxn ang="cd4">
                <a:pos x="hc" y="b"/>
              </a:cxn>
              <a:cxn ang="cd2">
                <a:pos x="l" y="vc"/>
              </a:cxn>
              <a:cxn ang="f29">
                <a:pos x="f38" y="f39"/>
              </a:cxn>
              <a:cxn ang="f29">
                <a:pos x="f40" y="f39"/>
              </a:cxn>
              <a:cxn ang="f29">
                <a:pos x="f40" y="f41"/>
              </a:cxn>
              <a:cxn ang="f29">
                <a:pos x="f38" y="f41"/>
              </a:cxn>
              <a:cxn ang="f29">
                <a:pos x="f38" y="f39"/>
              </a:cxn>
            </a:cxnLst>
            <a:rect l="f34" t="f37" r="f35" b="f36"/>
            <a:pathLst>
              <a:path w="11058904" h="1786651">
                <a:moveTo>
                  <a:pt x="f5" y="f5"/>
                </a:moveTo>
                <a:lnTo>
                  <a:pt x="f6" y="f5"/>
                </a:lnTo>
                <a:lnTo>
                  <a:pt x="f6" y="f7"/>
                </a:lnTo>
                <a:lnTo>
                  <a:pt x="f5" y="f7"/>
                </a:lnTo>
                <a:lnTo>
                  <a:pt x="f5" y="f5"/>
                </a:lnTo>
                <a:close/>
              </a:path>
            </a:pathLst>
          </a:custGeom>
          <a:noFill/>
          <a:ln cap="flat">
            <a:noFill/>
            <a:prstDash val="solid"/>
          </a:ln>
        </p:spPr>
        <p:txBody>
          <a:bodyPr vert="horz" wrap="square" lIns="91440" tIns="91440" rIns="91440" bIns="91440" anchor="t" anchorCtr="0" compatLnSpc="1">
            <a:noAutofit/>
          </a:bodyPr>
          <a:lstStyle/>
          <a:p>
            <a:pPr marL="0" marR="0" lvl="0" indent="0" algn="l" defTabSz="1066803" rtl="0" fontAlgn="auto" hangingPunct="1">
              <a:lnSpc>
                <a:spcPct val="90000"/>
              </a:lnSpc>
              <a:spcBef>
                <a:spcPts val="0"/>
              </a:spcBef>
              <a:spcAft>
                <a:spcPts val="1000"/>
              </a:spcAft>
              <a:buNone/>
              <a:tabLst/>
              <a:defRPr sz="1800" b="0" i="0" u="none" strike="noStrike" kern="0" cap="none" spc="0" baseline="0">
                <a:solidFill>
                  <a:srgbClr val="000000"/>
                </a:solidFill>
                <a:uFillTx/>
              </a:defRPr>
            </a:pPr>
            <a:r>
              <a:rPr lang="en-CA" sz="3200" b="1" i="0" u="none" strike="noStrike" kern="1200" cap="none" spc="0" baseline="0" dirty="0">
                <a:solidFill>
                  <a:srgbClr val="000000"/>
                </a:solidFill>
                <a:uFillTx/>
                <a:latin typeface="Calibri"/>
              </a:rPr>
              <a:t>Support for Limiting Voting Rights (Examples</a:t>
            </a:r>
            <a:r>
              <a:rPr lang="en-CA" sz="2800" b="1" i="0" u="none" strike="noStrike" kern="1200" cap="none" spc="0" baseline="0" dirty="0">
                <a:solidFill>
                  <a:srgbClr val="000000"/>
                </a:solidFill>
                <a:uFillTx/>
                <a:latin typeface="Calibri"/>
              </a:rPr>
              <a:t>) alpha=.6</a:t>
            </a:r>
          </a:p>
          <a:p>
            <a:pPr lvl="0" defTabSz="1066803">
              <a:lnSpc>
                <a:spcPct val="90000"/>
              </a:lnSpc>
              <a:spcAft>
                <a:spcPts val="1000"/>
              </a:spcAft>
              <a:defRPr sz="1800" b="0" i="0" u="none" strike="noStrike" kern="0" cap="none" spc="0" baseline="0">
                <a:solidFill>
                  <a:srgbClr val="000000"/>
                </a:solidFill>
                <a:uFillTx/>
              </a:defRPr>
            </a:pPr>
            <a:r>
              <a:rPr lang="en-US" sz="3200" dirty="0"/>
              <a:t>It should be made harder for some citizens to vote in elections in our country.</a:t>
            </a:r>
          </a:p>
          <a:p>
            <a:pPr lvl="0" defTabSz="1066803">
              <a:lnSpc>
                <a:spcPct val="90000"/>
              </a:lnSpc>
              <a:spcAft>
                <a:spcPts val="1000"/>
              </a:spcAft>
              <a:defRPr sz="1800" b="0" i="0" u="none" strike="noStrike" kern="0" cap="none" spc="0" baseline="0">
                <a:solidFill>
                  <a:srgbClr val="000000"/>
                </a:solidFill>
                <a:uFillTx/>
              </a:defRPr>
            </a:pPr>
            <a:endParaRPr lang="en-US" sz="3200" dirty="0"/>
          </a:p>
          <a:p>
            <a:pPr lvl="0" defTabSz="1066803">
              <a:lnSpc>
                <a:spcPct val="90000"/>
              </a:lnSpc>
              <a:spcAft>
                <a:spcPts val="1000"/>
              </a:spcAft>
              <a:defRPr sz="1800" b="0" i="0" u="none" strike="noStrike" kern="0" cap="none" spc="0" baseline="0">
                <a:solidFill>
                  <a:srgbClr val="000000"/>
                </a:solidFill>
                <a:uFillTx/>
              </a:defRPr>
            </a:pPr>
            <a:r>
              <a:rPr lang="en-US" sz="3200" dirty="0"/>
              <a:t>Only native-born Americans should have the right to vote in presidential elections.</a:t>
            </a:r>
            <a:endParaRPr lang="en-CA" sz="3200" b="0" i="0" u="none" strike="noStrike" kern="1200" cap="none" spc="0" baseline="0" dirty="0">
              <a:solidFill>
                <a:srgbClr val="000000"/>
              </a:solidFill>
              <a:uFillTx/>
            </a:endParaRPr>
          </a:p>
          <a:p>
            <a:pPr marL="0" marR="0" lvl="0" indent="0" algn="l" defTabSz="1066803" rtl="0" fontAlgn="auto" hangingPunct="1">
              <a:lnSpc>
                <a:spcPct val="90000"/>
              </a:lnSpc>
              <a:spcBef>
                <a:spcPts val="0"/>
              </a:spcBef>
              <a:spcAft>
                <a:spcPts val="1000"/>
              </a:spcAft>
              <a:buNone/>
              <a:tabLst/>
              <a:defRPr sz="1800" b="0" i="0" u="none" strike="noStrike" kern="0" cap="none" spc="0" baseline="0">
                <a:solidFill>
                  <a:srgbClr val="000000"/>
                </a:solidFill>
                <a:uFillTx/>
              </a:defRPr>
            </a:pPr>
            <a:endParaRPr lang="en-US" sz="2400" b="0" i="0" u="none" strike="noStrike" kern="1200" cap="none" spc="0" baseline="0" dirty="0">
              <a:solidFill>
                <a:srgbClr val="000000"/>
              </a:solidFill>
              <a:uFillTx/>
              <a:latin typeface="Calibri"/>
            </a:endParaRPr>
          </a:p>
        </p:txBody>
      </p:sp>
      <p:sp>
        <p:nvSpPr>
          <p:cNvPr id="10" name="Freeform: Shape 9">
            <a:extLst>
              <a:ext uri="{FF2B5EF4-FFF2-40B4-BE49-F238E27FC236}">
                <a16:creationId xmlns:a16="http://schemas.microsoft.com/office/drawing/2014/main" id="{A3233422-6D1B-491A-ADBD-A3E01272914F}"/>
              </a:ext>
            </a:extLst>
          </p:cNvPr>
          <p:cNvSpPr/>
          <p:nvPr/>
        </p:nvSpPr>
        <p:spPr>
          <a:xfrm>
            <a:off x="473107" y="5218438"/>
            <a:ext cx="11069717" cy="0"/>
          </a:xfrm>
          <a:custGeom>
            <a:avLst/>
            <a:gdLst>
              <a:gd name="f0" fmla="val 10800000"/>
              <a:gd name="f1" fmla="val 5400000"/>
              <a:gd name="f2" fmla="val 180"/>
              <a:gd name="f3" fmla="val w"/>
              <a:gd name="f4" fmla="val h"/>
              <a:gd name="f5" fmla="val ss"/>
              <a:gd name="f6" fmla="val 0"/>
              <a:gd name="f7" fmla="+- 0 0 -180"/>
              <a:gd name="f8" fmla="+- 0 0 -360"/>
              <a:gd name="f9" fmla="abs f3"/>
              <a:gd name="f10" fmla="abs f4"/>
              <a:gd name="f11" fmla="abs f5"/>
              <a:gd name="f12" fmla="*/ f7 f0 1"/>
              <a:gd name="f13" fmla="*/ f8 f0 1"/>
              <a:gd name="f14" fmla="?: f9 f3 1"/>
              <a:gd name="f15" fmla="?: f10 f4 1"/>
              <a:gd name="f16" fmla="?: f11 f5 1"/>
              <a:gd name="f17" fmla="*/ f12 1 f2"/>
              <a:gd name="f18" fmla="*/ f13 1 f2"/>
              <a:gd name="f19" fmla="*/ f14 1 21600"/>
              <a:gd name="f20" fmla="*/ f15 1 21600"/>
              <a:gd name="f21" fmla="*/ 21600 f14 1"/>
              <a:gd name="f22" fmla="*/ 21600 f15 1"/>
              <a:gd name="f23" fmla="+- f17 0 f1"/>
              <a:gd name="f24" fmla="+- f18 0 f1"/>
              <a:gd name="f25" fmla="min f20 f19"/>
              <a:gd name="f26" fmla="*/ f21 1 f16"/>
              <a:gd name="f27" fmla="*/ f22 1 f16"/>
              <a:gd name="f28" fmla="val f26"/>
              <a:gd name="f29" fmla="val f27"/>
              <a:gd name="f30" fmla="*/ f6 f25 1"/>
              <a:gd name="f31" fmla="*/ f28 f25 1"/>
              <a:gd name="f32" fmla="*/ f29 f25 1"/>
            </a:gdLst>
            <a:ahLst/>
            <a:cxnLst>
              <a:cxn ang="3cd4">
                <a:pos x="hc" y="t"/>
              </a:cxn>
              <a:cxn ang="0">
                <a:pos x="r" y="vc"/>
              </a:cxn>
              <a:cxn ang="cd4">
                <a:pos x="hc" y="b"/>
              </a:cxn>
              <a:cxn ang="cd2">
                <a:pos x="l" y="vc"/>
              </a:cxn>
              <a:cxn ang="f23">
                <a:pos x="f30" y="f30"/>
              </a:cxn>
              <a:cxn ang="f24">
                <a:pos x="f31" y="f32"/>
              </a:cxn>
            </a:cxnLst>
            <a:rect l="f30" t="f30" r="f31" b="f32"/>
            <a:pathLst>
              <a:path>
                <a:moveTo>
                  <a:pt x="f30" y="f30"/>
                </a:moveTo>
                <a:lnTo>
                  <a:pt x="f31" y="f32"/>
                </a:lnTo>
              </a:path>
            </a:pathLst>
          </a:custGeom>
          <a:noFill/>
          <a:ln w="12701" cap="flat">
            <a:solidFill>
              <a:srgbClr val="70AD47"/>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CA" sz="1800" b="0" i="0" u="none" strike="noStrike" kern="1200" cap="none" spc="0" baseline="0">
              <a:solidFill>
                <a:srgbClr val="000000"/>
              </a:solidFill>
              <a:uFillTx/>
              <a:latin typeface="Calibri"/>
            </a:endParaRPr>
          </a:p>
        </p:txBody>
      </p:sp>
      <p:pic>
        <p:nvPicPr>
          <p:cNvPr id="12" name="Picture 12" descr="Fodem">
            <a:extLst>
              <a:ext uri="{FF2B5EF4-FFF2-40B4-BE49-F238E27FC236}">
                <a16:creationId xmlns:a16="http://schemas.microsoft.com/office/drawing/2014/main" id="{E963BF7F-50E3-4503-94DC-91014674EAB9}"/>
              </a:ext>
            </a:extLst>
          </p:cNvPr>
          <p:cNvPicPr>
            <a:picLocks noChangeAspect="1"/>
          </p:cNvPicPr>
          <p:nvPr/>
        </p:nvPicPr>
        <p:blipFill>
          <a:blip r:embed="rId3"/>
          <a:srcRect/>
          <a:stretch>
            <a:fillRect/>
          </a:stretch>
        </p:blipFill>
        <p:spPr>
          <a:xfrm>
            <a:off x="9395780" y="6214536"/>
            <a:ext cx="700823" cy="599224"/>
          </a:xfrm>
          <a:prstGeom prst="rect">
            <a:avLst/>
          </a:prstGeom>
          <a:noFill/>
          <a:ln cap="flat">
            <a:noFill/>
          </a:ln>
        </p:spPr>
      </p:pic>
      <p:pic>
        <p:nvPicPr>
          <p:cNvPr id="13" name="Picture 47" descr="A close up of a logo&#10;&#10;Description generated with very high confidence">
            <a:extLst>
              <a:ext uri="{FF2B5EF4-FFF2-40B4-BE49-F238E27FC236}">
                <a16:creationId xmlns:a16="http://schemas.microsoft.com/office/drawing/2014/main" id="{3D55F12F-3FB9-4FFF-8AE9-8C2F0F736994}"/>
              </a:ext>
            </a:extLst>
          </p:cNvPr>
          <p:cNvPicPr>
            <a:picLocks noChangeAspect="1"/>
          </p:cNvPicPr>
          <p:nvPr/>
        </p:nvPicPr>
        <p:blipFill>
          <a:blip r:embed="rId4"/>
          <a:srcRect/>
          <a:stretch>
            <a:fillRect/>
          </a:stretch>
        </p:blipFill>
        <p:spPr>
          <a:xfrm>
            <a:off x="10272762" y="6105942"/>
            <a:ext cx="1627696" cy="752057"/>
          </a:xfrm>
          <a:prstGeom prst="rect">
            <a:avLst/>
          </a:prstGeom>
          <a:noFill/>
          <a:ln cap="flat">
            <a:noFill/>
          </a:ln>
        </p:spPr>
      </p:pic>
      <p:pic>
        <p:nvPicPr>
          <p:cNvPr id="14" name="Picture 6" descr="Image result for McGill logo">
            <a:extLst>
              <a:ext uri="{FF2B5EF4-FFF2-40B4-BE49-F238E27FC236}">
                <a16:creationId xmlns:a16="http://schemas.microsoft.com/office/drawing/2014/main" id="{7EE24FF9-425D-4C52-91DB-3731351C8B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25249" y="5507131"/>
            <a:ext cx="1129678" cy="5983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3151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F56156-2088-40C0-99DD-E99976EC9A68}"/>
              </a:ext>
            </a:extLst>
          </p:cNvPr>
          <p:cNvSpPr>
            <a:spLocks noGrp="1"/>
          </p:cNvSpPr>
          <p:nvPr>
            <p:ph type="title"/>
          </p:nvPr>
        </p:nvSpPr>
        <p:spPr>
          <a:xfrm>
            <a:off x="835715" y="477907"/>
            <a:ext cx="3476625" cy="4962524"/>
          </a:xfrm>
        </p:spPr>
        <p:txBody>
          <a:bodyPr vert="horz" lIns="91440" tIns="45720" rIns="91440" bIns="45720" rtlCol="0" anchor="ctr">
            <a:normAutofit/>
          </a:bodyPr>
          <a:lstStyle/>
          <a:p>
            <a:pPr algn="ctr">
              <a:spcBef>
                <a:spcPct val="0"/>
              </a:spcBef>
            </a:pPr>
            <a:r>
              <a:rPr lang="en-US" sz="3700" kern="1200" dirty="0">
                <a:solidFill>
                  <a:srgbClr val="FFFFFF"/>
                </a:solidFill>
                <a:latin typeface="+mj-lt"/>
                <a:ea typeface="+mj-ea"/>
                <a:cs typeface="+mj-cs"/>
              </a:rPr>
              <a:t>Young cohorts support limiting voting rights more than other cohorts, USA </a:t>
            </a:r>
            <a:r>
              <a:rPr lang="en-US" sz="3700" kern="1200" dirty="0">
                <a:solidFill>
                  <a:schemeClr val="bg1"/>
                </a:solidFill>
                <a:latin typeface="+mj-lt"/>
                <a:ea typeface="+mj-ea"/>
                <a:cs typeface="+mj-cs"/>
              </a:rPr>
              <a:t>2018</a:t>
            </a:r>
          </a:p>
        </p:txBody>
      </p:sp>
      <p:pic>
        <p:nvPicPr>
          <p:cNvPr id="7" name="Picture 23" descr="Fodem">
            <a:extLst>
              <a:ext uri="{FF2B5EF4-FFF2-40B4-BE49-F238E27FC236}">
                <a16:creationId xmlns:a16="http://schemas.microsoft.com/office/drawing/2014/main" id="{5C30A704-66F5-4C88-B081-68EF3C26F8F2}"/>
              </a:ext>
            </a:extLst>
          </p:cNvPr>
          <p:cNvPicPr>
            <a:picLocks noChangeAspect="1"/>
          </p:cNvPicPr>
          <p:nvPr/>
        </p:nvPicPr>
        <p:blipFill>
          <a:blip r:embed="rId3"/>
          <a:srcRect/>
          <a:stretch>
            <a:fillRect/>
          </a:stretch>
        </p:blipFill>
        <p:spPr>
          <a:xfrm>
            <a:off x="834887" y="5847959"/>
            <a:ext cx="700823" cy="599224"/>
          </a:xfrm>
          <a:prstGeom prst="rect">
            <a:avLst/>
          </a:prstGeom>
          <a:noFill/>
          <a:ln cap="flat">
            <a:noFill/>
          </a:ln>
        </p:spPr>
      </p:pic>
      <p:pic>
        <p:nvPicPr>
          <p:cNvPr id="8" name="Picture 47" descr="A close up of a logo&#10;&#10;Description generated with very high confidence">
            <a:extLst>
              <a:ext uri="{FF2B5EF4-FFF2-40B4-BE49-F238E27FC236}">
                <a16:creationId xmlns:a16="http://schemas.microsoft.com/office/drawing/2014/main" id="{0A4CFE86-919B-4477-AFAA-A569B1CB8BE2}"/>
              </a:ext>
            </a:extLst>
          </p:cNvPr>
          <p:cNvPicPr>
            <a:picLocks noChangeAspect="1"/>
          </p:cNvPicPr>
          <p:nvPr/>
        </p:nvPicPr>
        <p:blipFill>
          <a:blip r:embed="rId4"/>
          <a:srcRect/>
          <a:stretch>
            <a:fillRect/>
          </a:stretch>
        </p:blipFill>
        <p:spPr>
          <a:xfrm>
            <a:off x="1799287" y="5695125"/>
            <a:ext cx="1627696" cy="752057"/>
          </a:xfrm>
          <a:prstGeom prst="rect">
            <a:avLst/>
          </a:prstGeom>
          <a:noFill/>
          <a:ln cap="flat">
            <a:noFill/>
          </a:ln>
        </p:spPr>
      </p:pic>
      <p:pic>
        <p:nvPicPr>
          <p:cNvPr id="10" name="Picture 6" descr="Image result for McGill logo">
            <a:extLst>
              <a:ext uri="{FF2B5EF4-FFF2-40B4-BE49-F238E27FC236}">
                <a16:creationId xmlns:a16="http://schemas.microsoft.com/office/drawing/2014/main" id="{A855E723-2BE3-4858-8B8E-0AF87756D2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37093" y="5822284"/>
            <a:ext cx="1129678" cy="59839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115D74DB-5296-492C-BAB2-585D5705B6E7}"/>
              </a:ext>
            </a:extLst>
          </p:cNvPr>
          <p:cNvPicPr>
            <a:picLocks noChangeAspect="1"/>
          </p:cNvPicPr>
          <p:nvPr/>
        </p:nvPicPr>
        <p:blipFill>
          <a:blip r:embed="rId6"/>
          <a:stretch>
            <a:fillRect/>
          </a:stretch>
        </p:blipFill>
        <p:spPr>
          <a:xfrm>
            <a:off x="4899546" y="347108"/>
            <a:ext cx="6946710" cy="5486400"/>
          </a:xfrm>
          <a:prstGeom prst="rect">
            <a:avLst/>
          </a:prstGeom>
        </p:spPr>
      </p:pic>
      <p:sp>
        <p:nvSpPr>
          <p:cNvPr id="4" name="Rectangle 3">
            <a:extLst>
              <a:ext uri="{FF2B5EF4-FFF2-40B4-BE49-F238E27FC236}">
                <a16:creationId xmlns:a16="http://schemas.microsoft.com/office/drawing/2014/main" id="{399B24F2-AEA7-45A4-876B-F939CC27E413}"/>
              </a:ext>
            </a:extLst>
          </p:cNvPr>
          <p:cNvSpPr/>
          <p:nvPr/>
        </p:nvSpPr>
        <p:spPr>
          <a:xfrm>
            <a:off x="5318760" y="5784056"/>
            <a:ext cx="6096000" cy="923330"/>
          </a:xfrm>
          <a:prstGeom prst="rect">
            <a:avLst/>
          </a:prstGeom>
        </p:spPr>
        <p:txBody>
          <a:bodyPr>
            <a:spAutoFit/>
          </a:bodyPr>
          <a:lstStyle/>
          <a:p>
            <a:r>
              <a:rPr lang="en-US" dirty="0"/>
              <a:t>The model controls for education, economic deprivation, sex, party ID and  strength, race, being a born-again Christian, unemployed and region of residence. </a:t>
            </a:r>
            <a:endParaRPr lang="en-CA" dirty="0"/>
          </a:p>
        </p:txBody>
      </p:sp>
    </p:spTree>
    <p:extLst>
      <p:ext uri="{BB962C8B-B14F-4D97-AF65-F5344CB8AC3E}">
        <p14:creationId xmlns:p14="http://schemas.microsoft.com/office/powerpoint/2010/main" val="1203638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CD5F33A-91B2-4CA0-A2D0-7759E715D32A}"/>
              </a:ext>
            </a:extLst>
          </p:cNvPr>
          <p:cNvPicPr>
            <a:picLocks noChangeAspect="1"/>
          </p:cNvPicPr>
          <p:nvPr/>
        </p:nvPicPr>
        <p:blipFill rotWithShape="1">
          <a:blip r:embed="rId3">
            <a:duotone>
              <a:schemeClr val="bg2">
                <a:shade val="45000"/>
                <a:satMod val="135000"/>
              </a:schemeClr>
              <a:prstClr val="white"/>
            </a:duotone>
          </a:blip>
          <a:srcRect t="2388" r="9091" b="21004"/>
          <a:stretch/>
        </p:blipFill>
        <p:spPr>
          <a:xfrm>
            <a:off x="20" y="10"/>
            <a:ext cx="12191980" cy="6857990"/>
          </a:xfrm>
          <a:prstGeom prst="rect">
            <a:avLst/>
          </a:prstGeom>
        </p:spPr>
      </p:pic>
      <p:sp>
        <p:nvSpPr>
          <p:cNvPr id="18" name="Rectangle 17">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8F39E1-890D-4277-B085-D5E12D51C779}"/>
              </a:ext>
            </a:extLst>
          </p:cNvPr>
          <p:cNvSpPr>
            <a:spLocks noGrp="1"/>
          </p:cNvSpPr>
          <p:nvPr>
            <p:ph type="title"/>
          </p:nvPr>
        </p:nvSpPr>
        <p:spPr>
          <a:xfrm>
            <a:off x="838200" y="365125"/>
            <a:ext cx="10515600" cy="1325563"/>
          </a:xfrm>
        </p:spPr>
        <p:txBody>
          <a:bodyPr>
            <a:normAutofit/>
          </a:bodyPr>
          <a:lstStyle/>
          <a:p>
            <a:r>
              <a:rPr lang="en-CA"/>
              <a:t>Vignettes</a:t>
            </a:r>
          </a:p>
        </p:txBody>
      </p:sp>
      <p:graphicFrame>
        <p:nvGraphicFramePr>
          <p:cNvPr id="8" name="Content Placeholder 5">
            <a:extLst>
              <a:ext uri="{FF2B5EF4-FFF2-40B4-BE49-F238E27FC236}">
                <a16:creationId xmlns:a16="http://schemas.microsoft.com/office/drawing/2014/main" id="{76B856F0-12D4-4205-A327-FB3487E514A5}"/>
              </a:ext>
            </a:extLst>
          </p:cNvPr>
          <p:cNvGraphicFramePr>
            <a:graphicFrameLocks noGrp="1"/>
          </p:cNvGraphicFramePr>
          <p:nvPr>
            <p:ph idx="1"/>
            <p:extLst>
              <p:ext uri="{D42A27DB-BD31-4B8C-83A1-F6EECF244321}">
                <p14:modId xmlns:p14="http://schemas.microsoft.com/office/powerpoint/2010/main" val="3178531621"/>
              </p:ext>
            </p:extLst>
          </p:nvPr>
        </p:nvGraphicFramePr>
        <p:xfrm>
          <a:off x="838200" y="1310640"/>
          <a:ext cx="10515600" cy="5257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567207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B45A142-4255-493C-8284-5D566C121B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21177"/>
            <a:ext cx="4332307" cy="6179552"/>
          </a:xfrm>
          <a:prstGeom prst="rect">
            <a:avLst/>
          </a:prstGeom>
          <a:solidFill>
            <a:srgbClr val="404040">
              <a:alpha val="89804"/>
            </a:srgbClr>
          </a:solidFill>
          <a:ln w="127000" cap="sq" cmpd="thinThick">
            <a:solidFill>
              <a:srgbClr val="595959">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065F84-C655-43FC-873D-591D5AC62EA4}"/>
              </a:ext>
            </a:extLst>
          </p:cNvPr>
          <p:cNvSpPr>
            <a:spLocks noGrp="1"/>
          </p:cNvSpPr>
          <p:nvPr>
            <p:ph type="title"/>
          </p:nvPr>
        </p:nvSpPr>
        <p:spPr>
          <a:xfrm>
            <a:off x="674237" y="914400"/>
            <a:ext cx="3657600" cy="2887579"/>
          </a:xfrm>
        </p:spPr>
        <p:txBody>
          <a:bodyPr vert="horz" lIns="91440" tIns="45720" rIns="91440" bIns="45720" rtlCol="0" anchor="b">
            <a:normAutofit/>
          </a:bodyPr>
          <a:lstStyle/>
          <a:p>
            <a:pPr algn="ctr">
              <a:spcBef>
                <a:spcPct val="0"/>
              </a:spcBef>
            </a:pPr>
            <a:r>
              <a:rPr lang="en-US" sz="2600" kern="1200" dirty="0">
                <a:solidFill>
                  <a:srgbClr val="FFFFFF"/>
                </a:solidFill>
                <a:latin typeface="+mj-lt"/>
                <a:ea typeface="+mj-ea"/>
                <a:cs typeface="+mj-cs"/>
              </a:rPr>
              <a:t>Younger cohorts are more inclined to allow the governor to shut down the legislature, especially when the governor wants to continue the lockdown. </a:t>
            </a:r>
          </a:p>
        </p:txBody>
      </p:sp>
      <p:cxnSp>
        <p:nvCxnSpPr>
          <p:cNvPr id="12" name="Straight Connector 11">
            <a:extLst>
              <a:ext uri="{FF2B5EF4-FFF2-40B4-BE49-F238E27FC236}">
                <a16:creationId xmlns:a16="http://schemas.microsoft.com/office/drawing/2014/main" id="{38FB9660-F42F-4313-BBC4-47C007FE48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1126" y="3910267"/>
            <a:ext cx="258679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5" name="Content Placeholder 4">
            <a:extLst>
              <a:ext uri="{FF2B5EF4-FFF2-40B4-BE49-F238E27FC236}">
                <a16:creationId xmlns:a16="http://schemas.microsoft.com/office/drawing/2014/main" id="{BF497A50-F18B-4F35-83B8-CCE3B5891362}"/>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5027307" y="516836"/>
            <a:ext cx="6934672" cy="5393634"/>
          </a:xfrm>
          <a:prstGeom prst="rect">
            <a:avLst/>
          </a:prstGeom>
        </p:spPr>
      </p:pic>
      <p:sp>
        <p:nvSpPr>
          <p:cNvPr id="6" name="Rectangle 5">
            <a:extLst>
              <a:ext uri="{FF2B5EF4-FFF2-40B4-BE49-F238E27FC236}">
                <a16:creationId xmlns:a16="http://schemas.microsoft.com/office/drawing/2014/main" id="{C616E0C4-15F3-43A9-A1AA-E4F59C81946C}"/>
              </a:ext>
            </a:extLst>
          </p:cNvPr>
          <p:cNvSpPr/>
          <p:nvPr/>
        </p:nvSpPr>
        <p:spPr>
          <a:xfrm>
            <a:off x="6665844" y="5579165"/>
            <a:ext cx="2570921" cy="5300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9" name="Picture 23" descr="Fodem">
            <a:extLst>
              <a:ext uri="{FF2B5EF4-FFF2-40B4-BE49-F238E27FC236}">
                <a16:creationId xmlns:a16="http://schemas.microsoft.com/office/drawing/2014/main" id="{A2338A18-081E-4C62-87B7-2292FBF6B2FD}"/>
              </a:ext>
            </a:extLst>
          </p:cNvPr>
          <p:cNvPicPr>
            <a:picLocks noChangeAspect="1"/>
          </p:cNvPicPr>
          <p:nvPr/>
        </p:nvPicPr>
        <p:blipFill>
          <a:blip r:embed="rId4"/>
          <a:srcRect/>
          <a:stretch>
            <a:fillRect/>
          </a:stretch>
        </p:blipFill>
        <p:spPr>
          <a:xfrm>
            <a:off x="636104" y="5847958"/>
            <a:ext cx="700823" cy="599224"/>
          </a:xfrm>
          <a:prstGeom prst="rect">
            <a:avLst/>
          </a:prstGeom>
          <a:noFill/>
          <a:ln cap="flat">
            <a:noFill/>
          </a:ln>
        </p:spPr>
      </p:pic>
      <p:pic>
        <p:nvPicPr>
          <p:cNvPr id="11" name="Picture 47" descr="A close up of a logo&#10;&#10;Description generated with very high confidence">
            <a:extLst>
              <a:ext uri="{FF2B5EF4-FFF2-40B4-BE49-F238E27FC236}">
                <a16:creationId xmlns:a16="http://schemas.microsoft.com/office/drawing/2014/main" id="{D4D5BE1A-2932-464D-8F72-69CB8D88CC4D}"/>
              </a:ext>
            </a:extLst>
          </p:cNvPr>
          <p:cNvPicPr>
            <a:picLocks noChangeAspect="1"/>
          </p:cNvPicPr>
          <p:nvPr/>
        </p:nvPicPr>
        <p:blipFill>
          <a:blip r:embed="rId5"/>
          <a:srcRect/>
          <a:stretch>
            <a:fillRect/>
          </a:stretch>
        </p:blipFill>
        <p:spPr>
          <a:xfrm>
            <a:off x="1481235" y="5695125"/>
            <a:ext cx="1627696" cy="752057"/>
          </a:xfrm>
          <a:prstGeom prst="rect">
            <a:avLst/>
          </a:prstGeom>
          <a:noFill/>
          <a:ln cap="flat">
            <a:noFill/>
          </a:ln>
        </p:spPr>
      </p:pic>
      <p:pic>
        <p:nvPicPr>
          <p:cNvPr id="13" name="Picture 6" descr="Image result for McGill logo">
            <a:extLst>
              <a:ext uri="{FF2B5EF4-FFF2-40B4-BE49-F238E27FC236}">
                <a16:creationId xmlns:a16="http://schemas.microsoft.com/office/drawing/2014/main" id="{98EFDA10-7C86-4352-8182-3BE9D9346E0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98553" y="5848788"/>
            <a:ext cx="1129678" cy="5983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4367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61170-942E-4EFE-B63E-77EDC42EE016}"/>
              </a:ext>
            </a:extLst>
          </p:cNvPr>
          <p:cNvSpPr>
            <a:spLocks noGrp="1"/>
          </p:cNvSpPr>
          <p:nvPr>
            <p:ph type="title"/>
          </p:nvPr>
        </p:nvSpPr>
        <p:spPr/>
        <p:txBody>
          <a:bodyPr>
            <a:normAutofit fontScale="90000"/>
          </a:bodyPr>
          <a:lstStyle/>
          <a:p>
            <a:r>
              <a:rPr lang="en-CA" dirty="0"/>
              <a:t>Even concrete scenarios show that younger cohorts are not fully supportive of democracy. </a:t>
            </a:r>
            <a:br>
              <a:rPr lang="en-CA" dirty="0"/>
            </a:br>
            <a:r>
              <a:rPr lang="en-CA" dirty="0"/>
              <a:t>So why is that? </a:t>
            </a:r>
          </a:p>
        </p:txBody>
      </p:sp>
      <p:graphicFrame>
        <p:nvGraphicFramePr>
          <p:cNvPr id="4" name="Table 4">
            <a:extLst>
              <a:ext uri="{FF2B5EF4-FFF2-40B4-BE49-F238E27FC236}">
                <a16:creationId xmlns:a16="http://schemas.microsoft.com/office/drawing/2014/main" id="{38A1F0E2-CC05-4C74-B357-1F4D92C04765}"/>
              </a:ext>
            </a:extLst>
          </p:cNvPr>
          <p:cNvGraphicFramePr>
            <a:graphicFrameLocks noGrp="1"/>
          </p:cNvGraphicFramePr>
          <p:nvPr>
            <p:ph idx="1"/>
            <p:extLst>
              <p:ext uri="{D42A27DB-BD31-4B8C-83A1-F6EECF244321}">
                <p14:modId xmlns:p14="http://schemas.microsoft.com/office/powerpoint/2010/main" val="2022203522"/>
              </p:ext>
            </p:extLst>
          </p:nvPr>
        </p:nvGraphicFramePr>
        <p:xfrm>
          <a:off x="742122" y="2372138"/>
          <a:ext cx="10204173" cy="3381956"/>
        </p:xfrm>
        <a:graphic>
          <a:graphicData uri="http://schemas.openxmlformats.org/drawingml/2006/table">
            <a:tbl>
              <a:tblPr firstRow="1" bandRow="1">
                <a:tableStyleId>{5C22544A-7EE6-4342-B048-85BDC9FD1C3A}</a:tableStyleId>
              </a:tblPr>
              <a:tblGrid>
                <a:gridCol w="7452777">
                  <a:extLst>
                    <a:ext uri="{9D8B030D-6E8A-4147-A177-3AD203B41FA5}">
                      <a16:colId xmlns:a16="http://schemas.microsoft.com/office/drawing/2014/main" val="453693862"/>
                    </a:ext>
                  </a:extLst>
                </a:gridCol>
                <a:gridCol w="2751396">
                  <a:extLst>
                    <a:ext uri="{9D8B030D-6E8A-4147-A177-3AD203B41FA5}">
                      <a16:colId xmlns:a16="http://schemas.microsoft.com/office/drawing/2014/main" val="1583496874"/>
                    </a:ext>
                  </a:extLst>
                </a:gridCol>
              </a:tblGrid>
              <a:tr h="821636">
                <a:tc>
                  <a:txBody>
                    <a:bodyPr/>
                    <a:lstStyle/>
                    <a:p>
                      <a:endParaRPr lang="en-CA" dirty="0"/>
                    </a:p>
                  </a:txBody>
                  <a:tcPr/>
                </a:tc>
                <a:tc>
                  <a:txBody>
                    <a:bodyPr/>
                    <a:lstStyle/>
                    <a:p>
                      <a:endParaRPr lang="en-CA"/>
                    </a:p>
                  </a:txBody>
                  <a:tcPr/>
                </a:tc>
                <a:extLst>
                  <a:ext uri="{0D108BD9-81ED-4DB2-BD59-A6C34878D82A}">
                    <a16:rowId xmlns:a16="http://schemas.microsoft.com/office/drawing/2014/main" val="1785884808"/>
                  </a:ext>
                </a:extLst>
              </a:tr>
              <a:tr h="404191">
                <a:tc>
                  <a:txBody>
                    <a:bodyPr/>
                    <a:lstStyle/>
                    <a:p>
                      <a:r>
                        <a:rPr lang="en-CA" sz="3600" dirty="0"/>
                        <a:t>Critical Citizens</a:t>
                      </a:r>
                    </a:p>
                  </a:txBody>
                  <a:tcPr/>
                </a:tc>
                <a:tc>
                  <a:txBody>
                    <a:bodyPr/>
                    <a:lstStyle/>
                    <a:p>
                      <a:endParaRPr lang="en-CA" dirty="0"/>
                    </a:p>
                  </a:txBody>
                  <a:tcPr/>
                </a:tc>
                <a:extLst>
                  <a:ext uri="{0D108BD9-81ED-4DB2-BD59-A6C34878D82A}">
                    <a16:rowId xmlns:a16="http://schemas.microsoft.com/office/drawing/2014/main" val="2952183610"/>
                  </a:ext>
                </a:extLst>
              </a:tr>
              <a:tr h="404191">
                <a:tc>
                  <a:txBody>
                    <a:bodyPr/>
                    <a:lstStyle/>
                    <a:p>
                      <a:r>
                        <a:rPr lang="en-CA" sz="3600"/>
                        <a:t>Confused Citizens</a:t>
                      </a:r>
                      <a:endParaRPr lang="en-CA" sz="3600" dirty="0"/>
                    </a:p>
                  </a:txBody>
                  <a:tcPr/>
                </a:tc>
                <a:tc>
                  <a:txBody>
                    <a:bodyPr/>
                    <a:lstStyle/>
                    <a:p>
                      <a:endParaRPr lang="en-CA" dirty="0"/>
                    </a:p>
                  </a:txBody>
                  <a:tcPr/>
                </a:tc>
                <a:extLst>
                  <a:ext uri="{0D108BD9-81ED-4DB2-BD59-A6C34878D82A}">
                    <a16:rowId xmlns:a16="http://schemas.microsoft.com/office/drawing/2014/main" val="3863503672"/>
                  </a:ext>
                </a:extLst>
              </a:tr>
              <a:tr h="404191">
                <a:tc>
                  <a:txBody>
                    <a:bodyPr/>
                    <a:lstStyle/>
                    <a:p>
                      <a:r>
                        <a:rPr lang="en-CA" sz="3600"/>
                        <a:t>Democracy versus actual Backsliding</a:t>
                      </a:r>
                      <a:endParaRPr lang="en-CA" sz="3600" dirty="0"/>
                    </a:p>
                  </a:txBody>
                  <a:tcPr/>
                </a:tc>
                <a:tc>
                  <a:txBody>
                    <a:bodyPr/>
                    <a:lstStyle/>
                    <a:p>
                      <a:endParaRPr lang="en-CA" dirty="0"/>
                    </a:p>
                  </a:txBody>
                  <a:tcPr/>
                </a:tc>
                <a:extLst>
                  <a:ext uri="{0D108BD9-81ED-4DB2-BD59-A6C34878D82A}">
                    <a16:rowId xmlns:a16="http://schemas.microsoft.com/office/drawing/2014/main" val="737604808"/>
                  </a:ext>
                </a:extLst>
              </a:tr>
              <a:tr h="404191">
                <a:tc>
                  <a:txBody>
                    <a:bodyPr/>
                    <a:lstStyle/>
                    <a:p>
                      <a:r>
                        <a:rPr lang="en-CA" sz="3600" dirty="0"/>
                        <a:t>Democratic Knowledge</a:t>
                      </a:r>
                    </a:p>
                  </a:txBody>
                  <a:tcPr/>
                </a:tc>
                <a:tc>
                  <a:txBody>
                    <a:bodyPr/>
                    <a:lstStyle/>
                    <a:p>
                      <a:endParaRPr lang="en-CA" dirty="0"/>
                    </a:p>
                  </a:txBody>
                  <a:tcPr/>
                </a:tc>
                <a:extLst>
                  <a:ext uri="{0D108BD9-81ED-4DB2-BD59-A6C34878D82A}">
                    <a16:rowId xmlns:a16="http://schemas.microsoft.com/office/drawing/2014/main" val="3187629359"/>
                  </a:ext>
                </a:extLst>
              </a:tr>
            </a:tbl>
          </a:graphicData>
        </a:graphic>
      </p:graphicFrame>
      <p:pic>
        <p:nvPicPr>
          <p:cNvPr id="6" name="Graphic 5" descr="Checkmark">
            <a:extLst>
              <a:ext uri="{FF2B5EF4-FFF2-40B4-BE49-F238E27FC236}">
                <a16:creationId xmlns:a16="http://schemas.microsoft.com/office/drawing/2014/main" id="{E6C0DE94-841D-43B3-BCCD-7811DBA0F08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98835" y="3687417"/>
            <a:ext cx="914400" cy="914400"/>
          </a:xfrm>
          <a:prstGeom prst="rect">
            <a:avLst/>
          </a:prstGeom>
        </p:spPr>
      </p:pic>
      <p:pic>
        <p:nvPicPr>
          <p:cNvPr id="8" name="Graphic 7" descr="Close">
            <a:extLst>
              <a:ext uri="{FF2B5EF4-FFF2-40B4-BE49-F238E27FC236}">
                <a16:creationId xmlns:a16="http://schemas.microsoft.com/office/drawing/2014/main" id="{A8435EC5-6223-4DCD-9433-3EC0409E661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98835" y="3038061"/>
            <a:ext cx="914400" cy="914400"/>
          </a:xfrm>
          <a:prstGeom prst="rect">
            <a:avLst/>
          </a:prstGeom>
        </p:spPr>
      </p:pic>
      <p:pic>
        <p:nvPicPr>
          <p:cNvPr id="9" name="Graphic 8" descr="Checkmark">
            <a:extLst>
              <a:ext uri="{FF2B5EF4-FFF2-40B4-BE49-F238E27FC236}">
                <a16:creationId xmlns:a16="http://schemas.microsoft.com/office/drawing/2014/main" id="{EB361ED2-B476-49A4-AF09-3391ED52A7B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39200" y="4356651"/>
            <a:ext cx="914400" cy="914400"/>
          </a:xfrm>
          <a:prstGeom prst="rect">
            <a:avLst/>
          </a:prstGeom>
        </p:spPr>
      </p:pic>
      <p:pic>
        <p:nvPicPr>
          <p:cNvPr id="11" name="Graphic 10" descr="Zoom in">
            <a:extLst>
              <a:ext uri="{FF2B5EF4-FFF2-40B4-BE49-F238E27FC236}">
                <a16:creationId xmlns:a16="http://schemas.microsoft.com/office/drawing/2014/main" id="{ED77F03A-7191-4268-80B0-A01259B98C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978348" y="5039139"/>
            <a:ext cx="854765" cy="914400"/>
          </a:xfrm>
          <a:prstGeom prst="rect">
            <a:avLst/>
          </a:prstGeom>
        </p:spPr>
      </p:pic>
    </p:spTree>
    <p:extLst>
      <p:ext uri="{BB962C8B-B14F-4D97-AF65-F5344CB8AC3E}">
        <p14:creationId xmlns:p14="http://schemas.microsoft.com/office/powerpoint/2010/main" val="592453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17">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44EAB5-1D78-4B42-A5F0-08BA874EA9C2}"/>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spcBef>
                <a:spcPct val="0"/>
              </a:spcBef>
            </a:pPr>
            <a:r>
              <a:rPr lang="en-US" sz="2600" kern="1200">
                <a:solidFill>
                  <a:srgbClr val="FFFFFF"/>
                </a:solidFill>
                <a:latin typeface="+mj-lt"/>
                <a:ea typeface="+mj-ea"/>
                <a:cs typeface="+mj-cs"/>
              </a:rPr>
              <a:t>Democratic Knowledge</a:t>
            </a:r>
          </a:p>
        </p:txBody>
      </p:sp>
      <p:pic>
        <p:nvPicPr>
          <p:cNvPr id="8" name="Picture 7">
            <a:extLst>
              <a:ext uri="{FF2B5EF4-FFF2-40B4-BE49-F238E27FC236}">
                <a16:creationId xmlns:a16="http://schemas.microsoft.com/office/drawing/2014/main" id="{B7C525BF-9893-4D4B-A333-A9F85D2405EE}"/>
              </a:ext>
            </a:extLst>
          </p:cNvPr>
          <p:cNvPicPr/>
          <p:nvPr/>
        </p:nvPicPr>
        <p:blipFill>
          <a:blip r:embed="rId3">
            <a:extLst>
              <a:ext uri="{28A0092B-C50C-407E-A947-70E740481C1C}">
                <a14:useLocalDpi xmlns:a14="http://schemas.microsoft.com/office/drawing/2010/main" val="0"/>
              </a:ext>
            </a:extLst>
          </a:blip>
          <a:srcRect/>
          <a:stretch/>
        </p:blipFill>
        <p:spPr>
          <a:xfrm>
            <a:off x="3685478" y="189571"/>
            <a:ext cx="8430322" cy="6556917"/>
          </a:xfrm>
          <a:prstGeom prst="rect">
            <a:avLst/>
          </a:prstGeom>
        </p:spPr>
      </p:pic>
      <p:sp>
        <p:nvSpPr>
          <p:cNvPr id="3" name="TextBox 2">
            <a:extLst>
              <a:ext uri="{FF2B5EF4-FFF2-40B4-BE49-F238E27FC236}">
                <a16:creationId xmlns:a16="http://schemas.microsoft.com/office/drawing/2014/main" id="{F325A2AE-DC32-40E0-8996-A1B0366CB919}"/>
              </a:ext>
            </a:extLst>
          </p:cNvPr>
          <p:cNvSpPr txBox="1"/>
          <p:nvPr/>
        </p:nvSpPr>
        <p:spPr>
          <a:xfrm>
            <a:off x="286603" y="5895833"/>
            <a:ext cx="1647567" cy="369332"/>
          </a:xfrm>
          <a:prstGeom prst="rect">
            <a:avLst/>
          </a:prstGeom>
          <a:noFill/>
        </p:spPr>
        <p:txBody>
          <a:bodyPr wrap="none" rtlCol="0">
            <a:spAutoFit/>
          </a:bodyPr>
          <a:lstStyle/>
          <a:p>
            <a:r>
              <a:rPr lang="en-CA" dirty="0"/>
              <a:t>Data from 2019</a:t>
            </a:r>
          </a:p>
        </p:txBody>
      </p:sp>
    </p:spTree>
    <p:extLst>
      <p:ext uri="{BB962C8B-B14F-4D97-AF65-F5344CB8AC3E}">
        <p14:creationId xmlns:p14="http://schemas.microsoft.com/office/powerpoint/2010/main" val="3505484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01EAFC-AA6F-4D50-9FF2-EB34AFEB8E92}"/>
              </a:ext>
            </a:extLst>
          </p:cNvPr>
          <p:cNvSpPr>
            <a:spLocks noGrp="1"/>
          </p:cNvSpPr>
          <p:nvPr>
            <p:ph type="title"/>
          </p:nvPr>
        </p:nvSpPr>
        <p:spPr>
          <a:xfrm>
            <a:off x="742950" y="742951"/>
            <a:ext cx="3476625" cy="4962524"/>
          </a:xfrm>
        </p:spPr>
        <p:txBody>
          <a:bodyPr vert="horz" lIns="91440" tIns="45720" rIns="91440" bIns="45720" rtlCol="0" anchor="ctr">
            <a:normAutofit/>
          </a:bodyPr>
          <a:lstStyle/>
          <a:p>
            <a:pPr algn="ctr">
              <a:spcBef>
                <a:spcPct val="0"/>
              </a:spcBef>
            </a:pPr>
            <a:r>
              <a:rPr lang="en-US" sz="4800" kern="1200" dirty="0">
                <a:solidFill>
                  <a:srgbClr val="FFFFFF"/>
                </a:solidFill>
                <a:latin typeface="+mj-lt"/>
                <a:ea typeface="+mj-ea"/>
                <a:cs typeface="+mj-cs"/>
              </a:rPr>
              <a:t>Democratic Knowledge diminishes the cohort effect, but does not eradicate it</a:t>
            </a:r>
          </a:p>
        </p:txBody>
      </p:sp>
      <p:pic>
        <p:nvPicPr>
          <p:cNvPr id="5" name="Content Placeholder 4">
            <a:extLst>
              <a:ext uri="{FF2B5EF4-FFF2-40B4-BE49-F238E27FC236}">
                <a16:creationId xmlns:a16="http://schemas.microsoft.com/office/drawing/2014/main" id="{CEE41237-59B3-4277-87E0-619BC31A7652}"/>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4944445" y="1152839"/>
            <a:ext cx="6911798" cy="4838258"/>
          </a:xfrm>
          <a:prstGeom prst="rect">
            <a:avLst/>
          </a:prstGeom>
        </p:spPr>
      </p:pic>
      <p:sp>
        <p:nvSpPr>
          <p:cNvPr id="8" name="TextBox 7">
            <a:extLst>
              <a:ext uri="{FF2B5EF4-FFF2-40B4-BE49-F238E27FC236}">
                <a16:creationId xmlns:a16="http://schemas.microsoft.com/office/drawing/2014/main" id="{50ED8909-C6E4-422D-9C69-3F78016263F3}"/>
              </a:ext>
            </a:extLst>
          </p:cNvPr>
          <p:cNvSpPr txBox="1"/>
          <p:nvPr/>
        </p:nvSpPr>
        <p:spPr>
          <a:xfrm>
            <a:off x="5486400" y="6311590"/>
            <a:ext cx="1090298" cy="369332"/>
          </a:xfrm>
          <a:prstGeom prst="rect">
            <a:avLst/>
          </a:prstGeom>
          <a:noFill/>
        </p:spPr>
        <p:txBody>
          <a:bodyPr wrap="none" rtlCol="0">
            <a:spAutoFit/>
          </a:bodyPr>
          <a:lstStyle/>
          <a:p>
            <a:r>
              <a:rPr lang="en-CA" dirty="0"/>
              <a:t>USA 2020</a:t>
            </a:r>
          </a:p>
        </p:txBody>
      </p:sp>
      <p:sp>
        <p:nvSpPr>
          <p:cNvPr id="9" name="TextBox 8">
            <a:extLst>
              <a:ext uri="{FF2B5EF4-FFF2-40B4-BE49-F238E27FC236}">
                <a16:creationId xmlns:a16="http://schemas.microsoft.com/office/drawing/2014/main" id="{D30E0BBB-676F-4127-86FB-1FBCE261BBAC}"/>
              </a:ext>
            </a:extLst>
          </p:cNvPr>
          <p:cNvSpPr txBox="1"/>
          <p:nvPr/>
        </p:nvSpPr>
        <p:spPr>
          <a:xfrm>
            <a:off x="5090615" y="204716"/>
            <a:ext cx="6832640" cy="523220"/>
          </a:xfrm>
          <a:prstGeom prst="rect">
            <a:avLst/>
          </a:prstGeom>
          <a:noFill/>
        </p:spPr>
        <p:txBody>
          <a:bodyPr wrap="none" rtlCol="0">
            <a:spAutoFit/>
          </a:bodyPr>
          <a:lstStyle/>
          <a:p>
            <a:r>
              <a:rPr lang="en-CA" sz="2800" dirty="0"/>
              <a:t>Example: Executive Aggrandizement in the US</a:t>
            </a:r>
          </a:p>
        </p:txBody>
      </p:sp>
    </p:spTree>
    <p:extLst>
      <p:ext uri="{BB962C8B-B14F-4D97-AF65-F5344CB8AC3E}">
        <p14:creationId xmlns:p14="http://schemas.microsoft.com/office/powerpoint/2010/main" val="8589806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FEDCC6-E4DD-4917-8500-2386A7C3E920}"/>
              </a:ext>
            </a:extLst>
          </p:cNvPr>
          <p:cNvSpPr>
            <a:spLocks noGrp="1"/>
          </p:cNvSpPr>
          <p:nvPr>
            <p:ph type="title"/>
          </p:nvPr>
        </p:nvSpPr>
        <p:spPr>
          <a:xfrm>
            <a:off x="579882" y="1040077"/>
            <a:ext cx="3494362" cy="4930246"/>
          </a:xfrm>
        </p:spPr>
        <p:txBody>
          <a:bodyPr>
            <a:normAutofit/>
          </a:bodyPr>
          <a:lstStyle/>
          <a:p>
            <a:pPr algn="r"/>
            <a:r>
              <a:rPr lang="en-CA" dirty="0">
                <a:solidFill>
                  <a:schemeClr val="accent1"/>
                </a:solidFill>
              </a:rPr>
              <a:t>Overall</a:t>
            </a:r>
            <a:br>
              <a:rPr lang="en-CA" dirty="0">
                <a:solidFill>
                  <a:schemeClr val="accent1"/>
                </a:solidFill>
              </a:rPr>
            </a:br>
            <a:r>
              <a:rPr lang="en-CA" dirty="0">
                <a:solidFill>
                  <a:schemeClr val="accent1"/>
                </a:solidFill>
              </a:rPr>
              <a:t>Conclusion</a:t>
            </a: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4A9DB7D-A590-4DA0-B51C-37FA7E9A8DF0}"/>
              </a:ext>
            </a:extLst>
          </p:cNvPr>
          <p:cNvSpPr>
            <a:spLocks noGrp="1"/>
          </p:cNvSpPr>
          <p:nvPr>
            <p:ph idx="1"/>
          </p:nvPr>
        </p:nvSpPr>
        <p:spPr>
          <a:xfrm>
            <a:off x="4817659" y="468352"/>
            <a:ext cx="7281575" cy="5866188"/>
          </a:xfrm>
        </p:spPr>
        <p:txBody>
          <a:bodyPr anchor="ctr">
            <a:noAutofit/>
          </a:bodyPr>
          <a:lstStyle/>
          <a:p>
            <a:r>
              <a:rPr lang="en-CA" dirty="0"/>
              <a:t>Younger cohorts seem to be less inclined to believe in the importance of democracy. </a:t>
            </a:r>
          </a:p>
          <a:p>
            <a:r>
              <a:rPr lang="en-CA" dirty="0"/>
              <a:t>Even when they believe it’s important, they still support strong leaders who do not bother with parliaments and Congress to an astoundingly high degree</a:t>
            </a:r>
          </a:p>
          <a:p>
            <a:r>
              <a:rPr lang="en-CA" dirty="0"/>
              <a:t>Young cohorts do not appear to be critical citizens as some have argued</a:t>
            </a:r>
          </a:p>
          <a:p>
            <a:r>
              <a:rPr lang="en-CA" dirty="0"/>
              <a:t>Younger cohorts are more accepting of democratic backsliding scenarios</a:t>
            </a:r>
          </a:p>
          <a:p>
            <a:r>
              <a:rPr lang="en-CA" dirty="0"/>
              <a:t>Partly this is explained by a cohort-related lack of democratic knowledge and by dissatisfaction translating more into lack of support</a:t>
            </a:r>
          </a:p>
        </p:txBody>
      </p:sp>
    </p:spTree>
    <p:extLst>
      <p:ext uri="{BB962C8B-B14F-4D97-AF65-F5344CB8AC3E}">
        <p14:creationId xmlns:p14="http://schemas.microsoft.com/office/powerpoint/2010/main" val="21085781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17">
    <p:bg>
      <p:bgPr>
        <a:solidFill>
          <a:srgbClr val="7C7C7C"/>
        </a:solidFill>
        <a:effectLst/>
      </p:bgPr>
    </p:bg>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29DEB897-EEE2-4081-80AB-994B2A22000B}"/>
              </a:ext>
            </a:extLst>
          </p:cNvPr>
          <p:cNvSpPr>
            <a:spLocks noMove="1" noResize="1"/>
          </p:cNvSpPr>
          <p:nvPr/>
        </p:nvSpPr>
        <p:spPr>
          <a:xfrm>
            <a:off x="0" y="-3328"/>
            <a:ext cx="12191996" cy="6861328"/>
          </a:xfrm>
          <a:prstGeom prst="rect">
            <a:avLst/>
          </a:prstGeom>
          <a:solidFill>
            <a:srgbClr val="7C7C7C"/>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3" name="Freeform 3">
            <a:extLst>
              <a:ext uri="{FF2B5EF4-FFF2-40B4-BE49-F238E27FC236}">
                <a16:creationId xmlns:a16="http://schemas.microsoft.com/office/drawing/2014/main" id="{B9E8760A-9EE6-46FB-8839-02C29CE844D2}"/>
              </a:ext>
            </a:extLst>
          </p:cNvPr>
          <p:cNvSpPr>
            <a:spLocks noMove="1" noResize="1"/>
          </p:cNvSpPr>
          <p:nvPr/>
        </p:nvSpPr>
        <p:spPr>
          <a:xfrm>
            <a:off x="1246921" y="-475"/>
            <a:ext cx="9468703" cy="6858475"/>
          </a:xfrm>
          <a:custGeom>
            <a:avLst/>
            <a:gdLst>
              <a:gd name="f0" fmla="val 10800000"/>
              <a:gd name="f1" fmla="val 5400000"/>
              <a:gd name="f2" fmla="val 180"/>
              <a:gd name="f3" fmla="val w"/>
              <a:gd name="f4" fmla="val h"/>
              <a:gd name="f5" fmla="val 0"/>
              <a:gd name="f6" fmla="val 8078051"/>
              <a:gd name="f7" fmla="val 5829300"/>
              <a:gd name="f8" fmla="val 4453793"/>
              <a:gd name="f9" fmla="val 5363426"/>
              <a:gd name="f10" fmla="val 5368184"/>
              <a:gd name="f11" fmla="val 1743926"/>
              <a:gd name="f12" fmla="val 1744148"/>
              <a:gd name="f13" fmla="val 5828822"/>
              <a:gd name="f14" fmla="+- 0 0 -90"/>
              <a:gd name="f15" fmla="*/ f3 1 8078051"/>
              <a:gd name="f16" fmla="*/ f4 1 5829300"/>
              <a:gd name="f17" fmla="+- f7 0 f5"/>
              <a:gd name="f18" fmla="+- f6 0 f5"/>
              <a:gd name="f19" fmla="*/ f14 f0 1"/>
              <a:gd name="f20" fmla="*/ f18 1 8078051"/>
              <a:gd name="f21" fmla="*/ f17 1 5829300"/>
              <a:gd name="f22" fmla="*/ 0 f18 1"/>
              <a:gd name="f23" fmla="*/ 0 f17 1"/>
              <a:gd name="f24" fmla="*/ 4453793 f18 1"/>
              <a:gd name="f25" fmla="*/ 5363426 f18 1"/>
              <a:gd name="f26" fmla="*/ 5368184 f18 1"/>
              <a:gd name="f27" fmla="*/ 8078051 f18 1"/>
              <a:gd name="f28" fmla="*/ 5829300 f17 1"/>
              <a:gd name="f29" fmla="*/ 1743926 f18 1"/>
              <a:gd name="f30" fmla="*/ 1744148 f18 1"/>
              <a:gd name="f31" fmla="*/ 5828822 f17 1"/>
              <a:gd name="f32" fmla="*/ f19 1 f2"/>
              <a:gd name="f33" fmla="*/ f22 1 8078051"/>
              <a:gd name="f34" fmla="*/ f23 1 5829300"/>
              <a:gd name="f35" fmla="*/ f24 1 8078051"/>
              <a:gd name="f36" fmla="*/ f25 1 8078051"/>
              <a:gd name="f37" fmla="*/ f26 1 8078051"/>
              <a:gd name="f38" fmla="*/ f27 1 8078051"/>
              <a:gd name="f39" fmla="*/ f28 1 5829300"/>
              <a:gd name="f40" fmla="*/ f29 1 8078051"/>
              <a:gd name="f41" fmla="*/ f30 1 8078051"/>
              <a:gd name="f42" fmla="*/ f31 1 5829300"/>
              <a:gd name="f43" fmla="*/ f5 1 f20"/>
              <a:gd name="f44" fmla="*/ f6 1 f20"/>
              <a:gd name="f45" fmla="*/ f5 1 f21"/>
              <a:gd name="f46" fmla="*/ f7 1 f21"/>
              <a:gd name="f47" fmla="+- f32 0 f1"/>
              <a:gd name="f48" fmla="*/ f33 1 f20"/>
              <a:gd name="f49" fmla="*/ f34 1 f21"/>
              <a:gd name="f50" fmla="*/ f35 1 f20"/>
              <a:gd name="f51" fmla="*/ f36 1 f20"/>
              <a:gd name="f52" fmla="*/ f37 1 f20"/>
              <a:gd name="f53" fmla="*/ f38 1 f20"/>
              <a:gd name="f54" fmla="*/ f39 1 f21"/>
              <a:gd name="f55" fmla="*/ f40 1 f20"/>
              <a:gd name="f56" fmla="*/ f41 1 f20"/>
              <a:gd name="f57" fmla="*/ f42 1 f21"/>
              <a:gd name="f58" fmla="*/ f43 f15 1"/>
              <a:gd name="f59" fmla="*/ f44 f15 1"/>
              <a:gd name="f60" fmla="*/ f46 f16 1"/>
              <a:gd name="f61" fmla="*/ f45 f16 1"/>
              <a:gd name="f62" fmla="*/ f48 f15 1"/>
              <a:gd name="f63" fmla="*/ f49 f16 1"/>
              <a:gd name="f64" fmla="*/ f50 f15 1"/>
              <a:gd name="f65" fmla="*/ f51 f15 1"/>
              <a:gd name="f66" fmla="*/ f52 f15 1"/>
              <a:gd name="f67" fmla="*/ f53 f15 1"/>
              <a:gd name="f68" fmla="*/ f54 f16 1"/>
              <a:gd name="f69" fmla="*/ f55 f15 1"/>
              <a:gd name="f70" fmla="*/ f56 f15 1"/>
              <a:gd name="f71" fmla="*/ f57 f16 1"/>
            </a:gdLst>
            <a:ahLst/>
            <a:cxnLst>
              <a:cxn ang="3cd4">
                <a:pos x="hc" y="t"/>
              </a:cxn>
              <a:cxn ang="0">
                <a:pos x="r" y="vc"/>
              </a:cxn>
              <a:cxn ang="cd4">
                <a:pos x="hc" y="b"/>
              </a:cxn>
              <a:cxn ang="cd2">
                <a:pos x="l" y="vc"/>
              </a:cxn>
              <a:cxn ang="f47">
                <a:pos x="f62" y="f63"/>
              </a:cxn>
              <a:cxn ang="f47">
                <a:pos x="f64" y="f63"/>
              </a:cxn>
              <a:cxn ang="f47">
                <a:pos x="f65" y="f63"/>
              </a:cxn>
              <a:cxn ang="f47">
                <a:pos x="f66" y="f63"/>
              </a:cxn>
              <a:cxn ang="f47">
                <a:pos x="f67" y="f68"/>
              </a:cxn>
              <a:cxn ang="f47">
                <a:pos x="f69" y="f68"/>
              </a:cxn>
              <a:cxn ang="f47">
                <a:pos x="f70" y="f71"/>
              </a:cxn>
              <a:cxn ang="f47">
                <a:pos x="f62" y="f71"/>
              </a:cxn>
            </a:cxnLst>
            <a:rect l="f58" t="f61" r="f59" b="f60"/>
            <a:pathLst>
              <a:path w="8078051" h="5829300">
                <a:moveTo>
                  <a:pt x="f5" y="f5"/>
                </a:moveTo>
                <a:lnTo>
                  <a:pt x="f8" y="f5"/>
                </a:lnTo>
                <a:lnTo>
                  <a:pt x="f9" y="f5"/>
                </a:lnTo>
                <a:lnTo>
                  <a:pt x="f10" y="f5"/>
                </a:lnTo>
                <a:lnTo>
                  <a:pt x="f6" y="f7"/>
                </a:lnTo>
                <a:lnTo>
                  <a:pt x="f11" y="f7"/>
                </a:lnTo>
                <a:lnTo>
                  <a:pt x="f12" y="f13"/>
                </a:lnTo>
                <a:lnTo>
                  <a:pt x="f5" y="f13"/>
                </a:lnTo>
                <a:close/>
              </a:path>
            </a:pathLst>
          </a:custGeom>
          <a:solidFill>
            <a:srgbClr val="262626">
              <a:alpha val="70000"/>
            </a:srgbClr>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4" name="Freeform 16">
            <a:extLst>
              <a:ext uri="{FF2B5EF4-FFF2-40B4-BE49-F238E27FC236}">
                <a16:creationId xmlns:a16="http://schemas.microsoft.com/office/drawing/2014/main" id="{3044C5DB-A4E8-45BF-9FB8-7DD4F0A045E7}"/>
              </a:ext>
            </a:extLst>
          </p:cNvPr>
          <p:cNvSpPr>
            <a:spLocks noMove="1" noResize="1"/>
          </p:cNvSpPr>
          <p:nvPr/>
        </p:nvSpPr>
        <p:spPr>
          <a:xfrm>
            <a:off x="0" y="-475"/>
            <a:ext cx="9324978" cy="6858475"/>
          </a:xfrm>
          <a:custGeom>
            <a:avLst/>
            <a:gdLst>
              <a:gd name="f0" fmla="val 10800000"/>
              <a:gd name="f1" fmla="val 5400000"/>
              <a:gd name="f2" fmla="val 180"/>
              <a:gd name="f3" fmla="val w"/>
              <a:gd name="f4" fmla="val h"/>
              <a:gd name="f5" fmla="val 0"/>
              <a:gd name="f6" fmla="val 9324977"/>
              <a:gd name="f7" fmla="val 6858479"/>
              <a:gd name="f8" fmla="val 1246925"/>
              <a:gd name="f9" fmla="val 5076797"/>
              <a:gd name="f10" fmla="val 6143025"/>
              <a:gd name="f11" fmla="val 6148602"/>
              <a:gd name="f12" fmla="val 6858478"/>
              <a:gd name="f13" fmla="val 3359025"/>
              <a:gd name="f14" fmla="val 479"/>
              <a:gd name="f15" fmla="+- 0 0 -90"/>
              <a:gd name="f16" fmla="*/ f3 1 9324977"/>
              <a:gd name="f17" fmla="*/ f4 1 6858479"/>
              <a:gd name="f18" fmla="+- f7 0 f5"/>
              <a:gd name="f19" fmla="+- f6 0 f5"/>
              <a:gd name="f20" fmla="*/ f15 f0 1"/>
              <a:gd name="f21" fmla="*/ f19 1 9324977"/>
              <a:gd name="f22" fmla="*/ f18 1 6858479"/>
              <a:gd name="f23" fmla="*/ 1246925 f19 1"/>
              <a:gd name="f24" fmla="*/ 0 f18 1"/>
              <a:gd name="f25" fmla="*/ 5076797 f19 1"/>
              <a:gd name="f26" fmla="*/ 6143025 f19 1"/>
              <a:gd name="f27" fmla="*/ 6148602 f19 1"/>
              <a:gd name="f28" fmla="*/ 9324977 f19 1"/>
              <a:gd name="f29" fmla="*/ 6858478 f18 1"/>
              <a:gd name="f30" fmla="*/ 3359025 f19 1"/>
              <a:gd name="f31" fmla="*/ 6858479 f18 1"/>
              <a:gd name="f32" fmla="*/ 0 f19 1"/>
              <a:gd name="f33" fmla="*/ 479 f18 1"/>
              <a:gd name="f34" fmla="*/ f20 1 f2"/>
              <a:gd name="f35" fmla="*/ f23 1 9324977"/>
              <a:gd name="f36" fmla="*/ f24 1 6858479"/>
              <a:gd name="f37" fmla="*/ f25 1 9324977"/>
              <a:gd name="f38" fmla="*/ f26 1 9324977"/>
              <a:gd name="f39" fmla="*/ f27 1 9324977"/>
              <a:gd name="f40" fmla="*/ f28 1 9324977"/>
              <a:gd name="f41" fmla="*/ f29 1 6858479"/>
              <a:gd name="f42" fmla="*/ f30 1 9324977"/>
              <a:gd name="f43" fmla="*/ f31 1 6858479"/>
              <a:gd name="f44" fmla="*/ f32 1 9324977"/>
              <a:gd name="f45" fmla="*/ f33 1 6858479"/>
              <a:gd name="f46" fmla="*/ f5 1 f21"/>
              <a:gd name="f47" fmla="*/ f6 1 f21"/>
              <a:gd name="f48" fmla="*/ f5 1 f22"/>
              <a:gd name="f49" fmla="*/ f7 1 f22"/>
              <a:gd name="f50" fmla="+- f34 0 f1"/>
              <a:gd name="f51" fmla="*/ f35 1 f21"/>
              <a:gd name="f52" fmla="*/ f36 1 f22"/>
              <a:gd name="f53" fmla="*/ f37 1 f21"/>
              <a:gd name="f54" fmla="*/ f38 1 f21"/>
              <a:gd name="f55" fmla="*/ f39 1 f21"/>
              <a:gd name="f56" fmla="*/ f40 1 f21"/>
              <a:gd name="f57" fmla="*/ f41 1 f22"/>
              <a:gd name="f58" fmla="*/ f42 1 f21"/>
              <a:gd name="f59" fmla="*/ f43 1 f22"/>
              <a:gd name="f60" fmla="*/ f44 1 f21"/>
              <a:gd name="f61" fmla="*/ f45 1 f22"/>
              <a:gd name="f62" fmla="*/ f46 f16 1"/>
              <a:gd name="f63" fmla="*/ f47 f16 1"/>
              <a:gd name="f64" fmla="*/ f49 f17 1"/>
              <a:gd name="f65" fmla="*/ f48 f17 1"/>
              <a:gd name="f66" fmla="*/ f51 f16 1"/>
              <a:gd name="f67" fmla="*/ f52 f17 1"/>
              <a:gd name="f68" fmla="*/ f53 f16 1"/>
              <a:gd name="f69" fmla="*/ f54 f16 1"/>
              <a:gd name="f70" fmla="*/ f55 f16 1"/>
              <a:gd name="f71" fmla="*/ f56 f16 1"/>
              <a:gd name="f72" fmla="*/ f57 f17 1"/>
              <a:gd name="f73" fmla="*/ f58 f16 1"/>
              <a:gd name="f74" fmla="*/ f59 f17 1"/>
              <a:gd name="f75" fmla="*/ f60 f16 1"/>
              <a:gd name="f76" fmla="*/ f61 f17 1"/>
            </a:gdLst>
            <a:ahLst/>
            <a:cxnLst>
              <a:cxn ang="3cd4">
                <a:pos x="hc" y="t"/>
              </a:cxn>
              <a:cxn ang="0">
                <a:pos x="r" y="vc"/>
              </a:cxn>
              <a:cxn ang="cd4">
                <a:pos x="hc" y="b"/>
              </a:cxn>
              <a:cxn ang="cd2">
                <a:pos x="l" y="vc"/>
              </a:cxn>
              <a:cxn ang="f50">
                <a:pos x="f66" y="f67"/>
              </a:cxn>
              <a:cxn ang="f50">
                <a:pos x="f68" y="f67"/>
              </a:cxn>
              <a:cxn ang="f50">
                <a:pos x="f69" y="f67"/>
              </a:cxn>
              <a:cxn ang="f50">
                <a:pos x="f70" y="f67"/>
              </a:cxn>
              <a:cxn ang="f50">
                <a:pos x="f71" y="f72"/>
              </a:cxn>
              <a:cxn ang="f50">
                <a:pos x="f73" y="f72"/>
              </a:cxn>
              <a:cxn ang="f50">
                <a:pos x="f73" y="f74"/>
              </a:cxn>
              <a:cxn ang="f50">
                <a:pos x="f75" y="f74"/>
              </a:cxn>
              <a:cxn ang="f50">
                <a:pos x="f75" y="f76"/>
              </a:cxn>
              <a:cxn ang="f50">
                <a:pos x="f66" y="f76"/>
              </a:cxn>
            </a:cxnLst>
            <a:rect l="f62" t="f65" r="f63" b="f64"/>
            <a:pathLst>
              <a:path w="9324977" h="6858479">
                <a:moveTo>
                  <a:pt x="f8" y="f5"/>
                </a:moveTo>
                <a:lnTo>
                  <a:pt x="f9" y="f5"/>
                </a:lnTo>
                <a:lnTo>
                  <a:pt x="f10" y="f5"/>
                </a:lnTo>
                <a:lnTo>
                  <a:pt x="f11" y="f5"/>
                </a:lnTo>
                <a:lnTo>
                  <a:pt x="f6" y="f12"/>
                </a:lnTo>
                <a:lnTo>
                  <a:pt x="f13" y="f12"/>
                </a:lnTo>
                <a:lnTo>
                  <a:pt x="f13" y="f7"/>
                </a:lnTo>
                <a:lnTo>
                  <a:pt x="f5" y="f7"/>
                </a:lnTo>
                <a:lnTo>
                  <a:pt x="f5" y="f14"/>
                </a:lnTo>
                <a:lnTo>
                  <a:pt x="f8" y="f14"/>
                </a:lnTo>
                <a:close/>
              </a:path>
            </a:pathLst>
          </a:custGeom>
          <a:solidFill>
            <a:srgbClr val="262626"/>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5" name="Title 1">
            <a:extLst>
              <a:ext uri="{FF2B5EF4-FFF2-40B4-BE49-F238E27FC236}">
                <a16:creationId xmlns:a16="http://schemas.microsoft.com/office/drawing/2014/main" id="{9CA1BAA4-707F-418D-AEC1-196A3AFF838A}"/>
              </a:ext>
            </a:extLst>
          </p:cNvPr>
          <p:cNvSpPr txBox="1">
            <a:spLocks noGrp="1"/>
          </p:cNvSpPr>
          <p:nvPr>
            <p:ph type="title"/>
          </p:nvPr>
        </p:nvSpPr>
        <p:spPr>
          <a:xfrm>
            <a:off x="804672" y="2600325"/>
            <a:ext cx="6405756" cy="3277959"/>
          </a:xfrm>
        </p:spPr>
        <p:txBody>
          <a:bodyPr anchor="t"/>
          <a:lstStyle/>
          <a:p>
            <a:pPr lvl="0"/>
            <a:r>
              <a:rPr lang="en-US" sz="5400">
                <a:solidFill>
                  <a:srgbClr val="FFFFFF"/>
                </a:solidFill>
              </a:rPr>
              <a:t>Additional Slides</a:t>
            </a:r>
          </a:p>
        </p:txBody>
      </p:sp>
      <p:pic>
        <p:nvPicPr>
          <p:cNvPr id="6" name="Picture 47" descr="A close up of a logo&#10;&#10;Description generated with very high confidence">
            <a:extLst>
              <a:ext uri="{FF2B5EF4-FFF2-40B4-BE49-F238E27FC236}">
                <a16:creationId xmlns:a16="http://schemas.microsoft.com/office/drawing/2014/main" id="{4AC62660-7876-4728-99C6-52AD0133D28D}"/>
              </a:ext>
            </a:extLst>
          </p:cNvPr>
          <p:cNvPicPr>
            <a:picLocks noChangeAspect="1"/>
          </p:cNvPicPr>
          <p:nvPr/>
        </p:nvPicPr>
        <p:blipFill>
          <a:blip r:embed="rId2"/>
          <a:srcRect/>
          <a:stretch>
            <a:fillRect/>
          </a:stretch>
        </p:blipFill>
        <p:spPr>
          <a:xfrm>
            <a:off x="269738" y="5992108"/>
            <a:ext cx="1627696" cy="752057"/>
          </a:xfrm>
          <a:prstGeom prst="rect">
            <a:avLst/>
          </a:prstGeom>
          <a:noFill/>
          <a:ln cap="flat">
            <a:noFill/>
          </a:ln>
        </p:spPr>
      </p:pic>
      <p:pic>
        <p:nvPicPr>
          <p:cNvPr id="7" name="Picture 8" descr="Fodem">
            <a:extLst>
              <a:ext uri="{FF2B5EF4-FFF2-40B4-BE49-F238E27FC236}">
                <a16:creationId xmlns:a16="http://schemas.microsoft.com/office/drawing/2014/main" id="{58D24EE5-3364-41B1-ACA7-47A538521352}"/>
              </a:ext>
            </a:extLst>
          </p:cNvPr>
          <p:cNvPicPr>
            <a:picLocks noChangeAspect="1"/>
          </p:cNvPicPr>
          <p:nvPr/>
        </p:nvPicPr>
        <p:blipFill>
          <a:blip r:embed="rId3"/>
          <a:srcRect/>
          <a:stretch>
            <a:fillRect/>
          </a:stretch>
        </p:blipFill>
        <p:spPr>
          <a:xfrm>
            <a:off x="2166204" y="6144950"/>
            <a:ext cx="700823" cy="599224"/>
          </a:xfrm>
          <a:prstGeom prst="rect">
            <a:avLst/>
          </a:prstGeom>
          <a:noFill/>
          <a:ln cap="flat">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ADFC76B-5B92-48FE-9A42-26CFF6E8DB9E}"/>
              </a:ext>
            </a:extLst>
          </p:cNvPr>
          <p:cNvSpPr/>
          <p:nvPr/>
        </p:nvSpPr>
        <p:spPr>
          <a:xfrm>
            <a:off x="2829339" y="1327895"/>
            <a:ext cx="6096000" cy="5078313"/>
          </a:xfrm>
          <a:prstGeom prst="rect">
            <a:avLst/>
          </a:prstGeom>
        </p:spPr>
        <p:txBody>
          <a:bodyPr>
            <a:spAutoFit/>
          </a:bodyPr>
          <a:lstStyle/>
          <a:p>
            <a:pPr>
              <a:spcAft>
                <a:spcPts val="0"/>
              </a:spcAft>
            </a:pPr>
            <a:r>
              <a:rPr lang="en-CA" b="1">
                <a:latin typeface="Calibri" panose="020F0502020204030204" pitchFamily="34" charset="0"/>
                <a:ea typeface="Calibri" panose="020F0502020204030204" pitchFamily="34" charset="0"/>
                <a:cs typeface="Times New Roman" panose="02020603050405020304" pitchFamily="18" charset="0"/>
              </a:rPr>
              <a:t>Democratic Attribute 1</a:t>
            </a:r>
            <a:endParaRPr lang="en-CA">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CA">
                <a:latin typeface="Calibri" panose="020F0502020204030204" pitchFamily="34" charset="0"/>
                <a:ea typeface="Calibri" panose="020F0502020204030204" pitchFamily="34" charset="0"/>
                <a:cs typeface="Times New Roman" panose="02020603050405020304" pitchFamily="18" charset="0"/>
              </a:rPr>
              <a:t>Says…</a:t>
            </a:r>
          </a:p>
          <a:p>
            <a:pPr>
              <a:spcAft>
                <a:spcPts val="0"/>
              </a:spcAft>
            </a:pPr>
            <a:r>
              <a:rPr lang="en-CA">
                <a:latin typeface="Calibri" panose="020F0502020204030204" pitchFamily="34" charset="0"/>
                <a:ea typeface="Calibri" panose="020F0502020204030204" pitchFamily="34" charset="0"/>
                <a:cs typeface="Times New Roman" panose="02020603050405020304" pitchFamily="18" charset="0"/>
              </a:rPr>
              <a:t>A [prime minister][president] should work with [Parliament][Congress] even if it is obstructing his/her proposals to combat terrorism. [baseline]</a:t>
            </a:r>
          </a:p>
          <a:p>
            <a:pPr>
              <a:spcAft>
                <a:spcPts val="0"/>
              </a:spcAft>
            </a:pPr>
            <a:endParaRPr lang="en-CA">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CA" b="1">
                <a:latin typeface="Calibri" panose="020F0502020204030204" pitchFamily="34" charset="0"/>
                <a:ea typeface="Calibri" panose="020F0502020204030204" pitchFamily="34" charset="0"/>
                <a:cs typeface="Times New Roman" panose="02020603050405020304" pitchFamily="18" charset="0"/>
              </a:rPr>
              <a:t>A [prime minister][president] should shut down [Parliament][Congress] if it is obstructing his/her proposals to combat terrorist threats. </a:t>
            </a:r>
          </a:p>
          <a:p>
            <a:pPr>
              <a:spcAft>
                <a:spcPts val="0"/>
              </a:spcAft>
            </a:pPr>
            <a:r>
              <a:rPr lang="en-CA">
                <a:latin typeface="Calibri" panose="020F0502020204030204" pitchFamily="34" charset="0"/>
                <a:ea typeface="Calibri" panose="020F0502020204030204" pitchFamily="34" charset="0"/>
                <a:cs typeface="Times New Roman" panose="02020603050405020304" pitchFamily="18" charset="0"/>
              </a:rPr>
              <a:t> </a:t>
            </a:r>
          </a:p>
          <a:p>
            <a:pPr>
              <a:spcAft>
                <a:spcPts val="0"/>
              </a:spcAft>
            </a:pPr>
            <a:r>
              <a:rPr lang="en-CA" b="1">
                <a:latin typeface="Calibri" panose="020F0502020204030204" pitchFamily="34" charset="0"/>
                <a:ea typeface="Calibri" panose="020F0502020204030204" pitchFamily="34" charset="0"/>
                <a:cs typeface="Times New Roman" panose="02020603050405020304" pitchFamily="18" charset="0"/>
              </a:rPr>
              <a:t>Democratic Attribute 2</a:t>
            </a:r>
            <a:r>
              <a:rPr lang="en-CA">
                <a:latin typeface="Calibri" panose="020F0502020204030204" pitchFamily="34" charset="0"/>
                <a:ea typeface="Calibri" panose="020F0502020204030204" pitchFamily="34" charset="0"/>
                <a:cs typeface="Times New Roman" panose="02020603050405020304" pitchFamily="18" charset="0"/>
              </a:rPr>
              <a:t> </a:t>
            </a:r>
          </a:p>
          <a:p>
            <a:pPr>
              <a:spcAft>
                <a:spcPts val="0"/>
              </a:spcAft>
            </a:pPr>
            <a:r>
              <a:rPr lang="en-CA">
                <a:latin typeface="Calibri" panose="020F0502020204030204" pitchFamily="34" charset="0"/>
                <a:ea typeface="Calibri" panose="020F0502020204030204" pitchFamily="34" charset="0"/>
                <a:cs typeface="Times New Roman" panose="02020603050405020304" pitchFamily="18" charset="0"/>
              </a:rPr>
              <a:t>Says…</a:t>
            </a:r>
          </a:p>
          <a:p>
            <a:pPr>
              <a:spcAft>
                <a:spcPts val="0"/>
              </a:spcAft>
            </a:pPr>
            <a:r>
              <a:rPr lang="en-CA">
                <a:latin typeface="Calibri" panose="020F0502020204030204" pitchFamily="34" charset="0"/>
                <a:ea typeface="Calibri" panose="020F0502020204030204" pitchFamily="34" charset="0"/>
                <a:cs typeface="Times New Roman" panose="02020603050405020304" pitchFamily="18" charset="0"/>
              </a:rPr>
              <a:t>A [prime minister][president] should always adhere to court decisions even though they might seem politicized. [baseline]</a:t>
            </a:r>
          </a:p>
          <a:p>
            <a:pPr>
              <a:spcAft>
                <a:spcPts val="0"/>
              </a:spcAft>
            </a:pPr>
            <a:endParaRPr lang="en-CA">
              <a:latin typeface="Calibri" panose="020F0502020204030204" pitchFamily="34" charset="0"/>
              <a:ea typeface="Calibri" panose="020F0502020204030204" pitchFamily="34" charset="0"/>
              <a:cs typeface="Times New Roman" panose="02020603050405020304" pitchFamily="18" charset="0"/>
            </a:endParaRPr>
          </a:p>
          <a:p>
            <a:r>
              <a:rPr lang="en-CA" b="1"/>
              <a:t>A [prime minister][president] should not be bound by court decisions he or she regards as politicized.  </a:t>
            </a:r>
          </a:p>
          <a:p>
            <a:pPr>
              <a:spcAft>
                <a:spcPts val="0"/>
              </a:spcAft>
            </a:pPr>
            <a:endParaRPr lang="en-CA" dirty="0">
              <a:latin typeface="Calibri" panose="020F0502020204030204" pitchFamily="34" charset="0"/>
              <a:ea typeface="Calibri" panose="020F0502020204030204" pitchFamily="34" charset="0"/>
              <a:cs typeface="Times New Roman" panose="02020603050405020304" pitchFamily="18" charset="0"/>
            </a:endParaRPr>
          </a:p>
        </p:txBody>
      </p:sp>
      <p:sp>
        <p:nvSpPr>
          <p:cNvPr id="5" name="Title 4">
            <a:extLst>
              <a:ext uri="{FF2B5EF4-FFF2-40B4-BE49-F238E27FC236}">
                <a16:creationId xmlns:a16="http://schemas.microsoft.com/office/drawing/2014/main" id="{7FE2CB86-1470-4CC4-A058-5170121E8308}"/>
              </a:ext>
            </a:extLst>
          </p:cNvPr>
          <p:cNvSpPr>
            <a:spLocks noGrp="1"/>
          </p:cNvSpPr>
          <p:nvPr>
            <p:ph type="title"/>
          </p:nvPr>
        </p:nvSpPr>
        <p:spPr>
          <a:xfrm>
            <a:off x="838200" y="-211340"/>
            <a:ext cx="10515600" cy="1325559"/>
          </a:xfrm>
        </p:spPr>
        <p:txBody>
          <a:bodyPr/>
          <a:lstStyle/>
          <a:p>
            <a:r>
              <a:rPr lang="en-CA" dirty="0"/>
              <a:t>Democratic/</a:t>
            </a:r>
            <a:r>
              <a:rPr lang="en-CA" b="1" dirty="0"/>
              <a:t>Undemocratic</a:t>
            </a:r>
            <a:r>
              <a:rPr lang="en-CA" dirty="0"/>
              <a:t> Positions</a:t>
            </a:r>
          </a:p>
        </p:txBody>
      </p:sp>
    </p:spTree>
    <p:extLst>
      <p:ext uri="{BB962C8B-B14F-4D97-AF65-F5344CB8AC3E}">
        <p14:creationId xmlns:p14="http://schemas.microsoft.com/office/powerpoint/2010/main" val="945093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DB66F6E8-4D4A-4907-940A-774703A2D0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016005" y="5367908"/>
            <a:ext cx="3175996" cy="1490093"/>
          </a:xfrm>
          <a:custGeom>
            <a:avLst/>
            <a:gdLst>
              <a:gd name="connsiteX0" fmla="*/ 2485888 w 3175996"/>
              <a:gd name="connsiteY0" fmla="*/ 1490093 h 1490093"/>
              <a:gd name="connsiteX1" fmla="*/ 0 w 3175996"/>
              <a:gd name="connsiteY1" fmla="*/ 1490093 h 1490093"/>
              <a:gd name="connsiteX2" fmla="*/ 0 w 3175996"/>
              <a:gd name="connsiteY2" fmla="*/ 0 h 1490093"/>
              <a:gd name="connsiteX3" fmla="*/ 3175996 w 3175996"/>
              <a:gd name="connsiteY3" fmla="*/ 0 h 1490093"/>
            </a:gdLst>
            <a:ahLst/>
            <a:cxnLst>
              <a:cxn ang="0">
                <a:pos x="connsiteX0" y="connsiteY0"/>
              </a:cxn>
              <a:cxn ang="0">
                <a:pos x="connsiteX1" y="connsiteY1"/>
              </a:cxn>
              <a:cxn ang="0">
                <a:pos x="connsiteX2" y="connsiteY2"/>
              </a:cxn>
              <a:cxn ang="0">
                <a:pos x="connsiteX3" y="connsiteY3"/>
              </a:cxn>
            </a:cxnLst>
            <a:rect l="l" t="t" r="r" b="b"/>
            <a:pathLst>
              <a:path w="3175996" h="1490093">
                <a:moveTo>
                  <a:pt x="2485888" y="1490093"/>
                </a:moveTo>
                <a:lnTo>
                  <a:pt x="0" y="1490093"/>
                </a:lnTo>
                <a:lnTo>
                  <a:pt x="0" y="0"/>
                </a:lnTo>
                <a:lnTo>
                  <a:pt x="3175996"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4" name="Freeform: Shape 13">
            <a:extLst>
              <a:ext uri="{FF2B5EF4-FFF2-40B4-BE49-F238E27FC236}">
                <a16:creationId xmlns:a16="http://schemas.microsoft.com/office/drawing/2014/main" id="{8F1F5A56-E82B-4FD5-9025-B72896FFBB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908"/>
            <a:ext cx="9566296" cy="1490093"/>
          </a:xfrm>
          <a:custGeom>
            <a:avLst/>
            <a:gdLst>
              <a:gd name="connsiteX0" fmla="*/ 0 w 9566296"/>
              <a:gd name="connsiteY0" fmla="*/ 0 h 1490093"/>
              <a:gd name="connsiteX1" fmla="*/ 405267 w 9566296"/>
              <a:gd name="connsiteY1" fmla="*/ 0 h 1490093"/>
              <a:gd name="connsiteX2" fmla="*/ 631857 w 9566296"/>
              <a:gd name="connsiteY2" fmla="*/ 0 h 1490093"/>
              <a:gd name="connsiteX3" fmla="*/ 2451761 w 9566296"/>
              <a:gd name="connsiteY3" fmla="*/ 0 h 1490093"/>
              <a:gd name="connsiteX4" fmla="*/ 2901880 w 9566296"/>
              <a:gd name="connsiteY4" fmla="*/ 0 h 1490093"/>
              <a:gd name="connsiteX5" fmla="*/ 3641106 w 9566296"/>
              <a:gd name="connsiteY5" fmla="*/ 0 h 1490093"/>
              <a:gd name="connsiteX6" fmla="*/ 9566296 w 9566296"/>
              <a:gd name="connsiteY6" fmla="*/ 0 h 1490093"/>
              <a:gd name="connsiteX7" fmla="*/ 8876188 w 9566296"/>
              <a:gd name="connsiteY7" fmla="*/ 1490093 h 1490093"/>
              <a:gd name="connsiteX8" fmla="*/ 631857 w 9566296"/>
              <a:gd name="connsiteY8" fmla="*/ 1490093 h 1490093"/>
              <a:gd name="connsiteX9" fmla="*/ 405267 w 9566296"/>
              <a:gd name="connsiteY9" fmla="*/ 1490093 h 1490093"/>
              <a:gd name="connsiteX10" fmla="*/ 0 w 9566296"/>
              <a:gd name="connsiteY10" fmla="*/ 1490093 h 149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66296" h="1490093">
                <a:moveTo>
                  <a:pt x="0" y="0"/>
                </a:moveTo>
                <a:lnTo>
                  <a:pt x="405267" y="0"/>
                </a:lnTo>
                <a:lnTo>
                  <a:pt x="631857" y="0"/>
                </a:lnTo>
                <a:lnTo>
                  <a:pt x="2451761" y="0"/>
                </a:lnTo>
                <a:lnTo>
                  <a:pt x="2901880" y="0"/>
                </a:lnTo>
                <a:lnTo>
                  <a:pt x="3641106" y="0"/>
                </a:lnTo>
                <a:lnTo>
                  <a:pt x="9566296" y="0"/>
                </a:lnTo>
                <a:lnTo>
                  <a:pt x="8876188" y="1490093"/>
                </a:lnTo>
                <a:lnTo>
                  <a:pt x="631857" y="1490093"/>
                </a:lnTo>
                <a:lnTo>
                  <a:pt x="405267" y="1490093"/>
                </a:lnTo>
                <a:lnTo>
                  <a:pt x="0" y="1490093"/>
                </a:lnTo>
                <a:close/>
              </a:path>
            </a:pathLst>
          </a:custGeom>
          <a:solidFill>
            <a:schemeClr val="tx1">
              <a:lumMod val="65000"/>
              <a:lumOff val="3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 name="Title 1">
            <a:extLst>
              <a:ext uri="{FF2B5EF4-FFF2-40B4-BE49-F238E27FC236}">
                <a16:creationId xmlns:a16="http://schemas.microsoft.com/office/drawing/2014/main" id="{7E39C66A-2D2B-4CB7-A6DA-E7558B480625}"/>
              </a:ext>
            </a:extLst>
          </p:cNvPr>
          <p:cNvSpPr>
            <a:spLocks noGrp="1"/>
          </p:cNvSpPr>
          <p:nvPr>
            <p:ph type="title"/>
          </p:nvPr>
        </p:nvSpPr>
        <p:spPr>
          <a:xfrm>
            <a:off x="838200" y="5529884"/>
            <a:ext cx="8078342" cy="1096331"/>
          </a:xfrm>
        </p:spPr>
        <p:txBody>
          <a:bodyPr>
            <a:normAutofit/>
          </a:bodyPr>
          <a:lstStyle/>
          <a:p>
            <a:r>
              <a:rPr lang="en-CA" dirty="0"/>
              <a:t>Conjoint by cohort </a:t>
            </a:r>
          </a:p>
        </p:txBody>
      </p:sp>
      <p:pic>
        <p:nvPicPr>
          <p:cNvPr id="8" name="Content Placeholder 7" descr="Chart, box and whisker chart&#10;&#10;Description automatically generated">
            <a:extLst>
              <a:ext uri="{FF2B5EF4-FFF2-40B4-BE49-F238E27FC236}">
                <a16:creationId xmlns:a16="http://schemas.microsoft.com/office/drawing/2014/main" id="{A971C124-C124-4AA3-95D7-7AAB3851ACC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39018" y="545911"/>
            <a:ext cx="7965033" cy="4465982"/>
          </a:xfrm>
        </p:spPr>
      </p:pic>
    </p:spTree>
    <p:extLst>
      <p:ext uri="{BB962C8B-B14F-4D97-AF65-F5344CB8AC3E}">
        <p14:creationId xmlns:p14="http://schemas.microsoft.com/office/powerpoint/2010/main" val="38503720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10">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6B1CF8BA-6411-48E9-BA32-0EFD8C97AF43}"/>
              </a:ext>
            </a:extLst>
          </p:cNvPr>
          <p:cNvSpPr>
            <a:spLocks noMove="1" noResize="1"/>
          </p:cNvSpPr>
          <p:nvPr/>
        </p:nvSpPr>
        <p:spPr>
          <a:xfrm>
            <a:off x="378067" y="4633548"/>
            <a:ext cx="11438796" cy="1844253"/>
          </a:xfrm>
          <a:prstGeom prst="rect">
            <a:avLst/>
          </a:prstGeom>
          <a:solidFill>
            <a:srgbClr val="404040"/>
          </a:solidFill>
          <a:ln w="127001" cap="sq">
            <a:solidFill>
              <a:srgbClr val="40404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3" name="TextBox 4">
            <a:extLst>
              <a:ext uri="{FF2B5EF4-FFF2-40B4-BE49-F238E27FC236}">
                <a16:creationId xmlns:a16="http://schemas.microsoft.com/office/drawing/2014/main" id="{E5FE5707-B766-4A3A-8DB0-7955D0DD9C1A}"/>
              </a:ext>
            </a:extLst>
          </p:cNvPr>
          <p:cNvSpPr txBox="1"/>
          <p:nvPr/>
        </p:nvSpPr>
        <p:spPr>
          <a:xfrm>
            <a:off x="526074" y="4850377"/>
            <a:ext cx="11139851" cy="1016033"/>
          </a:xfrm>
          <a:prstGeom prst="rect">
            <a:avLst/>
          </a:prstGeom>
          <a:noFill/>
          <a:ln cap="flat">
            <a:noFill/>
          </a:ln>
        </p:spPr>
        <p:txBody>
          <a:bodyPr vert="horz" wrap="square" lIns="91440" tIns="45720" rIns="91440" bIns="45720" anchor="b" anchorCtr="1" compatLnSpc="1">
            <a:normAutofit/>
          </a:bodyPr>
          <a:lstStyle/>
          <a:p>
            <a:pPr marL="0" marR="0" lvl="0" indent="0" algn="ctr" defTabSz="914400" rtl="0" fontAlgn="auto" hangingPunct="1">
              <a:lnSpc>
                <a:spcPct val="90000"/>
              </a:lnSpc>
              <a:spcBef>
                <a:spcPts val="0"/>
              </a:spcBef>
              <a:spcAft>
                <a:spcPts val="600"/>
              </a:spcAft>
              <a:buNone/>
              <a:tabLst/>
              <a:defRPr sz="1800" b="0" i="0" u="none" strike="noStrike" kern="0" cap="none" spc="0" baseline="0">
                <a:solidFill>
                  <a:srgbClr val="000000"/>
                </a:solidFill>
                <a:uFillTx/>
              </a:defRPr>
            </a:pPr>
            <a:r>
              <a:rPr lang="en-US" sz="4400" b="0" i="0" u="none" strike="noStrike" kern="1200" cap="none" spc="0" baseline="0" dirty="0">
                <a:solidFill>
                  <a:srgbClr val="FFFFFF"/>
                </a:solidFill>
                <a:uFillTx/>
                <a:latin typeface="Calibri Light"/>
              </a:rPr>
              <a:t>Study 1: Results of LPM Analysis</a:t>
            </a:r>
          </a:p>
        </p:txBody>
      </p:sp>
      <p:graphicFrame>
        <p:nvGraphicFramePr>
          <p:cNvPr id="5" name="Content Placeholder 3">
            <a:extLst>
              <a:ext uri="{FF2B5EF4-FFF2-40B4-BE49-F238E27FC236}">
                <a16:creationId xmlns:a16="http://schemas.microsoft.com/office/drawing/2014/main" id="{C667F144-03F2-451C-80B0-CEF29D9C393C}"/>
              </a:ext>
            </a:extLst>
          </p:cNvPr>
          <p:cNvGraphicFramePr>
            <a:graphicFrameLocks noGrp="1"/>
          </p:cNvGraphicFramePr>
          <p:nvPr>
            <p:ph idx="1"/>
            <p:extLst>
              <p:ext uri="{D42A27DB-BD31-4B8C-83A1-F6EECF244321}">
                <p14:modId xmlns:p14="http://schemas.microsoft.com/office/powerpoint/2010/main" val="4020706109"/>
              </p:ext>
            </p:extLst>
          </p:nvPr>
        </p:nvGraphicFramePr>
        <p:xfrm>
          <a:off x="342900" y="2"/>
          <a:ext cx="11568051" cy="4362445"/>
        </p:xfrm>
        <a:graphic>
          <a:graphicData uri="http://schemas.openxmlformats.org/drawingml/2006/table">
            <a:tbl>
              <a:tblPr firstRow="1" firstCol="1" bandRow="1">
                <a:effectLst/>
                <a:tableStyleId>{3B4B98B0-60AC-42C2-AFA5-B58CD77FA1E5}</a:tableStyleId>
              </a:tblPr>
              <a:tblGrid>
                <a:gridCol w="3527820">
                  <a:extLst>
                    <a:ext uri="{9D8B030D-6E8A-4147-A177-3AD203B41FA5}">
                      <a16:colId xmlns:a16="http://schemas.microsoft.com/office/drawing/2014/main" val="1823660755"/>
                    </a:ext>
                  </a:extLst>
                </a:gridCol>
                <a:gridCol w="1127245">
                  <a:extLst>
                    <a:ext uri="{9D8B030D-6E8A-4147-A177-3AD203B41FA5}">
                      <a16:colId xmlns:a16="http://schemas.microsoft.com/office/drawing/2014/main" val="2703154393"/>
                    </a:ext>
                  </a:extLst>
                </a:gridCol>
                <a:gridCol w="1118398">
                  <a:extLst>
                    <a:ext uri="{9D8B030D-6E8A-4147-A177-3AD203B41FA5}">
                      <a16:colId xmlns:a16="http://schemas.microsoft.com/office/drawing/2014/main" val="1677674294"/>
                    </a:ext>
                  </a:extLst>
                </a:gridCol>
                <a:gridCol w="1375830">
                  <a:extLst>
                    <a:ext uri="{9D8B030D-6E8A-4147-A177-3AD203B41FA5}">
                      <a16:colId xmlns:a16="http://schemas.microsoft.com/office/drawing/2014/main" val="513356538"/>
                    </a:ext>
                  </a:extLst>
                </a:gridCol>
                <a:gridCol w="1583561">
                  <a:extLst>
                    <a:ext uri="{9D8B030D-6E8A-4147-A177-3AD203B41FA5}">
                      <a16:colId xmlns:a16="http://schemas.microsoft.com/office/drawing/2014/main" val="4177018280"/>
                    </a:ext>
                  </a:extLst>
                </a:gridCol>
                <a:gridCol w="1265938">
                  <a:extLst>
                    <a:ext uri="{9D8B030D-6E8A-4147-A177-3AD203B41FA5}">
                      <a16:colId xmlns:a16="http://schemas.microsoft.com/office/drawing/2014/main" val="2079221722"/>
                    </a:ext>
                  </a:extLst>
                </a:gridCol>
                <a:gridCol w="1569259">
                  <a:extLst>
                    <a:ext uri="{9D8B030D-6E8A-4147-A177-3AD203B41FA5}">
                      <a16:colId xmlns:a16="http://schemas.microsoft.com/office/drawing/2014/main" val="1667722542"/>
                    </a:ext>
                  </a:extLst>
                </a:gridCol>
              </a:tblGrid>
              <a:tr h="1072460">
                <a:tc>
                  <a:txBody>
                    <a:bodyPr/>
                    <a:lstStyle/>
                    <a:p>
                      <a:pPr>
                        <a:lnSpc>
                          <a:spcPct val="107000"/>
                        </a:lnSpc>
                        <a:spcAft>
                          <a:spcPts val="0"/>
                        </a:spcAft>
                      </a:pPr>
                      <a:r>
                        <a:rPr lang="en-CA" sz="2000" dirty="0">
                          <a:effectLst/>
                          <a:latin typeface="+mn-lt"/>
                        </a:rPr>
                        <a:t> </a:t>
                      </a:r>
                      <a:endParaRPr lang="en-CA" sz="2000" dirty="0">
                        <a:effectLst/>
                        <a:latin typeface="+mn-lt"/>
                        <a:ea typeface="Calibri" panose="020F0502020204030204" pitchFamily="34" charset="0"/>
                        <a:cs typeface="Times New Roman" panose="02020603050405020304" pitchFamily="18" charset="0"/>
                      </a:endParaRPr>
                    </a:p>
                  </a:txBody>
                  <a:tcPr marL="28677" marR="28677" marT="0" marB="0"/>
                </a:tc>
                <a:tc gridSpan="2">
                  <a:txBody>
                    <a:bodyPr/>
                    <a:lstStyle/>
                    <a:p>
                      <a:pPr algn="ctr"/>
                      <a:r>
                        <a:rPr lang="en-CA" sz="2000" dirty="0"/>
                        <a:t>Limiting Voting Rights</a:t>
                      </a:r>
                    </a:p>
                  </a:txBody>
                  <a:tcPr marL="28677" marR="28677" marT="0" marB="0"/>
                </a:tc>
                <a:tc hMerge="1">
                  <a:txBody>
                    <a:bodyPr/>
                    <a:lstStyle/>
                    <a:p>
                      <a:endParaRPr lang="en-CA" dirty="0"/>
                    </a:p>
                  </a:txBody>
                  <a:tcPr marL="28677" marR="28677" marT="0" marB="0"/>
                </a:tc>
                <a:tc gridSpan="2">
                  <a:txBody>
                    <a:bodyPr/>
                    <a:lstStyle/>
                    <a:p>
                      <a:pPr algn="ctr"/>
                      <a:r>
                        <a:rPr lang="en-CA" sz="2000" dirty="0"/>
                        <a:t>Executive Aggrandizement</a:t>
                      </a:r>
                    </a:p>
                  </a:txBody>
                  <a:tcPr marL="28677" marR="28677" marT="0" marB="0"/>
                </a:tc>
                <a:tc hMerge="1">
                  <a:txBody>
                    <a:bodyPr/>
                    <a:lstStyle/>
                    <a:p>
                      <a:endParaRPr lang="en-CA" dirty="0"/>
                    </a:p>
                  </a:txBody>
                  <a:tcPr marL="28677" marR="28677" marT="0" marB="0"/>
                </a:tc>
                <a:tc gridSpan="2">
                  <a:txBody>
                    <a:bodyPr/>
                    <a:lstStyle/>
                    <a:p>
                      <a:pPr algn="ctr"/>
                      <a:r>
                        <a:rPr lang="en-CA" sz="2000" dirty="0"/>
                        <a:t>Curtailing Democratic Freedoms</a:t>
                      </a:r>
                    </a:p>
                  </a:txBody>
                  <a:tcPr marL="28677" marR="28677" marT="0" marB="0"/>
                </a:tc>
                <a:tc hMerge="1">
                  <a:txBody>
                    <a:bodyPr/>
                    <a:lstStyle/>
                    <a:p>
                      <a:endParaRPr lang="en-CA" dirty="0"/>
                    </a:p>
                  </a:txBody>
                  <a:tcPr marL="28677" marR="28677" marT="0" marB="0"/>
                </a:tc>
                <a:extLst>
                  <a:ext uri="{0D108BD9-81ED-4DB2-BD59-A6C34878D82A}">
                    <a16:rowId xmlns:a16="http://schemas.microsoft.com/office/drawing/2014/main" val="2094013777"/>
                  </a:ext>
                </a:extLst>
              </a:tr>
              <a:tr h="657997">
                <a:tc>
                  <a:txBody>
                    <a:bodyPr/>
                    <a:lstStyle/>
                    <a:p>
                      <a:pPr>
                        <a:lnSpc>
                          <a:spcPct val="107000"/>
                        </a:lnSpc>
                        <a:spcAft>
                          <a:spcPts val="0"/>
                        </a:spcAft>
                      </a:pPr>
                      <a:endParaRPr lang="en-CA" sz="2400" dirty="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gn="ctr">
                        <a:lnSpc>
                          <a:spcPct val="107000"/>
                        </a:lnSpc>
                        <a:spcAft>
                          <a:spcPts val="0"/>
                        </a:spcAft>
                      </a:pPr>
                      <a:r>
                        <a:rPr lang="en-CA" sz="2000" dirty="0" err="1">
                          <a:effectLst/>
                          <a:latin typeface="+mn-lt"/>
                        </a:rPr>
                        <a:t>coeff</a:t>
                      </a:r>
                      <a:endParaRPr lang="en-CA" sz="2000" dirty="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gn="ctr">
                        <a:lnSpc>
                          <a:spcPct val="107000"/>
                        </a:lnSpc>
                        <a:spcAft>
                          <a:spcPts val="0"/>
                        </a:spcAft>
                      </a:pPr>
                      <a:r>
                        <a:rPr lang="en-CA" sz="2000" dirty="0">
                          <a:effectLst/>
                          <a:latin typeface="+mn-lt"/>
                        </a:rPr>
                        <a:t>se</a:t>
                      </a:r>
                      <a:endParaRPr lang="en-CA" sz="2000" dirty="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gn="ctr">
                        <a:lnSpc>
                          <a:spcPct val="107000"/>
                        </a:lnSpc>
                        <a:spcAft>
                          <a:spcPts val="0"/>
                        </a:spcAft>
                      </a:pPr>
                      <a:r>
                        <a:rPr lang="en-CA" sz="2000" dirty="0" err="1">
                          <a:effectLst/>
                          <a:latin typeface="+mn-lt"/>
                        </a:rPr>
                        <a:t>coeff</a:t>
                      </a:r>
                      <a:endParaRPr lang="en-CA" sz="2000" dirty="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gn="ctr">
                        <a:lnSpc>
                          <a:spcPct val="107000"/>
                        </a:lnSpc>
                        <a:spcAft>
                          <a:spcPts val="0"/>
                        </a:spcAft>
                      </a:pPr>
                      <a:r>
                        <a:rPr lang="en-CA" sz="2000" dirty="0">
                          <a:effectLst/>
                          <a:latin typeface="+mn-lt"/>
                        </a:rPr>
                        <a:t>se</a:t>
                      </a:r>
                      <a:endParaRPr lang="en-CA" sz="2000" dirty="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gn="ctr">
                        <a:lnSpc>
                          <a:spcPct val="107000"/>
                        </a:lnSpc>
                        <a:spcAft>
                          <a:spcPts val="0"/>
                        </a:spcAft>
                      </a:pPr>
                      <a:r>
                        <a:rPr lang="en-CA" sz="2000" dirty="0" err="1">
                          <a:effectLst/>
                          <a:latin typeface="+mn-lt"/>
                        </a:rPr>
                        <a:t>coeff</a:t>
                      </a:r>
                      <a:endParaRPr lang="en-CA" sz="2000" dirty="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gn="ctr">
                        <a:lnSpc>
                          <a:spcPct val="107000"/>
                        </a:lnSpc>
                        <a:spcAft>
                          <a:spcPts val="0"/>
                        </a:spcAft>
                      </a:pPr>
                      <a:r>
                        <a:rPr lang="en-CA" sz="2000" dirty="0">
                          <a:effectLst/>
                          <a:latin typeface="+mn-lt"/>
                        </a:rPr>
                        <a:t>se</a:t>
                      </a:r>
                      <a:endParaRPr lang="en-CA" sz="2000" dirty="0">
                        <a:effectLst/>
                        <a:latin typeface="+mn-lt"/>
                        <a:ea typeface="Calibri" panose="020F0502020204030204" pitchFamily="34" charset="0"/>
                        <a:cs typeface="Times New Roman" panose="02020603050405020304" pitchFamily="18" charset="0"/>
                      </a:endParaRPr>
                    </a:p>
                  </a:txBody>
                  <a:tcPr marL="28677" marR="28677" marT="0" marB="0"/>
                </a:tc>
                <a:extLst>
                  <a:ext uri="{0D108BD9-81ED-4DB2-BD59-A6C34878D82A}">
                    <a16:rowId xmlns:a16="http://schemas.microsoft.com/office/drawing/2014/main" val="611540247"/>
                  </a:ext>
                </a:extLst>
              </a:tr>
              <a:tr h="657997">
                <a:tc>
                  <a:txBody>
                    <a:bodyPr/>
                    <a:lstStyle/>
                    <a:p>
                      <a:pPr>
                        <a:lnSpc>
                          <a:spcPct val="107000"/>
                        </a:lnSpc>
                        <a:spcAft>
                          <a:spcPts val="0"/>
                        </a:spcAft>
                      </a:pPr>
                      <a:r>
                        <a:rPr lang="en-CA" sz="2400" dirty="0">
                          <a:effectLst/>
                          <a:latin typeface="+mn-lt"/>
                        </a:rPr>
                        <a:t>Strong Democrats</a:t>
                      </a:r>
                      <a:endParaRPr lang="en-CA" sz="2400" dirty="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nSpc>
                          <a:spcPct val="107000"/>
                        </a:lnSpc>
                        <a:spcAft>
                          <a:spcPts val="0"/>
                        </a:spcAft>
                      </a:pPr>
                      <a:r>
                        <a:rPr lang="en-CA" sz="2400">
                          <a:effectLst/>
                          <a:latin typeface="+mn-lt"/>
                        </a:rPr>
                        <a:t>-0.05**</a:t>
                      </a:r>
                      <a:endParaRPr lang="en-CA" sz="240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gn="ctr">
                        <a:lnSpc>
                          <a:spcPct val="107000"/>
                        </a:lnSpc>
                        <a:spcAft>
                          <a:spcPts val="0"/>
                        </a:spcAft>
                      </a:pPr>
                      <a:r>
                        <a:rPr lang="en-CA" sz="2400">
                          <a:effectLst/>
                          <a:latin typeface="+mn-lt"/>
                        </a:rPr>
                        <a:t>(0.02)</a:t>
                      </a:r>
                      <a:endParaRPr lang="en-CA" sz="240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nSpc>
                          <a:spcPct val="107000"/>
                        </a:lnSpc>
                        <a:spcAft>
                          <a:spcPts val="0"/>
                        </a:spcAft>
                      </a:pPr>
                      <a:r>
                        <a:rPr lang="en-CA" sz="2400">
                          <a:effectLst/>
                          <a:latin typeface="+mn-lt"/>
                        </a:rPr>
                        <a:t>-0.03</a:t>
                      </a:r>
                      <a:endParaRPr lang="en-CA" sz="240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gn="ctr">
                        <a:lnSpc>
                          <a:spcPct val="107000"/>
                        </a:lnSpc>
                        <a:spcAft>
                          <a:spcPts val="0"/>
                        </a:spcAft>
                      </a:pPr>
                      <a:r>
                        <a:rPr lang="en-CA" sz="2400">
                          <a:effectLst/>
                          <a:latin typeface="+mn-lt"/>
                        </a:rPr>
                        <a:t>(0.02)</a:t>
                      </a:r>
                      <a:endParaRPr lang="en-CA" sz="240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nSpc>
                          <a:spcPct val="107000"/>
                        </a:lnSpc>
                        <a:spcAft>
                          <a:spcPts val="0"/>
                        </a:spcAft>
                      </a:pPr>
                      <a:r>
                        <a:rPr lang="en-CA" sz="2400" dirty="0">
                          <a:effectLst/>
                          <a:latin typeface="+mn-lt"/>
                        </a:rPr>
                        <a:t>-0.05***</a:t>
                      </a:r>
                      <a:endParaRPr lang="en-CA" sz="2400" dirty="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gn="ctr">
                        <a:lnSpc>
                          <a:spcPct val="107000"/>
                        </a:lnSpc>
                        <a:spcAft>
                          <a:spcPts val="0"/>
                        </a:spcAft>
                      </a:pPr>
                      <a:r>
                        <a:rPr lang="en-CA" sz="2400" dirty="0">
                          <a:effectLst/>
                          <a:latin typeface="+mn-lt"/>
                        </a:rPr>
                        <a:t>(0.02)</a:t>
                      </a:r>
                      <a:endParaRPr lang="en-CA" sz="2400" dirty="0">
                        <a:effectLst/>
                        <a:latin typeface="+mn-lt"/>
                        <a:ea typeface="Calibri" panose="020F0502020204030204" pitchFamily="34" charset="0"/>
                        <a:cs typeface="Times New Roman" panose="02020603050405020304" pitchFamily="18" charset="0"/>
                      </a:endParaRPr>
                    </a:p>
                  </a:txBody>
                  <a:tcPr marL="28677" marR="28677" marT="0" marB="0"/>
                </a:tc>
                <a:extLst>
                  <a:ext uri="{0D108BD9-81ED-4DB2-BD59-A6C34878D82A}">
                    <a16:rowId xmlns:a16="http://schemas.microsoft.com/office/drawing/2014/main" val="3083839433"/>
                  </a:ext>
                </a:extLst>
              </a:tr>
              <a:tr h="657997">
                <a:tc>
                  <a:txBody>
                    <a:bodyPr/>
                    <a:lstStyle/>
                    <a:p>
                      <a:pPr>
                        <a:lnSpc>
                          <a:spcPct val="107000"/>
                        </a:lnSpc>
                        <a:spcAft>
                          <a:spcPts val="0"/>
                        </a:spcAft>
                      </a:pPr>
                      <a:r>
                        <a:rPr lang="en-CA" sz="2400" dirty="0">
                          <a:effectLst/>
                          <a:latin typeface="+mn-lt"/>
                        </a:rPr>
                        <a:t>Democrats</a:t>
                      </a:r>
                      <a:endParaRPr lang="en-CA" sz="2400" dirty="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nSpc>
                          <a:spcPct val="107000"/>
                        </a:lnSpc>
                        <a:spcAft>
                          <a:spcPts val="0"/>
                        </a:spcAft>
                      </a:pPr>
                      <a:r>
                        <a:rPr lang="en-CA" sz="2400">
                          <a:effectLst/>
                          <a:latin typeface="+mn-lt"/>
                        </a:rPr>
                        <a:t>-0.06**</a:t>
                      </a:r>
                      <a:endParaRPr lang="en-CA" sz="240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gn="ctr">
                        <a:lnSpc>
                          <a:spcPct val="107000"/>
                        </a:lnSpc>
                        <a:spcAft>
                          <a:spcPts val="0"/>
                        </a:spcAft>
                      </a:pPr>
                      <a:r>
                        <a:rPr lang="en-CA" sz="2400">
                          <a:effectLst/>
                          <a:latin typeface="+mn-lt"/>
                        </a:rPr>
                        <a:t>(0.03)</a:t>
                      </a:r>
                      <a:endParaRPr lang="en-CA" sz="240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nSpc>
                          <a:spcPct val="107000"/>
                        </a:lnSpc>
                        <a:spcAft>
                          <a:spcPts val="0"/>
                        </a:spcAft>
                      </a:pPr>
                      <a:r>
                        <a:rPr lang="en-CA" sz="2400">
                          <a:effectLst/>
                          <a:latin typeface="+mn-lt"/>
                        </a:rPr>
                        <a:t>-0.01</a:t>
                      </a:r>
                      <a:endParaRPr lang="en-CA" sz="240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gn="ctr">
                        <a:lnSpc>
                          <a:spcPct val="107000"/>
                        </a:lnSpc>
                        <a:spcAft>
                          <a:spcPts val="0"/>
                        </a:spcAft>
                      </a:pPr>
                      <a:r>
                        <a:rPr lang="en-CA" sz="2400">
                          <a:effectLst/>
                          <a:latin typeface="+mn-lt"/>
                        </a:rPr>
                        <a:t>(0.03)</a:t>
                      </a:r>
                      <a:endParaRPr lang="en-CA" sz="240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nSpc>
                          <a:spcPct val="107000"/>
                        </a:lnSpc>
                        <a:spcAft>
                          <a:spcPts val="0"/>
                        </a:spcAft>
                      </a:pPr>
                      <a:r>
                        <a:rPr lang="en-CA" sz="2400" dirty="0">
                          <a:effectLst/>
                          <a:latin typeface="+mn-lt"/>
                        </a:rPr>
                        <a:t>-0.02</a:t>
                      </a:r>
                      <a:endParaRPr lang="en-CA" sz="2400" dirty="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gn="ctr">
                        <a:lnSpc>
                          <a:spcPct val="107000"/>
                        </a:lnSpc>
                        <a:spcAft>
                          <a:spcPts val="0"/>
                        </a:spcAft>
                      </a:pPr>
                      <a:r>
                        <a:rPr lang="en-CA" sz="2400" dirty="0">
                          <a:effectLst/>
                          <a:latin typeface="+mn-lt"/>
                        </a:rPr>
                        <a:t>(0.03)</a:t>
                      </a:r>
                      <a:endParaRPr lang="en-CA" sz="2400" dirty="0">
                        <a:effectLst/>
                        <a:latin typeface="+mn-lt"/>
                        <a:ea typeface="Calibri" panose="020F0502020204030204" pitchFamily="34" charset="0"/>
                        <a:cs typeface="Times New Roman" panose="02020603050405020304" pitchFamily="18" charset="0"/>
                      </a:endParaRPr>
                    </a:p>
                  </a:txBody>
                  <a:tcPr marL="28677" marR="28677" marT="0" marB="0"/>
                </a:tc>
                <a:extLst>
                  <a:ext uri="{0D108BD9-81ED-4DB2-BD59-A6C34878D82A}">
                    <a16:rowId xmlns:a16="http://schemas.microsoft.com/office/drawing/2014/main" val="2528428522"/>
                  </a:ext>
                </a:extLst>
              </a:tr>
              <a:tr h="657997">
                <a:tc>
                  <a:txBody>
                    <a:bodyPr/>
                    <a:lstStyle/>
                    <a:p>
                      <a:pPr>
                        <a:lnSpc>
                          <a:spcPct val="107000"/>
                        </a:lnSpc>
                        <a:spcAft>
                          <a:spcPts val="0"/>
                        </a:spcAft>
                      </a:pPr>
                      <a:r>
                        <a:rPr lang="en-CA" sz="2400">
                          <a:effectLst/>
                          <a:latin typeface="+mn-lt"/>
                        </a:rPr>
                        <a:t>Republicans</a:t>
                      </a:r>
                      <a:endParaRPr lang="en-CA" sz="240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nSpc>
                          <a:spcPct val="107000"/>
                        </a:lnSpc>
                        <a:spcAft>
                          <a:spcPts val="0"/>
                        </a:spcAft>
                      </a:pPr>
                      <a:r>
                        <a:rPr lang="en-CA" sz="2400">
                          <a:effectLst/>
                          <a:latin typeface="+mn-lt"/>
                        </a:rPr>
                        <a:t>0.10***</a:t>
                      </a:r>
                      <a:endParaRPr lang="en-CA" sz="240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gn="ctr">
                        <a:lnSpc>
                          <a:spcPct val="107000"/>
                        </a:lnSpc>
                        <a:spcAft>
                          <a:spcPts val="0"/>
                        </a:spcAft>
                      </a:pPr>
                      <a:r>
                        <a:rPr lang="en-CA" sz="2400">
                          <a:effectLst/>
                          <a:latin typeface="+mn-lt"/>
                        </a:rPr>
                        <a:t>(0.04)</a:t>
                      </a:r>
                      <a:endParaRPr lang="en-CA" sz="240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nSpc>
                          <a:spcPct val="107000"/>
                        </a:lnSpc>
                        <a:spcAft>
                          <a:spcPts val="0"/>
                        </a:spcAft>
                      </a:pPr>
                      <a:r>
                        <a:rPr lang="en-CA" sz="2400">
                          <a:effectLst/>
                          <a:latin typeface="+mn-lt"/>
                        </a:rPr>
                        <a:t>0.17***</a:t>
                      </a:r>
                      <a:endParaRPr lang="en-CA" sz="240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gn="ctr">
                        <a:lnSpc>
                          <a:spcPct val="107000"/>
                        </a:lnSpc>
                        <a:spcAft>
                          <a:spcPts val="0"/>
                        </a:spcAft>
                      </a:pPr>
                      <a:r>
                        <a:rPr lang="en-CA" sz="2400">
                          <a:effectLst/>
                          <a:latin typeface="+mn-lt"/>
                        </a:rPr>
                        <a:t>(0.04)</a:t>
                      </a:r>
                      <a:endParaRPr lang="en-CA" sz="240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nSpc>
                          <a:spcPct val="107000"/>
                        </a:lnSpc>
                        <a:spcAft>
                          <a:spcPts val="0"/>
                        </a:spcAft>
                      </a:pPr>
                      <a:r>
                        <a:rPr lang="en-CA" sz="2400" dirty="0">
                          <a:effectLst/>
                          <a:latin typeface="+mn-lt"/>
                        </a:rPr>
                        <a:t>0.02</a:t>
                      </a:r>
                      <a:endParaRPr lang="en-CA" sz="2400" dirty="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gn="ctr">
                        <a:lnSpc>
                          <a:spcPct val="107000"/>
                        </a:lnSpc>
                        <a:spcAft>
                          <a:spcPts val="0"/>
                        </a:spcAft>
                      </a:pPr>
                      <a:r>
                        <a:rPr lang="en-CA" sz="2400" dirty="0">
                          <a:effectLst/>
                          <a:latin typeface="+mn-lt"/>
                        </a:rPr>
                        <a:t>(0.03)</a:t>
                      </a:r>
                      <a:endParaRPr lang="en-CA" sz="2400" dirty="0">
                        <a:effectLst/>
                        <a:latin typeface="+mn-lt"/>
                        <a:ea typeface="Calibri" panose="020F0502020204030204" pitchFamily="34" charset="0"/>
                        <a:cs typeface="Times New Roman" panose="02020603050405020304" pitchFamily="18" charset="0"/>
                      </a:endParaRPr>
                    </a:p>
                  </a:txBody>
                  <a:tcPr marL="28677" marR="28677" marT="0" marB="0"/>
                </a:tc>
                <a:extLst>
                  <a:ext uri="{0D108BD9-81ED-4DB2-BD59-A6C34878D82A}">
                    <a16:rowId xmlns:a16="http://schemas.microsoft.com/office/drawing/2014/main" val="112959683"/>
                  </a:ext>
                </a:extLst>
              </a:tr>
              <a:tr h="657997">
                <a:tc>
                  <a:txBody>
                    <a:bodyPr/>
                    <a:lstStyle/>
                    <a:p>
                      <a:pPr>
                        <a:lnSpc>
                          <a:spcPct val="107000"/>
                        </a:lnSpc>
                        <a:spcAft>
                          <a:spcPts val="0"/>
                        </a:spcAft>
                      </a:pPr>
                      <a:r>
                        <a:rPr lang="en-CA" sz="2400">
                          <a:effectLst/>
                          <a:latin typeface="+mn-lt"/>
                        </a:rPr>
                        <a:t>Strong Republicans</a:t>
                      </a:r>
                      <a:endParaRPr lang="en-CA" sz="240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nSpc>
                          <a:spcPct val="107000"/>
                        </a:lnSpc>
                        <a:spcAft>
                          <a:spcPts val="0"/>
                        </a:spcAft>
                      </a:pPr>
                      <a:r>
                        <a:rPr lang="en-CA" sz="2400">
                          <a:effectLst/>
                          <a:latin typeface="+mn-lt"/>
                        </a:rPr>
                        <a:t>0.14***</a:t>
                      </a:r>
                      <a:endParaRPr lang="en-CA" sz="240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gn="ctr">
                        <a:lnSpc>
                          <a:spcPct val="107000"/>
                        </a:lnSpc>
                        <a:spcAft>
                          <a:spcPts val="0"/>
                        </a:spcAft>
                      </a:pPr>
                      <a:r>
                        <a:rPr lang="en-CA" sz="2400">
                          <a:effectLst/>
                          <a:latin typeface="+mn-lt"/>
                        </a:rPr>
                        <a:t>(0.03)</a:t>
                      </a:r>
                      <a:endParaRPr lang="en-CA" sz="240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nSpc>
                          <a:spcPct val="107000"/>
                        </a:lnSpc>
                        <a:spcAft>
                          <a:spcPts val="0"/>
                        </a:spcAft>
                      </a:pPr>
                      <a:r>
                        <a:rPr lang="en-CA" sz="2400" dirty="0">
                          <a:effectLst/>
                          <a:latin typeface="+mn-lt"/>
                        </a:rPr>
                        <a:t>0.19***</a:t>
                      </a:r>
                      <a:endParaRPr lang="en-CA" sz="2400" dirty="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gn="ctr">
                        <a:lnSpc>
                          <a:spcPct val="107000"/>
                        </a:lnSpc>
                        <a:spcAft>
                          <a:spcPts val="0"/>
                        </a:spcAft>
                      </a:pPr>
                      <a:r>
                        <a:rPr lang="en-CA" sz="2400">
                          <a:effectLst/>
                          <a:latin typeface="+mn-lt"/>
                        </a:rPr>
                        <a:t>(0.03)</a:t>
                      </a:r>
                      <a:endParaRPr lang="en-CA" sz="240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nSpc>
                          <a:spcPct val="107000"/>
                        </a:lnSpc>
                        <a:spcAft>
                          <a:spcPts val="0"/>
                        </a:spcAft>
                      </a:pPr>
                      <a:r>
                        <a:rPr lang="en-CA" sz="2400" dirty="0">
                          <a:effectLst/>
                          <a:latin typeface="+mn-lt"/>
                        </a:rPr>
                        <a:t>0.14***</a:t>
                      </a:r>
                      <a:endParaRPr lang="en-CA" sz="2400" dirty="0">
                        <a:effectLst/>
                        <a:latin typeface="+mn-lt"/>
                        <a:ea typeface="Calibri" panose="020F0502020204030204" pitchFamily="34" charset="0"/>
                        <a:cs typeface="Times New Roman" panose="02020603050405020304" pitchFamily="18" charset="0"/>
                      </a:endParaRPr>
                    </a:p>
                  </a:txBody>
                  <a:tcPr marL="28677" marR="28677" marT="0" marB="0"/>
                </a:tc>
                <a:tc>
                  <a:txBody>
                    <a:bodyPr/>
                    <a:lstStyle/>
                    <a:p>
                      <a:pPr algn="ctr">
                        <a:lnSpc>
                          <a:spcPct val="107000"/>
                        </a:lnSpc>
                        <a:spcAft>
                          <a:spcPts val="0"/>
                        </a:spcAft>
                      </a:pPr>
                      <a:r>
                        <a:rPr lang="en-CA" sz="2400" dirty="0">
                          <a:effectLst/>
                          <a:latin typeface="+mn-lt"/>
                        </a:rPr>
                        <a:t>(0.03)</a:t>
                      </a:r>
                      <a:endParaRPr lang="en-CA" sz="2400" dirty="0">
                        <a:effectLst/>
                        <a:latin typeface="+mn-lt"/>
                        <a:ea typeface="Calibri" panose="020F0502020204030204" pitchFamily="34" charset="0"/>
                        <a:cs typeface="Times New Roman" panose="02020603050405020304" pitchFamily="18" charset="0"/>
                      </a:endParaRPr>
                    </a:p>
                  </a:txBody>
                  <a:tcPr marL="28677" marR="28677" marT="0" marB="0"/>
                </a:tc>
                <a:extLst>
                  <a:ext uri="{0D108BD9-81ED-4DB2-BD59-A6C34878D82A}">
                    <a16:rowId xmlns:a16="http://schemas.microsoft.com/office/drawing/2014/main" val="2766696643"/>
                  </a:ext>
                </a:extLst>
              </a:tr>
            </a:tbl>
          </a:graphicData>
        </a:graphic>
      </p:graphicFrame>
      <p:cxnSp>
        <p:nvCxnSpPr>
          <p:cNvPr id="4" name="Straight Connector 11">
            <a:extLst>
              <a:ext uri="{FF2B5EF4-FFF2-40B4-BE49-F238E27FC236}">
                <a16:creationId xmlns:a16="http://schemas.microsoft.com/office/drawing/2014/main" id="{B6DA1925-BF1E-48F8-BC6B-A6A05DFA06D9}"/>
              </a:ext>
            </a:extLst>
          </p:cNvPr>
          <p:cNvCxnSpPr>
            <a:cxnSpLocks noMove="1" noResize="1"/>
          </p:cNvCxnSpPr>
          <p:nvPr/>
        </p:nvCxnSpPr>
        <p:spPr>
          <a:xfrm>
            <a:off x="2209803" y="5738692"/>
            <a:ext cx="7772400" cy="0"/>
          </a:xfrm>
          <a:prstGeom prst="straightConnector1">
            <a:avLst/>
          </a:prstGeom>
          <a:noFill/>
          <a:ln w="22229" cap="flat">
            <a:solidFill>
              <a:srgbClr val="D9D9D9"/>
            </a:solidFill>
            <a:prstDash val="solid"/>
            <a:miter/>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11">
    <p:bg>
      <p:bgPr>
        <a:solidFill>
          <a:srgbClr val="FFFFFF"/>
        </a:solidFill>
        <a:effectLst/>
      </p:bgPr>
    </p:bg>
    <p:spTree>
      <p:nvGrpSpPr>
        <p:cNvPr id="1" name=""/>
        <p:cNvGrpSpPr/>
        <p:nvPr/>
      </p:nvGrpSpPr>
      <p:grpSpPr>
        <a:xfrm>
          <a:off x="0" y="0"/>
          <a:ext cx="0" cy="0"/>
          <a:chOff x="0" y="0"/>
          <a:chExt cx="0" cy="0"/>
        </a:xfrm>
      </p:grpSpPr>
      <p:cxnSp>
        <p:nvCxnSpPr>
          <p:cNvPr id="2" name="Straight Connector 17">
            <a:extLst>
              <a:ext uri="{FF2B5EF4-FFF2-40B4-BE49-F238E27FC236}">
                <a16:creationId xmlns:a16="http://schemas.microsoft.com/office/drawing/2014/main" id="{E1813187-0B60-4C57-8357-541DD3BACFD2}"/>
              </a:ext>
            </a:extLst>
          </p:cNvPr>
          <p:cNvCxnSpPr>
            <a:cxnSpLocks noMove="1" noResize="1"/>
          </p:cNvCxnSpPr>
          <p:nvPr/>
        </p:nvCxnSpPr>
        <p:spPr>
          <a:xfrm>
            <a:off x="4065687" y="477746"/>
            <a:ext cx="0" cy="3657600"/>
          </a:xfrm>
          <a:prstGeom prst="straightConnector1">
            <a:avLst/>
          </a:prstGeom>
          <a:noFill/>
          <a:ln w="101598" cap="flat">
            <a:solidFill>
              <a:srgbClr val="595959"/>
            </a:solidFill>
            <a:prstDash val="solid"/>
            <a:miter/>
          </a:ln>
        </p:spPr>
      </p:cxnSp>
      <p:sp>
        <p:nvSpPr>
          <p:cNvPr id="3" name="Rectangle 19">
            <a:extLst>
              <a:ext uri="{FF2B5EF4-FFF2-40B4-BE49-F238E27FC236}">
                <a16:creationId xmlns:a16="http://schemas.microsoft.com/office/drawing/2014/main" id="{89F303EE-8AAE-46CD-A955-F6770149EA94}"/>
              </a:ext>
            </a:extLst>
          </p:cNvPr>
          <p:cNvSpPr>
            <a:spLocks noMove="1" noResize="1"/>
          </p:cNvSpPr>
          <p:nvPr/>
        </p:nvSpPr>
        <p:spPr>
          <a:xfrm>
            <a:off x="378067" y="4633548"/>
            <a:ext cx="11438796" cy="1844253"/>
          </a:xfrm>
          <a:prstGeom prst="rect">
            <a:avLst/>
          </a:prstGeom>
          <a:solidFill>
            <a:srgbClr val="404040"/>
          </a:solidFill>
          <a:ln w="127001" cap="sq">
            <a:solidFill>
              <a:srgbClr val="40404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4" name="TextBox 6">
            <a:extLst>
              <a:ext uri="{FF2B5EF4-FFF2-40B4-BE49-F238E27FC236}">
                <a16:creationId xmlns:a16="http://schemas.microsoft.com/office/drawing/2014/main" id="{21931672-6CF4-4300-B021-B728DAF32777}"/>
              </a:ext>
            </a:extLst>
          </p:cNvPr>
          <p:cNvSpPr txBox="1"/>
          <p:nvPr/>
        </p:nvSpPr>
        <p:spPr>
          <a:xfrm>
            <a:off x="527535" y="4756635"/>
            <a:ext cx="11139851" cy="930447"/>
          </a:xfrm>
          <a:prstGeom prst="rect">
            <a:avLst/>
          </a:prstGeom>
          <a:noFill/>
          <a:ln cap="flat">
            <a:noFill/>
          </a:ln>
        </p:spPr>
        <p:txBody>
          <a:bodyPr vert="horz" wrap="square" lIns="91440" tIns="45720" rIns="91440" bIns="45720" anchor="b" anchorCtr="1" compatLnSpc="1">
            <a:normAutofit/>
          </a:bodyPr>
          <a:lstStyle/>
          <a:p>
            <a:pPr marL="0" marR="0" lvl="0" indent="0" algn="ctr" defTabSz="914400" rtl="0" fontAlgn="auto" hangingPunct="1">
              <a:lnSpc>
                <a:spcPct val="90000"/>
              </a:lnSpc>
              <a:spcBef>
                <a:spcPts val="0"/>
              </a:spcBef>
              <a:spcAft>
                <a:spcPts val="600"/>
              </a:spcAft>
              <a:buNone/>
              <a:tabLst/>
              <a:defRPr sz="1800" b="0" i="0" u="none" strike="noStrike" kern="0" cap="none" spc="0" baseline="0">
                <a:solidFill>
                  <a:srgbClr val="000000"/>
                </a:solidFill>
                <a:uFillTx/>
              </a:defRPr>
            </a:pPr>
            <a:r>
              <a:rPr lang="en-US" sz="5400" b="0" i="0" u="none" strike="noStrike" kern="1200" cap="none" spc="0" baseline="0" dirty="0">
                <a:solidFill>
                  <a:srgbClr val="FFFFFF"/>
                </a:solidFill>
                <a:uFillTx/>
                <a:latin typeface="Calibri Light"/>
              </a:rPr>
              <a:t>Study 1: Role of Party Identification</a:t>
            </a:r>
          </a:p>
        </p:txBody>
      </p:sp>
      <p:cxnSp>
        <p:nvCxnSpPr>
          <p:cNvPr id="7" name="Straight Connector 21">
            <a:extLst>
              <a:ext uri="{FF2B5EF4-FFF2-40B4-BE49-F238E27FC236}">
                <a16:creationId xmlns:a16="http://schemas.microsoft.com/office/drawing/2014/main" id="{309AD464-F112-4CFE-983E-B400937F1633}"/>
              </a:ext>
            </a:extLst>
          </p:cNvPr>
          <p:cNvCxnSpPr>
            <a:cxnSpLocks noMove="1" noResize="1"/>
          </p:cNvCxnSpPr>
          <p:nvPr/>
        </p:nvCxnSpPr>
        <p:spPr>
          <a:xfrm>
            <a:off x="8153403" y="477746"/>
            <a:ext cx="0" cy="3657600"/>
          </a:xfrm>
          <a:prstGeom prst="straightConnector1">
            <a:avLst/>
          </a:prstGeom>
          <a:noFill/>
          <a:ln w="101598" cap="flat">
            <a:solidFill>
              <a:srgbClr val="595959"/>
            </a:solidFill>
            <a:prstDash val="solid"/>
            <a:miter/>
          </a:ln>
        </p:spPr>
      </p:cxnSp>
      <p:cxnSp>
        <p:nvCxnSpPr>
          <p:cNvPr id="9" name="Straight Connector 23">
            <a:extLst>
              <a:ext uri="{FF2B5EF4-FFF2-40B4-BE49-F238E27FC236}">
                <a16:creationId xmlns:a16="http://schemas.microsoft.com/office/drawing/2014/main" id="{5D48406F-AAF9-4553-9130-34F3AFDD774C}"/>
              </a:ext>
            </a:extLst>
          </p:cNvPr>
          <p:cNvCxnSpPr>
            <a:cxnSpLocks noMove="1" noResize="1"/>
          </p:cNvCxnSpPr>
          <p:nvPr/>
        </p:nvCxnSpPr>
        <p:spPr>
          <a:xfrm>
            <a:off x="2209803" y="5738692"/>
            <a:ext cx="7772400" cy="0"/>
          </a:xfrm>
          <a:prstGeom prst="straightConnector1">
            <a:avLst/>
          </a:prstGeom>
          <a:noFill/>
          <a:ln w="22229" cap="flat">
            <a:solidFill>
              <a:srgbClr val="D9D9D9"/>
            </a:solidFill>
            <a:prstDash val="solid"/>
            <a:miter/>
          </a:ln>
        </p:spPr>
      </p:cxnSp>
      <p:sp>
        <p:nvSpPr>
          <p:cNvPr id="11" name="TextBox 10">
            <a:extLst>
              <a:ext uri="{FF2B5EF4-FFF2-40B4-BE49-F238E27FC236}">
                <a16:creationId xmlns:a16="http://schemas.microsoft.com/office/drawing/2014/main" id="{EFF5D5FD-4355-468F-8E09-91686617D59B}"/>
              </a:ext>
            </a:extLst>
          </p:cNvPr>
          <p:cNvSpPr txBox="1"/>
          <p:nvPr/>
        </p:nvSpPr>
        <p:spPr>
          <a:xfrm>
            <a:off x="856262" y="688707"/>
            <a:ext cx="2216697" cy="369335"/>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CA" sz="1800" b="0" i="0" u="none" strike="noStrike" kern="1200" cap="none" spc="0" baseline="0">
                <a:solidFill>
                  <a:srgbClr val="000000"/>
                </a:solidFill>
                <a:uFillTx/>
                <a:latin typeface="Calibri"/>
              </a:rPr>
              <a:t>Limiting Voting Rights</a:t>
            </a:r>
          </a:p>
        </p:txBody>
      </p:sp>
      <p:sp>
        <p:nvSpPr>
          <p:cNvPr id="12" name="TextBox 11">
            <a:extLst>
              <a:ext uri="{FF2B5EF4-FFF2-40B4-BE49-F238E27FC236}">
                <a16:creationId xmlns:a16="http://schemas.microsoft.com/office/drawing/2014/main" id="{D9AAB9F1-F3FB-46C4-AB38-A1A093DEA202}"/>
              </a:ext>
            </a:extLst>
          </p:cNvPr>
          <p:cNvSpPr txBox="1"/>
          <p:nvPr/>
        </p:nvSpPr>
        <p:spPr>
          <a:xfrm>
            <a:off x="4791236" y="712793"/>
            <a:ext cx="2659056" cy="369335"/>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CA" sz="1800" b="0" i="0" u="none" strike="noStrike" kern="1200" cap="none" spc="0" baseline="0">
                <a:solidFill>
                  <a:srgbClr val="000000"/>
                </a:solidFill>
                <a:uFillTx/>
                <a:latin typeface="Calibri"/>
              </a:rPr>
              <a:t>Executive Aggrandizement</a:t>
            </a:r>
          </a:p>
        </p:txBody>
      </p:sp>
      <p:sp>
        <p:nvSpPr>
          <p:cNvPr id="13" name="TextBox 12">
            <a:extLst>
              <a:ext uri="{FF2B5EF4-FFF2-40B4-BE49-F238E27FC236}">
                <a16:creationId xmlns:a16="http://schemas.microsoft.com/office/drawing/2014/main" id="{2F2BD8C3-C131-4FBF-B344-41E543D259BC}"/>
              </a:ext>
            </a:extLst>
          </p:cNvPr>
          <p:cNvSpPr txBox="1"/>
          <p:nvPr/>
        </p:nvSpPr>
        <p:spPr>
          <a:xfrm>
            <a:off x="9162872" y="712792"/>
            <a:ext cx="2068775" cy="369335"/>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CA" sz="1800" b="0" i="0" u="none" strike="noStrike" kern="1200" cap="none" spc="0" baseline="0">
                <a:solidFill>
                  <a:srgbClr val="000000"/>
                </a:solidFill>
                <a:uFillTx/>
                <a:latin typeface="Calibri"/>
              </a:rPr>
              <a:t>Curtailing Freedoms</a:t>
            </a:r>
          </a:p>
        </p:txBody>
      </p:sp>
      <p:pic>
        <p:nvPicPr>
          <p:cNvPr id="17" name="Picture 16">
            <a:extLst>
              <a:ext uri="{FF2B5EF4-FFF2-40B4-BE49-F238E27FC236}">
                <a16:creationId xmlns:a16="http://schemas.microsoft.com/office/drawing/2014/main" id="{95F3884A-32DB-47FB-BDBF-8E1610CE65BE}"/>
              </a:ext>
            </a:extLst>
          </p:cNvPr>
          <p:cNvPicPr>
            <a:picLocks noChangeAspect="1"/>
          </p:cNvPicPr>
          <p:nvPr/>
        </p:nvPicPr>
        <p:blipFill>
          <a:blip r:embed="rId2"/>
          <a:stretch>
            <a:fillRect/>
          </a:stretch>
        </p:blipFill>
        <p:spPr>
          <a:xfrm>
            <a:off x="201883" y="1119307"/>
            <a:ext cx="3598221" cy="2514542"/>
          </a:xfrm>
          <a:prstGeom prst="rect">
            <a:avLst/>
          </a:prstGeom>
        </p:spPr>
      </p:pic>
      <p:pic>
        <p:nvPicPr>
          <p:cNvPr id="18" name="Picture 17">
            <a:extLst>
              <a:ext uri="{FF2B5EF4-FFF2-40B4-BE49-F238E27FC236}">
                <a16:creationId xmlns:a16="http://schemas.microsoft.com/office/drawing/2014/main" id="{48DCE5DB-0134-4D77-BA70-1497CB24B140}"/>
              </a:ext>
            </a:extLst>
          </p:cNvPr>
          <p:cNvPicPr>
            <a:picLocks noChangeAspect="1"/>
          </p:cNvPicPr>
          <p:nvPr/>
        </p:nvPicPr>
        <p:blipFill>
          <a:blip r:embed="rId3"/>
          <a:stretch>
            <a:fillRect/>
          </a:stretch>
        </p:blipFill>
        <p:spPr>
          <a:xfrm>
            <a:off x="4417624" y="1140030"/>
            <a:ext cx="3470190" cy="2458193"/>
          </a:xfrm>
          <a:prstGeom prst="rect">
            <a:avLst/>
          </a:prstGeom>
        </p:spPr>
      </p:pic>
      <p:pic>
        <p:nvPicPr>
          <p:cNvPr id="19" name="Picture 18">
            <a:extLst>
              <a:ext uri="{FF2B5EF4-FFF2-40B4-BE49-F238E27FC236}">
                <a16:creationId xmlns:a16="http://schemas.microsoft.com/office/drawing/2014/main" id="{595D5A4D-BDC2-409B-87D3-D719182A6653}"/>
              </a:ext>
            </a:extLst>
          </p:cNvPr>
          <p:cNvPicPr>
            <a:picLocks noChangeAspect="1"/>
          </p:cNvPicPr>
          <p:nvPr/>
        </p:nvPicPr>
        <p:blipFill>
          <a:blip r:embed="rId4"/>
          <a:stretch>
            <a:fillRect/>
          </a:stretch>
        </p:blipFill>
        <p:spPr>
          <a:xfrm>
            <a:off x="8418993" y="1133737"/>
            <a:ext cx="3397860" cy="246448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A8E96-9036-4582-8AB4-D93BECC0FCE4}"/>
              </a:ext>
            </a:extLst>
          </p:cNvPr>
          <p:cNvSpPr>
            <a:spLocks noGrp="1"/>
          </p:cNvSpPr>
          <p:nvPr>
            <p:ph type="title"/>
          </p:nvPr>
        </p:nvSpPr>
        <p:spPr/>
        <p:txBody>
          <a:bodyPr/>
          <a:lstStyle/>
          <a:p>
            <a:r>
              <a:rPr lang="en-CA" dirty="0"/>
              <a:t>Conjoint results</a:t>
            </a:r>
          </a:p>
        </p:txBody>
      </p:sp>
      <p:pic>
        <p:nvPicPr>
          <p:cNvPr id="5" name="Content Placeholder 4" descr="Chart, box and whisker chart&#10;&#10;Description automatically generated">
            <a:extLst>
              <a:ext uri="{FF2B5EF4-FFF2-40B4-BE49-F238E27FC236}">
                <a16:creationId xmlns:a16="http://schemas.microsoft.com/office/drawing/2014/main" id="{AFB06A34-F89D-4214-A99B-2CC9A41DD57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92696" y="1285460"/>
            <a:ext cx="9501808" cy="5572539"/>
          </a:xfrm>
        </p:spPr>
      </p:pic>
    </p:spTree>
    <p:extLst>
      <p:ext uri="{BB962C8B-B14F-4D97-AF65-F5344CB8AC3E}">
        <p14:creationId xmlns:p14="http://schemas.microsoft.com/office/powerpoint/2010/main" val="24626622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4031" y="178594"/>
            <a:ext cx="8643938" cy="963186"/>
          </a:xfrm>
        </p:spPr>
        <p:txBody>
          <a:bodyPr anchor="t" anchorCtr="1">
            <a:normAutofit/>
          </a:bodyPr>
          <a:lstStyle/>
          <a:p>
            <a:r>
              <a:rPr lang="en-US" dirty="0">
                <a:latin typeface="LM Roman 12" pitchFamily="2" charset="77"/>
              </a:rPr>
              <a:t>Social Sorting</a:t>
            </a:r>
          </a:p>
        </p:txBody>
      </p:sp>
      <p:graphicFrame>
        <p:nvGraphicFramePr>
          <p:cNvPr id="5" name="Chart 4"/>
          <p:cNvGraphicFramePr>
            <a:graphicFrameLocks/>
          </p:cNvGraphicFramePr>
          <p:nvPr/>
        </p:nvGraphicFramePr>
        <p:xfrm>
          <a:off x="1524000" y="1514639"/>
          <a:ext cx="9144000" cy="267188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p:cNvGraphicFramePr>
            <a:graphicFrameLocks/>
          </p:cNvGraphicFramePr>
          <p:nvPr/>
        </p:nvGraphicFramePr>
        <p:xfrm>
          <a:off x="1524000" y="4054783"/>
          <a:ext cx="9143999" cy="2700287"/>
        </p:xfrm>
        <a:graphic>
          <a:graphicData uri="http://schemas.openxmlformats.org/drawingml/2006/chart">
            <c:chart xmlns:c="http://schemas.openxmlformats.org/drawingml/2006/chart" xmlns:r="http://schemas.openxmlformats.org/officeDocument/2006/relationships" r:id="rId4"/>
          </a:graphicData>
        </a:graphic>
      </p:graphicFrame>
      <p:sp>
        <p:nvSpPr>
          <p:cNvPr id="3" name="TextBox 2"/>
          <p:cNvSpPr txBox="1"/>
          <p:nvPr/>
        </p:nvSpPr>
        <p:spPr>
          <a:xfrm>
            <a:off x="2578021" y="1068589"/>
            <a:ext cx="8089979" cy="4617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9" tIns="35719" rIns="35719" bIns="35719" numCol="1" spcCol="38100" rtlCol="0" anchor="t" anchorCtr="1">
            <a:spAutoFit/>
          </a:bodyPr>
          <a:lstStyle/>
          <a:p>
            <a:pPr defTabSz="642915">
              <a:defRPr sz="1440" b="1" i="0" u="none" strike="noStrike" kern="1200" baseline="0">
                <a:solidFill>
                  <a:prstClr val="black"/>
                </a:solidFill>
                <a:latin typeface="Century Schoolbook"/>
                <a:ea typeface="+mn-ea"/>
                <a:cs typeface="Century Schoolbook"/>
              </a:defRPr>
            </a:pPr>
            <a:r>
              <a:rPr lang="en-US" sz="1266" b="1" dirty="0"/>
              <a:t>Difference Between Democrats and Republicans</a:t>
            </a:r>
            <a:endParaRPr lang="en-US" sz="1266" dirty="0"/>
          </a:p>
          <a:p>
            <a:pPr defTabSz="642915">
              <a:defRPr sz="1440" b="1" i="0" u="none" strike="noStrike" kern="1200" baseline="0">
                <a:solidFill>
                  <a:prstClr val="black"/>
                </a:solidFill>
                <a:latin typeface="Century Schoolbook"/>
                <a:ea typeface="+mn-ea"/>
                <a:cs typeface="Century Schoolbook"/>
              </a:defRPr>
            </a:pPr>
            <a:r>
              <a:rPr lang="en-US" sz="1266" b="1" dirty="0"/>
              <a:t>      More Democrats.................More Republicans</a:t>
            </a:r>
            <a:endParaRPr lang="en-US" sz="1266" dirty="0"/>
          </a:p>
        </p:txBody>
      </p:sp>
      <p:sp>
        <p:nvSpPr>
          <p:cNvPr id="4" name="TextBox 3">
            <a:extLst>
              <a:ext uri="{FF2B5EF4-FFF2-40B4-BE49-F238E27FC236}">
                <a16:creationId xmlns:a16="http://schemas.microsoft.com/office/drawing/2014/main" id="{52DE46DA-A7E1-448C-B0C2-FDB6D674D078}"/>
              </a:ext>
            </a:extLst>
          </p:cNvPr>
          <p:cNvSpPr txBox="1"/>
          <p:nvPr/>
        </p:nvSpPr>
        <p:spPr>
          <a:xfrm>
            <a:off x="569844" y="225287"/>
            <a:ext cx="2623929" cy="2031325"/>
          </a:xfrm>
          <a:prstGeom prst="rect">
            <a:avLst/>
          </a:prstGeom>
          <a:noFill/>
        </p:spPr>
        <p:txBody>
          <a:bodyPr wrap="square" rtlCol="0">
            <a:spAutoFit/>
          </a:bodyPr>
          <a:lstStyle/>
          <a:p>
            <a:r>
              <a:rPr lang="en-CA" dirty="0" err="1"/>
              <a:t>Lilina</a:t>
            </a:r>
            <a:r>
              <a:rPr lang="en-CA" dirty="0"/>
              <a:t> Mason and Nathan </a:t>
            </a:r>
            <a:r>
              <a:rPr lang="en-CA" dirty="0" err="1"/>
              <a:t>Kalmoe</a:t>
            </a:r>
            <a:r>
              <a:rPr lang="en-CA" dirty="0"/>
              <a:t>: </a:t>
            </a:r>
            <a:r>
              <a:rPr lang="en-US" dirty="0">
                <a:latin typeface="LM Roman 12" pitchFamily="2" charset="77"/>
              </a:rPr>
              <a:t>Radical Mass Partisanship: Prevalence and Correlates of Political Violence in American Politics</a:t>
            </a:r>
            <a:br>
              <a:rPr lang="en-US" dirty="0">
                <a:latin typeface="LM Roman 12" pitchFamily="2" charset="77"/>
              </a:rPr>
            </a:br>
            <a:r>
              <a:rPr lang="en-CA" dirty="0"/>
              <a:t> </a:t>
            </a:r>
          </a:p>
        </p:txBody>
      </p:sp>
    </p:spTree>
    <p:extLst>
      <p:ext uri="{BB962C8B-B14F-4D97-AF65-F5344CB8AC3E}">
        <p14:creationId xmlns:p14="http://schemas.microsoft.com/office/powerpoint/2010/main" val="897434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3AED2-6645-AD45-9159-6FEE8C541B55}"/>
              </a:ext>
            </a:extLst>
          </p:cNvPr>
          <p:cNvSpPr>
            <a:spLocks noGrp="1"/>
          </p:cNvSpPr>
          <p:nvPr>
            <p:ph type="title"/>
          </p:nvPr>
        </p:nvSpPr>
        <p:spPr>
          <a:xfrm>
            <a:off x="2212808" y="241051"/>
            <a:ext cx="7886700" cy="604920"/>
          </a:xfrm>
        </p:spPr>
        <p:txBody>
          <a:bodyPr>
            <a:normAutofit fontScale="90000"/>
          </a:bodyPr>
          <a:lstStyle/>
          <a:p>
            <a:pPr algn="ctr"/>
            <a:r>
              <a:rPr lang="en-US" dirty="0">
                <a:latin typeface="LM Roman 12" pitchFamily="2" charset="77"/>
              </a:rPr>
              <a:t>Moral Disengagement by Party</a:t>
            </a:r>
          </a:p>
        </p:txBody>
      </p:sp>
      <p:graphicFrame>
        <p:nvGraphicFramePr>
          <p:cNvPr id="4" name="Chart 3">
            <a:extLst>
              <a:ext uri="{FF2B5EF4-FFF2-40B4-BE49-F238E27FC236}">
                <a16:creationId xmlns:a16="http://schemas.microsoft.com/office/drawing/2014/main" id="{9B03FC21-3956-A74D-B575-16668544A61F}"/>
              </a:ext>
            </a:extLst>
          </p:cNvPr>
          <p:cNvGraphicFramePr>
            <a:graphicFrameLocks/>
          </p:cNvGraphicFramePr>
          <p:nvPr/>
        </p:nvGraphicFramePr>
        <p:xfrm>
          <a:off x="1814262" y="981326"/>
          <a:ext cx="3883192" cy="279734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8AADB08C-CA49-8D43-B73B-E9E5E50F5573}"/>
              </a:ext>
            </a:extLst>
          </p:cNvPr>
          <p:cNvGraphicFramePr>
            <a:graphicFrameLocks/>
          </p:cNvGraphicFramePr>
          <p:nvPr/>
        </p:nvGraphicFramePr>
        <p:xfrm>
          <a:off x="3955131" y="3943684"/>
          <a:ext cx="4281738" cy="267326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8B5D488D-E88D-9041-AA6E-0FD55A8A79A1}"/>
              </a:ext>
            </a:extLst>
          </p:cNvPr>
          <p:cNvGraphicFramePr>
            <a:graphicFrameLocks/>
          </p:cNvGraphicFramePr>
          <p:nvPr/>
        </p:nvGraphicFramePr>
        <p:xfrm>
          <a:off x="5896727" y="845971"/>
          <a:ext cx="4281738" cy="2791702"/>
        </p:xfrm>
        <a:graphic>
          <a:graphicData uri="http://schemas.openxmlformats.org/drawingml/2006/chart">
            <c:chart xmlns:c="http://schemas.openxmlformats.org/drawingml/2006/chart" xmlns:r="http://schemas.openxmlformats.org/officeDocument/2006/relationships" r:id="rId4"/>
          </a:graphicData>
        </a:graphic>
      </p:graphicFrame>
      <p:sp>
        <p:nvSpPr>
          <p:cNvPr id="3" name="TextBox 2">
            <a:extLst>
              <a:ext uri="{FF2B5EF4-FFF2-40B4-BE49-F238E27FC236}">
                <a16:creationId xmlns:a16="http://schemas.microsoft.com/office/drawing/2014/main" id="{79470485-2889-4A2A-9B98-0B1FCB850EFB}"/>
              </a:ext>
            </a:extLst>
          </p:cNvPr>
          <p:cNvSpPr txBox="1"/>
          <p:nvPr/>
        </p:nvSpPr>
        <p:spPr>
          <a:xfrm>
            <a:off x="357809" y="516835"/>
            <a:ext cx="2040302" cy="369332"/>
          </a:xfrm>
          <a:prstGeom prst="rect">
            <a:avLst/>
          </a:prstGeom>
          <a:noFill/>
        </p:spPr>
        <p:txBody>
          <a:bodyPr wrap="none" rtlCol="0">
            <a:spAutoFit/>
          </a:bodyPr>
          <a:lstStyle/>
          <a:p>
            <a:r>
              <a:rPr lang="en-CA" dirty="0"/>
              <a:t>Mason and </a:t>
            </a:r>
            <a:r>
              <a:rPr lang="en-CA" dirty="0" err="1"/>
              <a:t>Kalmoe</a:t>
            </a:r>
            <a:r>
              <a:rPr lang="en-CA" dirty="0"/>
              <a:t> </a:t>
            </a:r>
          </a:p>
        </p:txBody>
      </p:sp>
    </p:spTree>
    <p:extLst>
      <p:ext uri="{BB962C8B-B14F-4D97-AF65-F5344CB8AC3E}">
        <p14:creationId xmlns:p14="http://schemas.microsoft.com/office/powerpoint/2010/main" val="26829466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4C835-1F2B-8F4B-BC17-FDDCE28D7233}"/>
              </a:ext>
            </a:extLst>
          </p:cNvPr>
          <p:cNvSpPr>
            <a:spLocks noGrp="1"/>
          </p:cNvSpPr>
          <p:nvPr>
            <p:ph type="title"/>
          </p:nvPr>
        </p:nvSpPr>
        <p:spPr>
          <a:xfrm>
            <a:off x="2152650" y="365127"/>
            <a:ext cx="7886700" cy="492124"/>
          </a:xfrm>
        </p:spPr>
        <p:txBody>
          <a:bodyPr>
            <a:normAutofit fontScale="90000"/>
          </a:bodyPr>
          <a:lstStyle/>
          <a:p>
            <a:pPr algn="ctr"/>
            <a:r>
              <a:rPr lang="en-US" dirty="0">
                <a:latin typeface="LM Roman 12" pitchFamily="2" charset="77"/>
              </a:rPr>
              <a:t>Political Violence by Party</a:t>
            </a:r>
          </a:p>
        </p:txBody>
      </p:sp>
      <p:graphicFrame>
        <p:nvGraphicFramePr>
          <p:cNvPr id="4" name="Chart 3">
            <a:extLst>
              <a:ext uri="{FF2B5EF4-FFF2-40B4-BE49-F238E27FC236}">
                <a16:creationId xmlns:a16="http://schemas.microsoft.com/office/drawing/2014/main" id="{A05D0E5A-6DC7-4442-86A4-5B56E43FF084}"/>
              </a:ext>
            </a:extLst>
          </p:cNvPr>
          <p:cNvGraphicFramePr>
            <a:graphicFrameLocks/>
          </p:cNvGraphicFramePr>
          <p:nvPr/>
        </p:nvGraphicFramePr>
        <p:xfrm>
          <a:off x="1909560" y="967540"/>
          <a:ext cx="3768143" cy="298721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C2971438-87DE-A94E-BD0F-C3E4098A1C1C}"/>
              </a:ext>
            </a:extLst>
          </p:cNvPr>
          <p:cNvGraphicFramePr>
            <a:graphicFrameLocks/>
          </p:cNvGraphicFramePr>
          <p:nvPr/>
        </p:nvGraphicFramePr>
        <p:xfrm>
          <a:off x="6514297" y="980075"/>
          <a:ext cx="3835067" cy="284371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6C3F2DEA-1462-7F49-A70A-D7A14DDFE622}"/>
              </a:ext>
            </a:extLst>
          </p:cNvPr>
          <p:cNvGraphicFramePr>
            <a:graphicFrameLocks/>
          </p:cNvGraphicFramePr>
          <p:nvPr/>
        </p:nvGraphicFramePr>
        <p:xfrm>
          <a:off x="1909561" y="3954753"/>
          <a:ext cx="3835067" cy="275661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6">
            <a:extLst>
              <a:ext uri="{FF2B5EF4-FFF2-40B4-BE49-F238E27FC236}">
                <a16:creationId xmlns:a16="http://schemas.microsoft.com/office/drawing/2014/main" id="{B54BD6D1-FF28-1C43-8230-BD30B9A0EF6D}"/>
              </a:ext>
            </a:extLst>
          </p:cNvPr>
          <p:cNvGraphicFramePr>
            <a:graphicFrameLocks/>
          </p:cNvGraphicFramePr>
          <p:nvPr/>
        </p:nvGraphicFramePr>
        <p:xfrm>
          <a:off x="6447372" y="3954753"/>
          <a:ext cx="3835067" cy="2756612"/>
        </p:xfrm>
        <a:graphic>
          <a:graphicData uri="http://schemas.openxmlformats.org/drawingml/2006/chart">
            <c:chart xmlns:c="http://schemas.openxmlformats.org/drawingml/2006/chart" xmlns:r="http://schemas.openxmlformats.org/officeDocument/2006/relationships" r:id="rId5"/>
          </a:graphicData>
        </a:graphic>
      </p:graphicFrame>
      <p:sp>
        <p:nvSpPr>
          <p:cNvPr id="3" name="TextBox 2">
            <a:extLst>
              <a:ext uri="{FF2B5EF4-FFF2-40B4-BE49-F238E27FC236}">
                <a16:creationId xmlns:a16="http://schemas.microsoft.com/office/drawing/2014/main" id="{25FFF33C-2FCF-4483-B640-051ACFEE975E}"/>
              </a:ext>
            </a:extLst>
          </p:cNvPr>
          <p:cNvSpPr txBox="1"/>
          <p:nvPr/>
        </p:nvSpPr>
        <p:spPr>
          <a:xfrm>
            <a:off x="424070" y="477078"/>
            <a:ext cx="1987404" cy="369332"/>
          </a:xfrm>
          <a:prstGeom prst="rect">
            <a:avLst/>
          </a:prstGeom>
          <a:noFill/>
        </p:spPr>
        <p:txBody>
          <a:bodyPr wrap="none" rtlCol="0">
            <a:spAutoFit/>
          </a:bodyPr>
          <a:lstStyle/>
          <a:p>
            <a:r>
              <a:rPr lang="en-CA" dirty="0"/>
              <a:t>Mason and </a:t>
            </a:r>
            <a:r>
              <a:rPr lang="en-CA" dirty="0" err="1"/>
              <a:t>Kalmoe</a:t>
            </a:r>
            <a:endParaRPr lang="en-CA" dirty="0"/>
          </a:p>
        </p:txBody>
      </p:sp>
    </p:spTree>
    <p:extLst>
      <p:ext uri="{BB962C8B-B14F-4D97-AF65-F5344CB8AC3E}">
        <p14:creationId xmlns:p14="http://schemas.microsoft.com/office/powerpoint/2010/main" val="17468435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99ED0E6-3E13-4157-B905-F2E7692B3D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4343" y="0"/>
            <a:ext cx="9506857"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1998492-764C-4B10-910F-0AED2CED54D0}"/>
              </a:ext>
            </a:extLst>
          </p:cNvPr>
          <p:cNvSpPr txBox="1"/>
          <p:nvPr/>
        </p:nvSpPr>
        <p:spPr>
          <a:xfrm>
            <a:off x="304800" y="6371771"/>
            <a:ext cx="2362506" cy="369332"/>
          </a:xfrm>
          <a:prstGeom prst="rect">
            <a:avLst/>
          </a:prstGeom>
          <a:noFill/>
        </p:spPr>
        <p:txBody>
          <a:bodyPr wrap="none" rtlCol="0">
            <a:spAutoFit/>
          </a:bodyPr>
          <a:lstStyle/>
          <a:p>
            <a:r>
              <a:rPr lang="en-CA" dirty="0"/>
              <a:t>Bright Line Watch 2021</a:t>
            </a:r>
          </a:p>
        </p:txBody>
      </p:sp>
    </p:spTree>
    <p:extLst>
      <p:ext uri="{BB962C8B-B14F-4D97-AF65-F5344CB8AC3E}">
        <p14:creationId xmlns:p14="http://schemas.microsoft.com/office/powerpoint/2010/main" val="34858799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57169042-AE30-4B78-A878-11CBAA943B20}"/>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anchor="ctr">
            <a:normAutofit/>
          </a:bodyPr>
          <a:lstStyle/>
          <a:p>
            <a:pPr algn="ctr"/>
            <a:r>
              <a:rPr lang="en-CA" sz="2600">
                <a:solidFill>
                  <a:srgbClr val="FFFFFF"/>
                </a:solidFill>
              </a:rPr>
              <a:t>The governor’s party ID does not matter</a:t>
            </a:r>
          </a:p>
        </p:txBody>
      </p:sp>
      <p:pic>
        <p:nvPicPr>
          <p:cNvPr id="2" name="Picture 1">
            <a:extLst>
              <a:ext uri="{FF2B5EF4-FFF2-40B4-BE49-F238E27FC236}">
                <a16:creationId xmlns:a16="http://schemas.microsoft.com/office/drawing/2014/main" id="{AAD217DF-5F01-45FD-90C2-8F8E7F799846}"/>
              </a:ext>
            </a:extLst>
          </p:cNvPr>
          <p:cNvPicPr>
            <a:picLocks noChangeAspect="1"/>
          </p:cNvPicPr>
          <p:nvPr/>
        </p:nvPicPr>
        <p:blipFill>
          <a:blip r:embed="rId2"/>
          <a:stretch>
            <a:fillRect/>
          </a:stretch>
        </p:blipFill>
        <p:spPr>
          <a:xfrm>
            <a:off x="4099134" y="961812"/>
            <a:ext cx="7067131" cy="4930987"/>
          </a:xfrm>
          <a:prstGeom prst="rect">
            <a:avLst/>
          </a:prstGeom>
        </p:spPr>
      </p:pic>
    </p:spTree>
    <p:extLst>
      <p:ext uri="{BB962C8B-B14F-4D97-AF65-F5344CB8AC3E}">
        <p14:creationId xmlns:p14="http://schemas.microsoft.com/office/powerpoint/2010/main" val="5561339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3D3F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B1CB12-51F3-4B3A-94D9-23475A156DF5}"/>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anchor="ctr">
            <a:normAutofit/>
          </a:bodyPr>
          <a:lstStyle/>
          <a:p>
            <a:pPr algn="ctr"/>
            <a:r>
              <a:rPr lang="en-CA" sz="2000" dirty="0">
                <a:solidFill>
                  <a:srgbClr val="FFFFFF"/>
                </a:solidFill>
              </a:rPr>
              <a:t>The match between lockdown policy preference and governor position matter </a:t>
            </a:r>
          </a:p>
        </p:txBody>
      </p:sp>
      <p:pic>
        <p:nvPicPr>
          <p:cNvPr id="3" name="Content Placeholder 3">
            <a:extLst>
              <a:ext uri="{FF2B5EF4-FFF2-40B4-BE49-F238E27FC236}">
                <a16:creationId xmlns:a16="http://schemas.microsoft.com/office/drawing/2014/main" id="{DE7ECF7C-FAA4-4E57-87C9-0B3364CC0A86}"/>
              </a:ext>
            </a:extLst>
          </p:cNvPr>
          <p:cNvPicPr>
            <a:picLocks noChangeAspect="1"/>
          </p:cNvPicPr>
          <p:nvPr/>
        </p:nvPicPr>
        <p:blipFill>
          <a:blip r:embed="rId2"/>
          <a:stretch>
            <a:fillRect/>
          </a:stretch>
        </p:blipFill>
        <p:spPr>
          <a:xfrm>
            <a:off x="3488635" y="357809"/>
            <a:ext cx="8398565" cy="6072808"/>
          </a:xfrm>
          <a:prstGeom prst="rect">
            <a:avLst/>
          </a:prstGeom>
        </p:spPr>
      </p:pic>
    </p:spTree>
    <p:extLst>
      <p:ext uri="{BB962C8B-B14F-4D97-AF65-F5344CB8AC3E}">
        <p14:creationId xmlns:p14="http://schemas.microsoft.com/office/powerpoint/2010/main" val="843568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7D54E-9699-4759-AFA6-268486347B89}"/>
              </a:ext>
            </a:extLst>
          </p:cNvPr>
          <p:cNvSpPr>
            <a:spLocks noGrp="1"/>
          </p:cNvSpPr>
          <p:nvPr>
            <p:ph type="title"/>
          </p:nvPr>
        </p:nvSpPr>
        <p:spPr>
          <a:xfrm>
            <a:off x="871656" y="164407"/>
            <a:ext cx="10515600" cy="1325559"/>
          </a:xfrm>
        </p:spPr>
        <p:txBody>
          <a:bodyPr>
            <a:normAutofit fontScale="90000"/>
          </a:bodyPr>
          <a:lstStyle/>
          <a:p>
            <a:r>
              <a:rPr lang="en-CA" dirty="0"/>
              <a:t>The effect of democratic knowledge on executive aggrandizement by policy stance of governor</a:t>
            </a:r>
          </a:p>
        </p:txBody>
      </p:sp>
      <p:pic>
        <p:nvPicPr>
          <p:cNvPr id="3" name="Picture 2" descr="Chart, box and whisker chart&#10;&#10;Description automatically generated">
            <a:extLst>
              <a:ext uri="{FF2B5EF4-FFF2-40B4-BE49-F238E27FC236}">
                <a16:creationId xmlns:a16="http://schemas.microsoft.com/office/drawing/2014/main" id="{30AC4190-407B-49F1-B18A-77FCF2BBDB00}"/>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694984" y="1683834"/>
            <a:ext cx="8162693" cy="4527395"/>
          </a:xfrm>
          <a:prstGeom prst="rect">
            <a:avLst/>
          </a:prstGeom>
        </p:spPr>
      </p:pic>
    </p:spTree>
    <p:extLst>
      <p:ext uri="{BB962C8B-B14F-4D97-AF65-F5344CB8AC3E}">
        <p14:creationId xmlns:p14="http://schemas.microsoft.com/office/powerpoint/2010/main" val="37893597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F285E-F058-46C3-8982-D9114331C6D4}"/>
              </a:ext>
            </a:extLst>
          </p:cNvPr>
          <p:cNvSpPr>
            <a:spLocks noGrp="1"/>
          </p:cNvSpPr>
          <p:nvPr>
            <p:ph type="title"/>
          </p:nvPr>
        </p:nvSpPr>
        <p:spPr/>
        <p:txBody>
          <a:bodyPr/>
          <a:lstStyle/>
          <a:p>
            <a:r>
              <a:rPr lang="en-CA" dirty="0"/>
              <a:t>COVID Anxiety increases support for executive aggrandizement to protect via COVID policy</a:t>
            </a:r>
          </a:p>
        </p:txBody>
      </p:sp>
      <p:pic>
        <p:nvPicPr>
          <p:cNvPr id="4" name="Picture 3">
            <a:extLst>
              <a:ext uri="{FF2B5EF4-FFF2-40B4-BE49-F238E27FC236}">
                <a16:creationId xmlns:a16="http://schemas.microsoft.com/office/drawing/2014/main" id="{E848BD74-D983-43F4-96E0-E0AD1B6C6417}"/>
              </a:ext>
            </a:extLst>
          </p:cNvPr>
          <p:cNvPicPr>
            <a:picLocks noChangeAspect="1"/>
          </p:cNvPicPr>
          <p:nvPr/>
        </p:nvPicPr>
        <p:blipFill>
          <a:blip r:embed="rId3"/>
          <a:stretch>
            <a:fillRect/>
          </a:stretch>
        </p:blipFill>
        <p:spPr>
          <a:xfrm>
            <a:off x="121920" y="1875099"/>
            <a:ext cx="12070080" cy="4982901"/>
          </a:xfrm>
          <a:prstGeom prst="rect">
            <a:avLst/>
          </a:prstGeom>
        </p:spPr>
      </p:pic>
      <p:sp>
        <p:nvSpPr>
          <p:cNvPr id="5" name="TextBox 4">
            <a:extLst>
              <a:ext uri="{FF2B5EF4-FFF2-40B4-BE49-F238E27FC236}">
                <a16:creationId xmlns:a16="http://schemas.microsoft.com/office/drawing/2014/main" id="{A35F08BA-0F07-4A5B-86CC-9AA670BDD479}"/>
              </a:ext>
            </a:extLst>
          </p:cNvPr>
          <p:cNvSpPr txBox="1"/>
          <p:nvPr/>
        </p:nvSpPr>
        <p:spPr>
          <a:xfrm>
            <a:off x="10129520" y="5577840"/>
            <a:ext cx="1934825" cy="923330"/>
          </a:xfrm>
          <a:prstGeom prst="rect">
            <a:avLst/>
          </a:prstGeom>
          <a:noFill/>
        </p:spPr>
        <p:txBody>
          <a:bodyPr wrap="none" rtlCol="0">
            <a:spAutoFit/>
          </a:bodyPr>
          <a:lstStyle/>
          <a:p>
            <a:r>
              <a:rPr lang="en-CA" dirty="0"/>
              <a:t>2,700 respondents</a:t>
            </a:r>
          </a:p>
          <a:p>
            <a:r>
              <a:rPr lang="en-CA" dirty="0" err="1"/>
              <a:t>Dynata</a:t>
            </a:r>
            <a:r>
              <a:rPr lang="en-CA" dirty="0"/>
              <a:t> Survey </a:t>
            </a:r>
          </a:p>
          <a:p>
            <a:r>
              <a:rPr lang="en-CA" dirty="0"/>
              <a:t>May 2020</a:t>
            </a:r>
          </a:p>
        </p:txBody>
      </p:sp>
    </p:spTree>
    <p:extLst>
      <p:ext uri="{BB962C8B-B14F-4D97-AF65-F5344CB8AC3E}">
        <p14:creationId xmlns:p14="http://schemas.microsoft.com/office/powerpoint/2010/main" val="16477115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PPRESENTATIONGUID" val="13382db8-baf2-4666-9fdb-1724b282fc64"/>
  <p:tag name="TPVERSION" val="8"/>
  <p:tag name="TPFULLVERSION" val="8.7.2.14"/>
  <p:tag name="PPTVERSION" val="16"/>
  <p:tag name="TPOS" val="2"/>
  <p:tag name="TPLASTSAVEVERSION" val="6.4 PC"/>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2390</TotalTime>
  <Words>3362</Words>
  <Application>Microsoft Office PowerPoint</Application>
  <PresentationFormat>Widescreen</PresentationFormat>
  <Paragraphs>217</Paragraphs>
  <Slides>32</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Calibri</vt:lpstr>
      <vt:lpstr>Calibri Light</vt:lpstr>
      <vt:lpstr>Century Schoolbook</vt:lpstr>
      <vt:lpstr>LM Roman 12</vt:lpstr>
      <vt:lpstr>Wingdings</vt:lpstr>
      <vt:lpstr>Office Theme</vt:lpstr>
      <vt:lpstr>Attitudinal Democratic               Backsliding  Do Populists, Young People and  Partisans support it more?</vt:lpstr>
      <vt:lpstr>There is evidence that younger cohorts are less supportive of democracy (see also Foa and Mounk 2016, 2017). OUR QUESTIONS:  How can we explain this result? What can we find out about how younger cohorts view democracy?   Graph shows ESS data</vt:lpstr>
      <vt:lpstr>Hypotheses</vt:lpstr>
      <vt:lpstr>Data</vt:lpstr>
      <vt:lpstr>Critical Citizens?   There is no evidence that younger cohorts are more dissatisfied with democracy. But their dissatisfaction translates into less support for democracy compared with older cohorts.</vt:lpstr>
      <vt:lpstr>Critical Citizens?   There is no evidence that younger cohorts are more dissatisfied with democracy. But their dissatisfaction translates into less support for democracy compared with older cohorts.</vt:lpstr>
      <vt:lpstr>Confused Citizens? </vt:lpstr>
      <vt:lpstr>Alternative Measures of Democratic Support</vt:lpstr>
      <vt:lpstr>Scenarios: Some Examples of Measures of Support for Democratic  Backsliding in US (2018)  </vt:lpstr>
      <vt:lpstr>Young cohorts support executive aggrandizement more than other cohorts, USA 2018</vt:lpstr>
      <vt:lpstr>Scenarios: Some Examples of Measures of Support for Democratic  Backsliding in US (2018)  </vt:lpstr>
      <vt:lpstr>Young cohorts support limiting voting rights more than other cohorts, USA 2018</vt:lpstr>
      <vt:lpstr>Vignettes</vt:lpstr>
      <vt:lpstr>Younger cohorts are more inclined to allow the governor to shut down the legislature, especially when the governor wants to continue the lockdown. </vt:lpstr>
      <vt:lpstr>Even concrete scenarios show that younger cohorts are not fully supportive of democracy.  So why is that? </vt:lpstr>
      <vt:lpstr>Democratic Knowledge</vt:lpstr>
      <vt:lpstr>Democratic Knowledge diminishes the cohort effect, but does not eradicate it</vt:lpstr>
      <vt:lpstr>Overall Conclusion</vt:lpstr>
      <vt:lpstr>Additional Slides</vt:lpstr>
      <vt:lpstr>Democratic/Undemocratic Positions</vt:lpstr>
      <vt:lpstr>Conjoint by cohort </vt:lpstr>
      <vt:lpstr>PowerPoint Presentation</vt:lpstr>
      <vt:lpstr>PowerPoint Presentation</vt:lpstr>
      <vt:lpstr>Conjoint results</vt:lpstr>
      <vt:lpstr>Social Sorting</vt:lpstr>
      <vt:lpstr>Moral Disengagement by Party</vt:lpstr>
      <vt:lpstr>Political Violence by Party</vt:lpstr>
      <vt:lpstr>PowerPoint Presentation</vt:lpstr>
      <vt:lpstr>The governor’s party ID does not matter</vt:lpstr>
      <vt:lpstr>The match between lockdown policy preference and governor position matter </vt:lpstr>
      <vt:lpstr>The effect of democratic knowledge on executive aggrandizement by policy stance of governor</vt:lpstr>
      <vt:lpstr>COVID Anxiety increases support for executive aggrandizement to protect via COVID policy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Attitudinal Democratic               Backsliding  Do Populists, Young People and  Partisans support it more?</dc:title>
  <dc:creator>Dietlind Stolle, Prof.</dc:creator>
  <cp:lastModifiedBy>Dietlind Stolle, Prof.</cp:lastModifiedBy>
  <cp:revision>90</cp:revision>
  <dcterms:created xsi:type="dcterms:W3CDTF">2021-03-19T00:05:17Z</dcterms:created>
  <dcterms:modified xsi:type="dcterms:W3CDTF">2021-04-22T17:13:38Z</dcterms:modified>
</cp:coreProperties>
</file>